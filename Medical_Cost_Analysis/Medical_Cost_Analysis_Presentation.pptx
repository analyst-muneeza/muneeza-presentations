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A94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5" d="100"/>
          <a:sy n="55" d="100"/>
        </p:scale>
        <p:origin x="160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eeza Ali" userId="5e67a7e5bc87a74e" providerId="LiveId" clId="{9C15D5FB-2155-4960-AC09-F730F044251C}"/>
    <pc:docChg chg="custSel modSld">
      <pc:chgData name="Muneeza Ali" userId="5e67a7e5bc87a74e" providerId="LiveId" clId="{9C15D5FB-2155-4960-AC09-F730F044251C}" dt="2025-12-29T14:43:17.949" v="7" actId="1076"/>
      <pc:docMkLst>
        <pc:docMk/>
      </pc:docMkLst>
      <pc:sldChg chg="addSp delSp modSp mod">
        <pc:chgData name="Muneeza Ali" userId="5e67a7e5bc87a74e" providerId="LiveId" clId="{9C15D5FB-2155-4960-AC09-F730F044251C}" dt="2025-12-29T14:43:17.949" v="7" actId="1076"/>
        <pc:sldMkLst>
          <pc:docMk/>
          <pc:sldMk cId="0" sldId="267"/>
        </pc:sldMkLst>
        <pc:picChg chg="add mod">
          <ac:chgData name="Muneeza Ali" userId="5e67a7e5bc87a74e" providerId="LiveId" clId="{9C15D5FB-2155-4960-AC09-F730F044251C}" dt="2025-12-29T14:43:17.949" v="7" actId="1076"/>
          <ac:picMkLst>
            <pc:docMk/>
            <pc:sldMk cId="0" sldId="267"/>
            <ac:picMk id="4" creationId="{194B91B4-8D8D-93A0-6010-25560F6186A7}"/>
          </ac:picMkLst>
        </pc:picChg>
        <pc:picChg chg="del">
          <ac:chgData name="Muneeza Ali" userId="5e67a7e5bc87a74e" providerId="LiveId" clId="{9C15D5FB-2155-4960-AC09-F730F044251C}" dt="2025-12-29T14:42:35.297" v="0" actId="21"/>
          <ac:picMkLst>
            <pc:docMk/>
            <pc:sldMk cId="0" sldId="267"/>
            <ac:picMk id="5" creationId="{6D2FDC93-B546-DAE6-D13C-A742478A4E9D}"/>
          </ac:picMkLst>
        </pc:picChg>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A420A5-784D-4143-9A2E-D7B13F04CBB7}"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53B6D6F1-1F4B-42F2-A12A-CC47D809AE79}">
      <dgm:prSet/>
      <dgm:spPr/>
      <dgm:t>
        <a:bodyPr/>
        <a:lstStyle/>
        <a:p>
          <a:r>
            <a:rPr lang="en-US" b="1" i="0" baseline="0"/>
            <a:t>Objective:</a:t>
          </a:r>
          <a:r>
            <a:rPr lang="en-US" b="0" i="0" baseline="0"/>
            <a:t> The aim of this project is to understand what factors have the biggest influence on medical costs and identify patterns that explain why some individuals end up paying more than others.</a:t>
          </a:r>
          <a:endParaRPr lang="en-US"/>
        </a:p>
      </dgm:t>
    </dgm:pt>
    <dgm:pt modelId="{F46781E8-CF19-4F99-8287-878655B98393}" type="parTrans" cxnId="{A49AB3A5-86C5-45D0-949A-464D2F9B9EFE}">
      <dgm:prSet/>
      <dgm:spPr/>
      <dgm:t>
        <a:bodyPr/>
        <a:lstStyle/>
        <a:p>
          <a:endParaRPr lang="en-US"/>
        </a:p>
      </dgm:t>
    </dgm:pt>
    <dgm:pt modelId="{F0E38BE6-2010-436D-BCEC-194ECB898867}" type="sibTrans" cxnId="{A49AB3A5-86C5-45D0-949A-464D2F9B9EFE}">
      <dgm:prSet/>
      <dgm:spPr/>
      <dgm:t>
        <a:bodyPr/>
        <a:lstStyle/>
        <a:p>
          <a:endParaRPr lang="en-US"/>
        </a:p>
      </dgm:t>
    </dgm:pt>
    <dgm:pt modelId="{98680FFF-6F9C-4DB0-960C-EAD28408DD03}">
      <dgm:prSet/>
      <dgm:spPr/>
      <dgm:t>
        <a:bodyPr/>
        <a:lstStyle/>
        <a:p>
          <a:r>
            <a:rPr lang="en-US" b="1" i="0" baseline="0"/>
            <a:t>Dataset:</a:t>
          </a:r>
          <a:r>
            <a:rPr lang="en-US" b="0" i="0" baseline="0"/>
            <a:t> The analysis is based on </a:t>
          </a:r>
          <a:r>
            <a:rPr lang="en-US" b="1" i="0" baseline="0"/>
            <a:t>1,338 records</a:t>
          </a:r>
          <a:r>
            <a:rPr lang="en-US" b="0" i="0" baseline="0"/>
            <a:t>, including details such as age, BMI, number of dependents, smoking status, region, and medical charges.</a:t>
          </a:r>
          <a:endParaRPr lang="en-US"/>
        </a:p>
      </dgm:t>
    </dgm:pt>
    <dgm:pt modelId="{CF2CE201-0185-48E1-9CC7-ECB06E8132A0}" type="parTrans" cxnId="{5D01F340-0505-4549-B2F1-84ADCF761705}">
      <dgm:prSet/>
      <dgm:spPr/>
      <dgm:t>
        <a:bodyPr/>
        <a:lstStyle/>
        <a:p>
          <a:endParaRPr lang="en-US"/>
        </a:p>
      </dgm:t>
    </dgm:pt>
    <dgm:pt modelId="{B16540D8-5DC5-409E-9B57-555B8FEE1450}" type="sibTrans" cxnId="{5D01F340-0505-4549-B2F1-84ADCF761705}">
      <dgm:prSet/>
      <dgm:spPr/>
      <dgm:t>
        <a:bodyPr/>
        <a:lstStyle/>
        <a:p>
          <a:endParaRPr lang="en-US"/>
        </a:p>
      </dgm:t>
    </dgm:pt>
    <dgm:pt modelId="{027C869B-2D70-4552-9DD6-60BD76DEAB69}">
      <dgm:prSet/>
      <dgm:spPr/>
      <dgm:t>
        <a:bodyPr/>
        <a:lstStyle/>
        <a:p>
          <a:r>
            <a:rPr lang="en-US" b="1" i="0" baseline="0"/>
            <a:t>Tools Used:</a:t>
          </a:r>
          <a:r>
            <a:rPr lang="en-US" b="0" i="0" baseline="0"/>
            <a:t> The entire study was carried out in </a:t>
          </a:r>
          <a:r>
            <a:rPr lang="en-US" b="1" i="0" baseline="0"/>
            <a:t>Excel</a:t>
          </a:r>
          <a:r>
            <a:rPr lang="en-US" b="0" i="0" baseline="0"/>
            <a:t>, using pivot tables, charts, KPI cards, and an interactive dashboard to explore and visualize the data.</a:t>
          </a:r>
          <a:endParaRPr lang="en-US"/>
        </a:p>
      </dgm:t>
    </dgm:pt>
    <dgm:pt modelId="{D7B33655-1C36-4A3D-95C8-37915C7539D2}" type="parTrans" cxnId="{E2A71C9D-0533-4A06-B0E7-603BC83D235A}">
      <dgm:prSet/>
      <dgm:spPr/>
      <dgm:t>
        <a:bodyPr/>
        <a:lstStyle/>
        <a:p>
          <a:endParaRPr lang="en-US"/>
        </a:p>
      </dgm:t>
    </dgm:pt>
    <dgm:pt modelId="{D6CFB7BD-D175-45FD-B97D-824468FF6EEB}" type="sibTrans" cxnId="{E2A71C9D-0533-4A06-B0E7-603BC83D235A}">
      <dgm:prSet/>
      <dgm:spPr/>
      <dgm:t>
        <a:bodyPr/>
        <a:lstStyle/>
        <a:p>
          <a:endParaRPr lang="en-US"/>
        </a:p>
      </dgm:t>
    </dgm:pt>
    <dgm:pt modelId="{726D779C-7BE2-4FD1-8330-90341E971AF2}">
      <dgm:prSet/>
      <dgm:spPr/>
      <dgm:t>
        <a:bodyPr/>
        <a:lstStyle/>
        <a:p>
          <a:r>
            <a:rPr lang="en-US" b="1" i="0" baseline="0"/>
            <a:t>Goal:</a:t>
          </a:r>
          <a:r>
            <a:rPr lang="en-US" b="0" i="0" baseline="0"/>
            <a:t> The main goal is to uncover key health and cost trends that can help explain medical expenditure and highlight high-risk groups.</a:t>
          </a:r>
          <a:endParaRPr lang="en-US"/>
        </a:p>
      </dgm:t>
    </dgm:pt>
    <dgm:pt modelId="{9D04C233-D1A1-462E-A29A-2475A71ECEAA}" type="parTrans" cxnId="{9006BA9D-4876-421B-B90C-2FA093DBE40C}">
      <dgm:prSet/>
      <dgm:spPr/>
      <dgm:t>
        <a:bodyPr/>
        <a:lstStyle/>
        <a:p>
          <a:endParaRPr lang="en-US"/>
        </a:p>
      </dgm:t>
    </dgm:pt>
    <dgm:pt modelId="{C1E01D60-F08C-4142-921F-37D56E1A1A38}" type="sibTrans" cxnId="{9006BA9D-4876-421B-B90C-2FA093DBE40C}">
      <dgm:prSet/>
      <dgm:spPr/>
      <dgm:t>
        <a:bodyPr/>
        <a:lstStyle/>
        <a:p>
          <a:endParaRPr lang="en-US"/>
        </a:p>
      </dgm:t>
    </dgm:pt>
    <dgm:pt modelId="{83AE0EB6-0A06-44B6-AB44-68A54710C097}" type="pres">
      <dgm:prSet presAssocID="{05A420A5-784D-4143-9A2E-D7B13F04CBB7}" presName="vert0" presStyleCnt="0">
        <dgm:presLayoutVars>
          <dgm:dir/>
          <dgm:animOne val="branch"/>
          <dgm:animLvl val="lvl"/>
        </dgm:presLayoutVars>
      </dgm:prSet>
      <dgm:spPr/>
    </dgm:pt>
    <dgm:pt modelId="{69C60F52-B8CD-4403-ABE5-43317D089E4A}" type="pres">
      <dgm:prSet presAssocID="{53B6D6F1-1F4B-42F2-A12A-CC47D809AE79}" presName="thickLine" presStyleLbl="alignNode1" presStyleIdx="0" presStyleCnt="4"/>
      <dgm:spPr/>
    </dgm:pt>
    <dgm:pt modelId="{5BF7764F-33CD-4E20-9460-FEB8F408D697}" type="pres">
      <dgm:prSet presAssocID="{53B6D6F1-1F4B-42F2-A12A-CC47D809AE79}" presName="horz1" presStyleCnt="0"/>
      <dgm:spPr/>
    </dgm:pt>
    <dgm:pt modelId="{98F6D4A2-8A7B-409D-8B02-65160D56F6FC}" type="pres">
      <dgm:prSet presAssocID="{53B6D6F1-1F4B-42F2-A12A-CC47D809AE79}" presName="tx1" presStyleLbl="revTx" presStyleIdx="0" presStyleCnt="4"/>
      <dgm:spPr/>
    </dgm:pt>
    <dgm:pt modelId="{70C3522E-EA4C-4361-AAC7-DD534D4DA763}" type="pres">
      <dgm:prSet presAssocID="{53B6D6F1-1F4B-42F2-A12A-CC47D809AE79}" presName="vert1" presStyleCnt="0"/>
      <dgm:spPr/>
    </dgm:pt>
    <dgm:pt modelId="{25338F0F-585F-4C93-AE5F-0FE8B7F0C962}" type="pres">
      <dgm:prSet presAssocID="{98680FFF-6F9C-4DB0-960C-EAD28408DD03}" presName="thickLine" presStyleLbl="alignNode1" presStyleIdx="1" presStyleCnt="4"/>
      <dgm:spPr/>
    </dgm:pt>
    <dgm:pt modelId="{78F2855D-5786-42F8-B7E1-594CD3CEB7E3}" type="pres">
      <dgm:prSet presAssocID="{98680FFF-6F9C-4DB0-960C-EAD28408DD03}" presName="horz1" presStyleCnt="0"/>
      <dgm:spPr/>
    </dgm:pt>
    <dgm:pt modelId="{2F9C61C9-6E00-4225-882A-CBD74EDAA962}" type="pres">
      <dgm:prSet presAssocID="{98680FFF-6F9C-4DB0-960C-EAD28408DD03}" presName="tx1" presStyleLbl="revTx" presStyleIdx="1" presStyleCnt="4"/>
      <dgm:spPr/>
    </dgm:pt>
    <dgm:pt modelId="{8C142002-F9E9-4EEB-BECA-B4AB86BCE767}" type="pres">
      <dgm:prSet presAssocID="{98680FFF-6F9C-4DB0-960C-EAD28408DD03}" presName="vert1" presStyleCnt="0"/>
      <dgm:spPr/>
    </dgm:pt>
    <dgm:pt modelId="{D4F6D436-A16A-4BE3-92A6-B4AAC033E123}" type="pres">
      <dgm:prSet presAssocID="{027C869B-2D70-4552-9DD6-60BD76DEAB69}" presName="thickLine" presStyleLbl="alignNode1" presStyleIdx="2" presStyleCnt="4"/>
      <dgm:spPr/>
    </dgm:pt>
    <dgm:pt modelId="{4C3163FE-CCAF-4B37-B259-C6CA17015AF3}" type="pres">
      <dgm:prSet presAssocID="{027C869B-2D70-4552-9DD6-60BD76DEAB69}" presName="horz1" presStyleCnt="0"/>
      <dgm:spPr/>
    </dgm:pt>
    <dgm:pt modelId="{E4CA2F92-D737-40AB-8330-C4B3BE00F689}" type="pres">
      <dgm:prSet presAssocID="{027C869B-2D70-4552-9DD6-60BD76DEAB69}" presName="tx1" presStyleLbl="revTx" presStyleIdx="2" presStyleCnt="4"/>
      <dgm:spPr/>
    </dgm:pt>
    <dgm:pt modelId="{D88BEB41-5689-4E43-A8B6-2A4F451A1A76}" type="pres">
      <dgm:prSet presAssocID="{027C869B-2D70-4552-9DD6-60BD76DEAB69}" presName="vert1" presStyleCnt="0"/>
      <dgm:spPr/>
    </dgm:pt>
    <dgm:pt modelId="{064A9546-E3B4-4EFB-BF2C-A37167D61713}" type="pres">
      <dgm:prSet presAssocID="{726D779C-7BE2-4FD1-8330-90341E971AF2}" presName="thickLine" presStyleLbl="alignNode1" presStyleIdx="3" presStyleCnt="4"/>
      <dgm:spPr/>
    </dgm:pt>
    <dgm:pt modelId="{5372576B-D4E5-40F4-BA50-9E71DD939C46}" type="pres">
      <dgm:prSet presAssocID="{726D779C-7BE2-4FD1-8330-90341E971AF2}" presName="horz1" presStyleCnt="0"/>
      <dgm:spPr/>
    </dgm:pt>
    <dgm:pt modelId="{66B76712-BF9C-4D9F-895B-1CC18FBB0436}" type="pres">
      <dgm:prSet presAssocID="{726D779C-7BE2-4FD1-8330-90341E971AF2}" presName="tx1" presStyleLbl="revTx" presStyleIdx="3" presStyleCnt="4"/>
      <dgm:spPr/>
    </dgm:pt>
    <dgm:pt modelId="{38BDAEE4-F6DA-4139-97C4-F865D98D70D9}" type="pres">
      <dgm:prSet presAssocID="{726D779C-7BE2-4FD1-8330-90341E971AF2}" presName="vert1" presStyleCnt="0"/>
      <dgm:spPr/>
    </dgm:pt>
  </dgm:ptLst>
  <dgm:cxnLst>
    <dgm:cxn modelId="{E3A02507-FA3F-4901-A3FA-168DEEFB8149}" type="presOf" srcId="{98680FFF-6F9C-4DB0-960C-EAD28408DD03}" destId="{2F9C61C9-6E00-4225-882A-CBD74EDAA962}" srcOrd="0" destOrd="0" presId="urn:microsoft.com/office/officeart/2008/layout/LinedList"/>
    <dgm:cxn modelId="{1B81BC37-0D9F-4FA5-BCC3-ACCA900A785B}" type="presOf" srcId="{05A420A5-784D-4143-9A2E-D7B13F04CBB7}" destId="{83AE0EB6-0A06-44B6-AB44-68A54710C097}" srcOrd="0" destOrd="0" presId="urn:microsoft.com/office/officeart/2008/layout/LinedList"/>
    <dgm:cxn modelId="{5D01F340-0505-4549-B2F1-84ADCF761705}" srcId="{05A420A5-784D-4143-9A2E-D7B13F04CBB7}" destId="{98680FFF-6F9C-4DB0-960C-EAD28408DD03}" srcOrd="1" destOrd="0" parTransId="{CF2CE201-0185-48E1-9CC7-ECB06E8132A0}" sibTransId="{B16540D8-5DC5-409E-9B57-555B8FEE1450}"/>
    <dgm:cxn modelId="{30968D84-2358-4ECB-86CA-ADC645E78740}" type="presOf" srcId="{53B6D6F1-1F4B-42F2-A12A-CC47D809AE79}" destId="{98F6D4A2-8A7B-409D-8B02-65160D56F6FC}" srcOrd="0" destOrd="0" presId="urn:microsoft.com/office/officeart/2008/layout/LinedList"/>
    <dgm:cxn modelId="{E2A71C9D-0533-4A06-B0E7-603BC83D235A}" srcId="{05A420A5-784D-4143-9A2E-D7B13F04CBB7}" destId="{027C869B-2D70-4552-9DD6-60BD76DEAB69}" srcOrd="2" destOrd="0" parTransId="{D7B33655-1C36-4A3D-95C8-37915C7539D2}" sibTransId="{D6CFB7BD-D175-45FD-B97D-824468FF6EEB}"/>
    <dgm:cxn modelId="{9006BA9D-4876-421B-B90C-2FA093DBE40C}" srcId="{05A420A5-784D-4143-9A2E-D7B13F04CBB7}" destId="{726D779C-7BE2-4FD1-8330-90341E971AF2}" srcOrd="3" destOrd="0" parTransId="{9D04C233-D1A1-462E-A29A-2475A71ECEAA}" sibTransId="{C1E01D60-F08C-4142-921F-37D56E1A1A38}"/>
    <dgm:cxn modelId="{A49AB3A5-86C5-45D0-949A-464D2F9B9EFE}" srcId="{05A420A5-784D-4143-9A2E-D7B13F04CBB7}" destId="{53B6D6F1-1F4B-42F2-A12A-CC47D809AE79}" srcOrd="0" destOrd="0" parTransId="{F46781E8-CF19-4F99-8287-878655B98393}" sibTransId="{F0E38BE6-2010-436D-BCEC-194ECB898867}"/>
    <dgm:cxn modelId="{DB4887B3-D8CE-4811-BE81-63305E2246A4}" type="presOf" srcId="{726D779C-7BE2-4FD1-8330-90341E971AF2}" destId="{66B76712-BF9C-4D9F-895B-1CC18FBB0436}" srcOrd="0" destOrd="0" presId="urn:microsoft.com/office/officeart/2008/layout/LinedList"/>
    <dgm:cxn modelId="{15D11FCD-2AA7-495A-A651-B0AE2DDE3EE8}" type="presOf" srcId="{027C869B-2D70-4552-9DD6-60BD76DEAB69}" destId="{E4CA2F92-D737-40AB-8330-C4B3BE00F689}" srcOrd="0" destOrd="0" presId="urn:microsoft.com/office/officeart/2008/layout/LinedList"/>
    <dgm:cxn modelId="{C4259AAE-9648-4125-BB49-5B1F61605701}" type="presParOf" srcId="{83AE0EB6-0A06-44B6-AB44-68A54710C097}" destId="{69C60F52-B8CD-4403-ABE5-43317D089E4A}" srcOrd="0" destOrd="0" presId="urn:microsoft.com/office/officeart/2008/layout/LinedList"/>
    <dgm:cxn modelId="{E0B6C49A-F121-4B34-B8C3-E8401EF41812}" type="presParOf" srcId="{83AE0EB6-0A06-44B6-AB44-68A54710C097}" destId="{5BF7764F-33CD-4E20-9460-FEB8F408D697}" srcOrd="1" destOrd="0" presId="urn:microsoft.com/office/officeart/2008/layout/LinedList"/>
    <dgm:cxn modelId="{3A5F5DBB-5024-4F56-B872-025F20C1D900}" type="presParOf" srcId="{5BF7764F-33CD-4E20-9460-FEB8F408D697}" destId="{98F6D4A2-8A7B-409D-8B02-65160D56F6FC}" srcOrd="0" destOrd="0" presId="urn:microsoft.com/office/officeart/2008/layout/LinedList"/>
    <dgm:cxn modelId="{8A60B2CA-10C3-4EBC-AF0D-E8BA715AC3C7}" type="presParOf" srcId="{5BF7764F-33CD-4E20-9460-FEB8F408D697}" destId="{70C3522E-EA4C-4361-AAC7-DD534D4DA763}" srcOrd="1" destOrd="0" presId="urn:microsoft.com/office/officeart/2008/layout/LinedList"/>
    <dgm:cxn modelId="{3023B31B-4D30-4473-BD06-4CFEB9ECC64F}" type="presParOf" srcId="{83AE0EB6-0A06-44B6-AB44-68A54710C097}" destId="{25338F0F-585F-4C93-AE5F-0FE8B7F0C962}" srcOrd="2" destOrd="0" presId="urn:microsoft.com/office/officeart/2008/layout/LinedList"/>
    <dgm:cxn modelId="{B99FE33B-87AA-4C03-A68F-79320024F9A0}" type="presParOf" srcId="{83AE0EB6-0A06-44B6-AB44-68A54710C097}" destId="{78F2855D-5786-42F8-B7E1-594CD3CEB7E3}" srcOrd="3" destOrd="0" presId="urn:microsoft.com/office/officeart/2008/layout/LinedList"/>
    <dgm:cxn modelId="{557F14BE-6EAF-4CB3-AD8C-83953C228787}" type="presParOf" srcId="{78F2855D-5786-42F8-B7E1-594CD3CEB7E3}" destId="{2F9C61C9-6E00-4225-882A-CBD74EDAA962}" srcOrd="0" destOrd="0" presId="urn:microsoft.com/office/officeart/2008/layout/LinedList"/>
    <dgm:cxn modelId="{0BD0BDAC-0F85-4266-BB0D-0964CDB1C14C}" type="presParOf" srcId="{78F2855D-5786-42F8-B7E1-594CD3CEB7E3}" destId="{8C142002-F9E9-4EEB-BECA-B4AB86BCE767}" srcOrd="1" destOrd="0" presId="urn:microsoft.com/office/officeart/2008/layout/LinedList"/>
    <dgm:cxn modelId="{B6FA970A-49A1-4E49-A376-8F506C9A0566}" type="presParOf" srcId="{83AE0EB6-0A06-44B6-AB44-68A54710C097}" destId="{D4F6D436-A16A-4BE3-92A6-B4AAC033E123}" srcOrd="4" destOrd="0" presId="urn:microsoft.com/office/officeart/2008/layout/LinedList"/>
    <dgm:cxn modelId="{E6EF5ADD-0994-4A09-847C-65FA89D22B91}" type="presParOf" srcId="{83AE0EB6-0A06-44B6-AB44-68A54710C097}" destId="{4C3163FE-CCAF-4B37-B259-C6CA17015AF3}" srcOrd="5" destOrd="0" presId="urn:microsoft.com/office/officeart/2008/layout/LinedList"/>
    <dgm:cxn modelId="{8AA3CB3C-A8F3-4DD0-98FF-1D3A8C18F26C}" type="presParOf" srcId="{4C3163FE-CCAF-4B37-B259-C6CA17015AF3}" destId="{E4CA2F92-D737-40AB-8330-C4B3BE00F689}" srcOrd="0" destOrd="0" presId="urn:microsoft.com/office/officeart/2008/layout/LinedList"/>
    <dgm:cxn modelId="{F57E9ABB-488C-4CB8-8947-C8B1ECB2E200}" type="presParOf" srcId="{4C3163FE-CCAF-4B37-B259-C6CA17015AF3}" destId="{D88BEB41-5689-4E43-A8B6-2A4F451A1A76}" srcOrd="1" destOrd="0" presId="urn:microsoft.com/office/officeart/2008/layout/LinedList"/>
    <dgm:cxn modelId="{ACC20BA2-B5F9-4AE1-AD02-4816E797C02B}" type="presParOf" srcId="{83AE0EB6-0A06-44B6-AB44-68A54710C097}" destId="{064A9546-E3B4-4EFB-BF2C-A37167D61713}" srcOrd="6" destOrd="0" presId="urn:microsoft.com/office/officeart/2008/layout/LinedList"/>
    <dgm:cxn modelId="{9631B477-1E43-4FC8-A2C0-AF26B753F2C9}" type="presParOf" srcId="{83AE0EB6-0A06-44B6-AB44-68A54710C097}" destId="{5372576B-D4E5-40F4-BA50-9E71DD939C46}" srcOrd="7" destOrd="0" presId="urn:microsoft.com/office/officeart/2008/layout/LinedList"/>
    <dgm:cxn modelId="{2BBA4225-2D67-4795-90E1-75864248684A}" type="presParOf" srcId="{5372576B-D4E5-40F4-BA50-9E71DD939C46}" destId="{66B76712-BF9C-4D9F-895B-1CC18FBB0436}" srcOrd="0" destOrd="0" presId="urn:microsoft.com/office/officeart/2008/layout/LinedList"/>
    <dgm:cxn modelId="{493B9B92-13EE-48CE-9750-EE577861A0B2}" type="presParOf" srcId="{5372576B-D4E5-40F4-BA50-9E71DD939C46}" destId="{38BDAEE4-F6DA-4139-97C4-F865D98D70D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6A19D4-3BF4-45AC-BA4A-B9DEE8DE0F8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B3E3E0E2-666F-4B97-B56B-825EDEF14DA4}">
      <dgm:prSet/>
      <dgm:spPr/>
      <dgm:t>
        <a:bodyPr/>
        <a:lstStyle/>
        <a:p>
          <a:r>
            <a:rPr lang="en-US" b="0" i="0" baseline="0"/>
            <a:t>On average, </a:t>
          </a:r>
          <a:r>
            <a:rPr lang="en-US" b="1" i="0" baseline="0"/>
            <a:t>males tend to spend more on medical charges</a:t>
          </a:r>
          <a:r>
            <a:rPr lang="en-US" b="0" i="0" baseline="0"/>
            <a:t> than females. Male beneficiaries have average charges of about </a:t>
          </a:r>
          <a:r>
            <a:rPr lang="en-US" b="1" i="0" baseline="0"/>
            <a:t>₹13,956</a:t>
          </a:r>
          <a:r>
            <a:rPr lang="en-US" b="0" i="0" baseline="0"/>
            <a:t>, while females are around </a:t>
          </a:r>
          <a:r>
            <a:rPr lang="en-US" b="1" i="0" baseline="0"/>
            <a:t>₹12,570</a:t>
          </a:r>
          <a:r>
            <a:rPr lang="en-US" b="0" i="0" baseline="0"/>
            <a:t>. This means men are spending roughly </a:t>
          </a:r>
          <a:r>
            <a:rPr lang="en-US" b="1" i="0" baseline="0"/>
            <a:t>11% more</a:t>
          </a:r>
          <a:r>
            <a:rPr lang="en-US" b="0" i="0" baseline="0"/>
            <a:t>.</a:t>
          </a:r>
          <a:endParaRPr lang="en-US"/>
        </a:p>
      </dgm:t>
    </dgm:pt>
    <dgm:pt modelId="{E90D0E61-B1C9-4932-8A73-D8CB1A141C75}" type="parTrans" cxnId="{F9190ACA-2088-409E-B065-2627C76AF76A}">
      <dgm:prSet/>
      <dgm:spPr/>
      <dgm:t>
        <a:bodyPr/>
        <a:lstStyle/>
        <a:p>
          <a:endParaRPr lang="en-US"/>
        </a:p>
      </dgm:t>
    </dgm:pt>
    <dgm:pt modelId="{9EE8427E-3915-4358-9392-B612A2FE0E25}" type="sibTrans" cxnId="{F9190ACA-2088-409E-B065-2627C76AF76A}">
      <dgm:prSet/>
      <dgm:spPr/>
      <dgm:t>
        <a:bodyPr/>
        <a:lstStyle/>
        <a:p>
          <a:endParaRPr lang="en-US"/>
        </a:p>
      </dgm:t>
    </dgm:pt>
    <dgm:pt modelId="{4D25C8B3-140C-404A-9BCD-18F4459D3438}">
      <dgm:prSet/>
      <dgm:spPr/>
      <dgm:t>
        <a:bodyPr/>
        <a:lstStyle/>
        <a:p>
          <a:r>
            <a:rPr lang="en-US" b="0" i="0" baseline="0"/>
            <a:t>When we look at BMI, </a:t>
          </a:r>
          <a:r>
            <a:rPr lang="en-US" b="1" i="0" baseline="0"/>
            <a:t>males also show a slightly higher average BMI</a:t>
          </a:r>
          <a:r>
            <a:rPr lang="en-US" b="0" i="0" baseline="0"/>
            <a:t> (30.94) compared to females (30.38). The difference isn’t huge, but it does suggest that men in this dataset are marginally heavier on average.</a:t>
          </a:r>
          <a:endParaRPr lang="en-US"/>
        </a:p>
      </dgm:t>
    </dgm:pt>
    <dgm:pt modelId="{8D588F81-7E4F-4409-9068-545F5C05D70D}" type="parTrans" cxnId="{6EB730FF-4F7A-4F93-A148-50102CA89549}">
      <dgm:prSet/>
      <dgm:spPr/>
      <dgm:t>
        <a:bodyPr/>
        <a:lstStyle/>
        <a:p>
          <a:endParaRPr lang="en-US"/>
        </a:p>
      </dgm:t>
    </dgm:pt>
    <dgm:pt modelId="{61AA4FC9-039E-4608-B2F5-B1BC28D6EFF9}" type="sibTrans" cxnId="{6EB730FF-4F7A-4F93-A148-50102CA89549}">
      <dgm:prSet/>
      <dgm:spPr/>
      <dgm:t>
        <a:bodyPr/>
        <a:lstStyle/>
        <a:p>
          <a:endParaRPr lang="en-US"/>
        </a:p>
      </dgm:t>
    </dgm:pt>
    <dgm:pt modelId="{D102FB3E-DB5D-4B66-9BFD-B82049CE0E0E}">
      <dgm:prSet/>
      <dgm:spPr/>
      <dgm:t>
        <a:bodyPr/>
        <a:lstStyle/>
        <a:p>
          <a:r>
            <a:rPr lang="en-US" b="0" i="0" baseline="0"/>
            <a:t>Overall, </a:t>
          </a:r>
          <a:r>
            <a:rPr lang="en-US" b="1" i="0" baseline="0"/>
            <a:t>gender does play a role</a:t>
          </a:r>
          <a:r>
            <a:rPr lang="en-US" b="0" i="0" baseline="0"/>
            <a:t>, but the impact is </a:t>
          </a:r>
          <a:r>
            <a:rPr lang="en-US" b="1" i="0" baseline="0"/>
            <a:t>moderate</a:t>
          </a:r>
          <a:r>
            <a:rPr lang="en-US" b="0" i="0" baseline="0"/>
            <a:t> rather than extreme. Both costs and BMI differ between men and women, but not drastically.</a:t>
          </a:r>
          <a:endParaRPr lang="en-US"/>
        </a:p>
      </dgm:t>
    </dgm:pt>
    <dgm:pt modelId="{9C3EE6AB-8FFE-4DC7-BAB7-B5925122CA0B}" type="parTrans" cxnId="{AFF4E4AD-3C00-41A8-B167-C3183817877A}">
      <dgm:prSet/>
      <dgm:spPr/>
      <dgm:t>
        <a:bodyPr/>
        <a:lstStyle/>
        <a:p>
          <a:endParaRPr lang="en-US"/>
        </a:p>
      </dgm:t>
    </dgm:pt>
    <dgm:pt modelId="{E046EE43-8033-45FF-AE2D-48E10E7E8D2E}" type="sibTrans" cxnId="{AFF4E4AD-3C00-41A8-B167-C3183817877A}">
      <dgm:prSet/>
      <dgm:spPr/>
      <dgm:t>
        <a:bodyPr/>
        <a:lstStyle/>
        <a:p>
          <a:endParaRPr lang="en-US"/>
        </a:p>
      </dgm:t>
    </dgm:pt>
    <dgm:pt modelId="{58EBAAC2-A101-4319-888A-789B3590768D}" type="pres">
      <dgm:prSet presAssocID="{DF6A19D4-3BF4-45AC-BA4A-B9DEE8DE0F8C}" presName="vert0" presStyleCnt="0">
        <dgm:presLayoutVars>
          <dgm:dir/>
          <dgm:animOne val="branch"/>
          <dgm:animLvl val="lvl"/>
        </dgm:presLayoutVars>
      </dgm:prSet>
      <dgm:spPr/>
    </dgm:pt>
    <dgm:pt modelId="{C12C0354-A266-46E5-889E-3E1AEFD4F9AC}" type="pres">
      <dgm:prSet presAssocID="{B3E3E0E2-666F-4B97-B56B-825EDEF14DA4}" presName="thickLine" presStyleLbl="alignNode1" presStyleIdx="0" presStyleCnt="3"/>
      <dgm:spPr/>
    </dgm:pt>
    <dgm:pt modelId="{014DAC7A-DF6B-4B36-B678-95F36AE1DB7E}" type="pres">
      <dgm:prSet presAssocID="{B3E3E0E2-666F-4B97-B56B-825EDEF14DA4}" presName="horz1" presStyleCnt="0"/>
      <dgm:spPr/>
    </dgm:pt>
    <dgm:pt modelId="{62E23A9B-EAA2-4FD8-987F-270FE8183C18}" type="pres">
      <dgm:prSet presAssocID="{B3E3E0E2-666F-4B97-B56B-825EDEF14DA4}" presName="tx1" presStyleLbl="revTx" presStyleIdx="0" presStyleCnt="3"/>
      <dgm:spPr/>
    </dgm:pt>
    <dgm:pt modelId="{24516BA9-239C-4285-BCDF-85112C20C65D}" type="pres">
      <dgm:prSet presAssocID="{B3E3E0E2-666F-4B97-B56B-825EDEF14DA4}" presName="vert1" presStyleCnt="0"/>
      <dgm:spPr/>
    </dgm:pt>
    <dgm:pt modelId="{D9116CEF-C003-4CBA-A3D6-C8D72A924F74}" type="pres">
      <dgm:prSet presAssocID="{4D25C8B3-140C-404A-9BCD-18F4459D3438}" presName="thickLine" presStyleLbl="alignNode1" presStyleIdx="1" presStyleCnt="3"/>
      <dgm:spPr/>
    </dgm:pt>
    <dgm:pt modelId="{381A11D8-BA8B-4A55-8B3E-F682B7764F9D}" type="pres">
      <dgm:prSet presAssocID="{4D25C8B3-140C-404A-9BCD-18F4459D3438}" presName="horz1" presStyleCnt="0"/>
      <dgm:spPr/>
    </dgm:pt>
    <dgm:pt modelId="{745090FE-C929-45B1-B8E8-F6D5E8F6680D}" type="pres">
      <dgm:prSet presAssocID="{4D25C8B3-140C-404A-9BCD-18F4459D3438}" presName="tx1" presStyleLbl="revTx" presStyleIdx="1" presStyleCnt="3"/>
      <dgm:spPr/>
    </dgm:pt>
    <dgm:pt modelId="{26A73804-9461-4BFD-AB7A-C01B2350904E}" type="pres">
      <dgm:prSet presAssocID="{4D25C8B3-140C-404A-9BCD-18F4459D3438}" presName="vert1" presStyleCnt="0"/>
      <dgm:spPr/>
    </dgm:pt>
    <dgm:pt modelId="{2A756592-575D-4334-B710-233C4DD9650D}" type="pres">
      <dgm:prSet presAssocID="{D102FB3E-DB5D-4B66-9BFD-B82049CE0E0E}" presName="thickLine" presStyleLbl="alignNode1" presStyleIdx="2" presStyleCnt="3"/>
      <dgm:spPr/>
    </dgm:pt>
    <dgm:pt modelId="{1C452535-2C65-4FA4-9268-79B636A98185}" type="pres">
      <dgm:prSet presAssocID="{D102FB3E-DB5D-4B66-9BFD-B82049CE0E0E}" presName="horz1" presStyleCnt="0"/>
      <dgm:spPr/>
    </dgm:pt>
    <dgm:pt modelId="{D74FF5F6-4359-4870-9F4D-53D845179113}" type="pres">
      <dgm:prSet presAssocID="{D102FB3E-DB5D-4B66-9BFD-B82049CE0E0E}" presName="tx1" presStyleLbl="revTx" presStyleIdx="2" presStyleCnt="3"/>
      <dgm:spPr/>
    </dgm:pt>
    <dgm:pt modelId="{8EF666FF-3E8D-4619-9260-91B2C0496553}" type="pres">
      <dgm:prSet presAssocID="{D102FB3E-DB5D-4B66-9BFD-B82049CE0E0E}" presName="vert1" presStyleCnt="0"/>
      <dgm:spPr/>
    </dgm:pt>
  </dgm:ptLst>
  <dgm:cxnLst>
    <dgm:cxn modelId="{925DB412-1D6F-42DE-89B4-1C42BC46098C}" type="presOf" srcId="{B3E3E0E2-666F-4B97-B56B-825EDEF14DA4}" destId="{62E23A9B-EAA2-4FD8-987F-270FE8183C18}" srcOrd="0" destOrd="0" presId="urn:microsoft.com/office/officeart/2008/layout/LinedList"/>
    <dgm:cxn modelId="{C687F417-F186-4EB0-BEF2-08523E28E5E0}" type="presOf" srcId="{D102FB3E-DB5D-4B66-9BFD-B82049CE0E0E}" destId="{D74FF5F6-4359-4870-9F4D-53D845179113}" srcOrd="0" destOrd="0" presId="urn:microsoft.com/office/officeart/2008/layout/LinedList"/>
    <dgm:cxn modelId="{95A6599F-4BF4-4B76-AFF3-D23E32009191}" type="presOf" srcId="{DF6A19D4-3BF4-45AC-BA4A-B9DEE8DE0F8C}" destId="{58EBAAC2-A101-4319-888A-789B3590768D}" srcOrd="0" destOrd="0" presId="urn:microsoft.com/office/officeart/2008/layout/LinedList"/>
    <dgm:cxn modelId="{AFF4E4AD-3C00-41A8-B167-C3183817877A}" srcId="{DF6A19D4-3BF4-45AC-BA4A-B9DEE8DE0F8C}" destId="{D102FB3E-DB5D-4B66-9BFD-B82049CE0E0E}" srcOrd="2" destOrd="0" parTransId="{9C3EE6AB-8FFE-4DC7-BAB7-B5925122CA0B}" sibTransId="{E046EE43-8033-45FF-AE2D-48E10E7E8D2E}"/>
    <dgm:cxn modelId="{F9190ACA-2088-409E-B065-2627C76AF76A}" srcId="{DF6A19D4-3BF4-45AC-BA4A-B9DEE8DE0F8C}" destId="{B3E3E0E2-666F-4B97-B56B-825EDEF14DA4}" srcOrd="0" destOrd="0" parTransId="{E90D0E61-B1C9-4932-8A73-D8CB1A141C75}" sibTransId="{9EE8427E-3915-4358-9392-B612A2FE0E25}"/>
    <dgm:cxn modelId="{58C35AE7-5245-4685-BA01-666320488523}" type="presOf" srcId="{4D25C8B3-140C-404A-9BCD-18F4459D3438}" destId="{745090FE-C929-45B1-B8E8-F6D5E8F6680D}" srcOrd="0" destOrd="0" presId="urn:microsoft.com/office/officeart/2008/layout/LinedList"/>
    <dgm:cxn modelId="{6EB730FF-4F7A-4F93-A148-50102CA89549}" srcId="{DF6A19D4-3BF4-45AC-BA4A-B9DEE8DE0F8C}" destId="{4D25C8B3-140C-404A-9BCD-18F4459D3438}" srcOrd="1" destOrd="0" parTransId="{8D588F81-7E4F-4409-9068-545F5C05D70D}" sibTransId="{61AA4FC9-039E-4608-B2F5-B1BC28D6EFF9}"/>
    <dgm:cxn modelId="{D9EC2BEC-DA9D-441B-855B-6653DD28E5F0}" type="presParOf" srcId="{58EBAAC2-A101-4319-888A-789B3590768D}" destId="{C12C0354-A266-46E5-889E-3E1AEFD4F9AC}" srcOrd="0" destOrd="0" presId="urn:microsoft.com/office/officeart/2008/layout/LinedList"/>
    <dgm:cxn modelId="{26571C7A-786F-4AFE-BE15-EA758D1757F1}" type="presParOf" srcId="{58EBAAC2-A101-4319-888A-789B3590768D}" destId="{014DAC7A-DF6B-4B36-B678-95F36AE1DB7E}" srcOrd="1" destOrd="0" presId="urn:microsoft.com/office/officeart/2008/layout/LinedList"/>
    <dgm:cxn modelId="{7ACAA7D0-945E-463B-9746-0356CCC1F1F6}" type="presParOf" srcId="{014DAC7A-DF6B-4B36-B678-95F36AE1DB7E}" destId="{62E23A9B-EAA2-4FD8-987F-270FE8183C18}" srcOrd="0" destOrd="0" presId="urn:microsoft.com/office/officeart/2008/layout/LinedList"/>
    <dgm:cxn modelId="{D1F09B7B-F268-430D-B3FF-37EDD7439285}" type="presParOf" srcId="{014DAC7A-DF6B-4B36-B678-95F36AE1DB7E}" destId="{24516BA9-239C-4285-BCDF-85112C20C65D}" srcOrd="1" destOrd="0" presId="urn:microsoft.com/office/officeart/2008/layout/LinedList"/>
    <dgm:cxn modelId="{2C5CBF88-BBC2-4540-84FD-2CF695A7D4C0}" type="presParOf" srcId="{58EBAAC2-A101-4319-888A-789B3590768D}" destId="{D9116CEF-C003-4CBA-A3D6-C8D72A924F74}" srcOrd="2" destOrd="0" presId="urn:microsoft.com/office/officeart/2008/layout/LinedList"/>
    <dgm:cxn modelId="{4F55ADE9-704B-466B-9AFA-26321507F55D}" type="presParOf" srcId="{58EBAAC2-A101-4319-888A-789B3590768D}" destId="{381A11D8-BA8B-4A55-8B3E-F682B7764F9D}" srcOrd="3" destOrd="0" presId="urn:microsoft.com/office/officeart/2008/layout/LinedList"/>
    <dgm:cxn modelId="{0561600E-F52A-4798-AB87-D8B85A502CA5}" type="presParOf" srcId="{381A11D8-BA8B-4A55-8B3E-F682B7764F9D}" destId="{745090FE-C929-45B1-B8E8-F6D5E8F6680D}" srcOrd="0" destOrd="0" presId="urn:microsoft.com/office/officeart/2008/layout/LinedList"/>
    <dgm:cxn modelId="{082EE8FB-C4C9-4E03-8904-5B352D12730A}" type="presParOf" srcId="{381A11D8-BA8B-4A55-8B3E-F682B7764F9D}" destId="{26A73804-9461-4BFD-AB7A-C01B2350904E}" srcOrd="1" destOrd="0" presId="urn:microsoft.com/office/officeart/2008/layout/LinedList"/>
    <dgm:cxn modelId="{06FC05C9-08EF-494D-9B73-814BCF1BCB36}" type="presParOf" srcId="{58EBAAC2-A101-4319-888A-789B3590768D}" destId="{2A756592-575D-4334-B710-233C4DD9650D}" srcOrd="4" destOrd="0" presId="urn:microsoft.com/office/officeart/2008/layout/LinedList"/>
    <dgm:cxn modelId="{0DD652A3-D399-46A6-9F77-AA2DA95D5478}" type="presParOf" srcId="{58EBAAC2-A101-4319-888A-789B3590768D}" destId="{1C452535-2C65-4FA4-9268-79B636A98185}" srcOrd="5" destOrd="0" presId="urn:microsoft.com/office/officeart/2008/layout/LinedList"/>
    <dgm:cxn modelId="{7B2DA6EB-9576-4372-8B0F-1372C00AB159}" type="presParOf" srcId="{1C452535-2C65-4FA4-9268-79B636A98185}" destId="{D74FF5F6-4359-4870-9F4D-53D845179113}" srcOrd="0" destOrd="0" presId="urn:microsoft.com/office/officeart/2008/layout/LinedList"/>
    <dgm:cxn modelId="{9437095B-A985-4DF4-9808-7B1BFC987018}" type="presParOf" srcId="{1C452535-2C65-4FA4-9268-79B636A98185}" destId="{8EF666FF-3E8D-4619-9260-91B2C049655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8AA0C8A-0719-4DF9-911C-0F7EA568B8A4}"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E3FCD88-BA25-4148-8B94-ACF7F411060A}">
      <dgm:prSet/>
      <dgm:spPr/>
      <dgm:t>
        <a:bodyPr/>
        <a:lstStyle/>
        <a:p>
          <a:r>
            <a:rPr lang="en-US" b="0" i="0" baseline="0"/>
            <a:t>The difference in medical spending between smokers and non-smokers is huge. </a:t>
          </a:r>
          <a:r>
            <a:rPr lang="en-US" b="1" i="0" baseline="0"/>
            <a:t>Smokers spend around ₹32,050 on average</a:t>
          </a:r>
          <a:r>
            <a:rPr lang="en-US" b="0" i="0" baseline="0"/>
            <a:t>, while </a:t>
          </a:r>
          <a:r>
            <a:rPr lang="en-US" b="1" i="0" baseline="0"/>
            <a:t>non-smokers spend roughly ₹8,434</a:t>
          </a:r>
          <a:r>
            <a:rPr lang="en-US" b="0" i="0" baseline="0"/>
            <a:t>.</a:t>
          </a:r>
          <a:endParaRPr lang="en-US"/>
        </a:p>
      </dgm:t>
    </dgm:pt>
    <dgm:pt modelId="{B775560B-5251-4E6C-B737-31B5208C7F49}" type="parTrans" cxnId="{D8EA95B2-6E39-49BC-8BBD-D175E335DF67}">
      <dgm:prSet/>
      <dgm:spPr/>
      <dgm:t>
        <a:bodyPr/>
        <a:lstStyle/>
        <a:p>
          <a:endParaRPr lang="en-US"/>
        </a:p>
      </dgm:t>
    </dgm:pt>
    <dgm:pt modelId="{1E0732AA-0A34-4A6E-BA76-53819726C5D7}" type="sibTrans" cxnId="{D8EA95B2-6E39-49BC-8BBD-D175E335DF67}">
      <dgm:prSet/>
      <dgm:spPr/>
      <dgm:t>
        <a:bodyPr/>
        <a:lstStyle/>
        <a:p>
          <a:endParaRPr lang="en-US"/>
        </a:p>
      </dgm:t>
    </dgm:pt>
    <dgm:pt modelId="{55B35226-682C-44B8-943B-BB083C53266A}">
      <dgm:prSet/>
      <dgm:spPr/>
      <dgm:t>
        <a:bodyPr/>
        <a:lstStyle/>
        <a:p>
          <a:r>
            <a:rPr lang="en-US" b="0" i="0" baseline="0"/>
            <a:t>This means </a:t>
          </a:r>
          <a:r>
            <a:rPr lang="en-US" b="1" i="0" baseline="0"/>
            <a:t>smokers are paying almost four times more</a:t>
          </a:r>
          <a:r>
            <a:rPr lang="en-US" b="0" i="0" baseline="0"/>
            <a:t> than non-smokers, making smoking one of the </a:t>
          </a:r>
          <a:r>
            <a:rPr lang="en-US" b="1" i="0" baseline="0"/>
            <a:t>strongest factors driving up medical costs</a:t>
          </a:r>
          <a:r>
            <a:rPr lang="en-US" b="0" i="0" baseline="0"/>
            <a:t> in the entire dataset.</a:t>
          </a:r>
          <a:endParaRPr lang="en-US"/>
        </a:p>
      </dgm:t>
    </dgm:pt>
    <dgm:pt modelId="{C2391D69-2DBE-4B24-83CE-B20586560296}" type="parTrans" cxnId="{39FDB455-D531-4E9D-BA5D-CDB4B4645951}">
      <dgm:prSet/>
      <dgm:spPr/>
      <dgm:t>
        <a:bodyPr/>
        <a:lstStyle/>
        <a:p>
          <a:endParaRPr lang="en-US"/>
        </a:p>
      </dgm:t>
    </dgm:pt>
    <dgm:pt modelId="{C246E2CB-D84C-4A04-B396-B3F183FA8739}" type="sibTrans" cxnId="{39FDB455-D531-4E9D-BA5D-CDB4B4645951}">
      <dgm:prSet/>
      <dgm:spPr/>
      <dgm:t>
        <a:bodyPr/>
        <a:lstStyle/>
        <a:p>
          <a:endParaRPr lang="en-US"/>
        </a:p>
      </dgm:t>
    </dgm:pt>
    <dgm:pt modelId="{3FA9BFC3-B634-4CD4-9DC9-4A825C473CE8}">
      <dgm:prSet/>
      <dgm:spPr/>
      <dgm:t>
        <a:bodyPr/>
        <a:lstStyle/>
        <a:p>
          <a:r>
            <a:rPr lang="en-US" b="0" i="0" baseline="0"/>
            <a:t>The numbers clearly show that </a:t>
          </a:r>
          <a:r>
            <a:rPr lang="en-US" b="1" i="0" baseline="0"/>
            <a:t>smoking has a major financial impact</a:t>
          </a:r>
          <a:r>
            <a:rPr lang="en-US" b="0" i="0" baseline="0"/>
            <a:t>, with significantly higher healthcare expenses for individuals who smoke.</a:t>
          </a:r>
          <a:endParaRPr lang="en-US"/>
        </a:p>
      </dgm:t>
    </dgm:pt>
    <dgm:pt modelId="{67DE34F3-8DEB-426D-B661-548886E76BDE}" type="parTrans" cxnId="{FE108EA9-7769-4716-9E26-4F3F0DB0A1DD}">
      <dgm:prSet/>
      <dgm:spPr/>
      <dgm:t>
        <a:bodyPr/>
        <a:lstStyle/>
        <a:p>
          <a:endParaRPr lang="en-US"/>
        </a:p>
      </dgm:t>
    </dgm:pt>
    <dgm:pt modelId="{FD2AD31F-60B9-48E1-A0FD-9F45CB5BDF90}" type="sibTrans" cxnId="{FE108EA9-7769-4716-9E26-4F3F0DB0A1DD}">
      <dgm:prSet/>
      <dgm:spPr/>
      <dgm:t>
        <a:bodyPr/>
        <a:lstStyle/>
        <a:p>
          <a:endParaRPr lang="en-US"/>
        </a:p>
      </dgm:t>
    </dgm:pt>
    <dgm:pt modelId="{7E9E1CAD-2D58-4B40-B899-823FF729D3F4}" type="pres">
      <dgm:prSet presAssocID="{88AA0C8A-0719-4DF9-911C-0F7EA568B8A4}" presName="hierChild1" presStyleCnt="0">
        <dgm:presLayoutVars>
          <dgm:chPref val="1"/>
          <dgm:dir/>
          <dgm:animOne val="branch"/>
          <dgm:animLvl val="lvl"/>
          <dgm:resizeHandles/>
        </dgm:presLayoutVars>
      </dgm:prSet>
      <dgm:spPr/>
    </dgm:pt>
    <dgm:pt modelId="{ED9600CA-5439-4A89-8655-44F6EA1F187B}" type="pres">
      <dgm:prSet presAssocID="{BE3FCD88-BA25-4148-8B94-ACF7F411060A}" presName="hierRoot1" presStyleCnt="0"/>
      <dgm:spPr/>
    </dgm:pt>
    <dgm:pt modelId="{232EF5CF-6EE6-4A3A-9B6C-0D218FF10249}" type="pres">
      <dgm:prSet presAssocID="{BE3FCD88-BA25-4148-8B94-ACF7F411060A}" presName="composite" presStyleCnt="0"/>
      <dgm:spPr/>
    </dgm:pt>
    <dgm:pt modelId="{39961A3F-635E-4BDB-B8E4-E4909346625C}" type="pres">
      <dgm:prSet presAssocID="{BE3FCD88-BA25-4148-8B94-ACF7F411060A}" presName="background" presStyleLbl="node0" presStyleIdx="0" presStyleCnt="3"/>
      <dgm:spPr/>
    </dgm:pt>
    <dgm:pt modelId="{0E91D3FD-985B-4A40-82C2-A7A5FCA9AA0F}" type="pres">
      <dgm:prSet presAssocID="{BE3FCD88-BA25-4148-8B94-ACF7F411060A}" presName="text" presStyleLbl="fgAcc0" presStyleIdx="0" presStyleCnt="3">
        <dgm:presLayoutVars>
          <dgm:chPref val="3"/>
        </dgm:presLayoutVars>
      </dgm:prSet>
      <dgm:spPr/>
    </dgm:pt>
    <dgm:pt modelId="{A0CBCCAF-9C82-4214-B997-0B8AB6BE06F9}" type="pres">
      <dgm:prSet presAssocID="{BE3FCD88-BA25-4148-8B94-ACF7F411060A}" presName="hierChild2" presStyleCnt="0"/>
      <dgm:spPr/>
    </dgm:pt>
    <dgm:pt modelId="{8DA8381F-F48B-446D-8103-8C63FC5A0C7A}" type="pres">
      <dgm:prSet presAssocID="{55B35226-682C-44B8-943B-BB083C53266A}" presName="hierRoot1" presStyleCnt="0"/>
      <dgm:spPr/>
    </dgm:pt>
    <dgm:pt modelId="{2E8F36A6-74F0-469E-91E2-CB8D49F6A6ED}" type="pres">
      <dgm:prSet presAssocID="{55B35226-682C-44B8-943B-BB083C53266A}" presName="composite" presStyleCnt="0"/>
      <dgm:spPr/>
    </dgm:pt>
    <dgm:pt modelId="{E708B3AF-14E0-4772-A6EF-09DECD30C091}" type="pres">
      <dgm:prSet presAssocID="{55B35226-682C-44B8-943B-BB083C53266A}" presName="background" presStyleLbl="node0" presStyleIdx="1" presStyleCnt="3"/>
      <dgm:spPr/>
    </dgm:pt>
    <dgm:pt modelId="{9848CB63-1BEA-4986-B6B4-657EB35D1707}" type="pres">
      <dgm:prSet presAssocID="{55B35226-682C-44B8-943B-BB083C53266A}" presName="text" presStyleLbl="fgAcc0" presStyleIdx="1" presStyleCnt="3">
        <dgm:presLayoutVars>
          <dgm:chPref val="3"/>
        </dgm:presLayoutVars>
      </dgm:prSet>
      <dgm:spPr/>
    </dgm:pt>
    <dgm:pt modelId="{447CDE4B-699D-4472-BD02-A3DA35CF367B}" type="pres">
      <dgm:prSet presAssocID="{55B35226-682C-44B8-943B-BB083C53266A}" presName="hierChild2" presStyleCnt="0"/>
      <dgm:spPr/>
    </dgm:pt>
    <dgm:pt modelId="{17E9AD84-CA14-429C-8C4D-B44486787DF1}" type="pres">
      <dgm:prSet presAssocID="{3FA9BFC3-B634-4CD4-9DC9-4A825C473CE8}" presName="hierRoot1" presStyleCnt="0"/>
      <dgm:spPr/>
    </dgm:pt>
    <dgm:pt modelId="{2D22BE9B-E732-409E-B9C4-46E0E8338772}" type="pres">
      <dgm:prSet presAssocID="{3FA9BFC3-B634-4CD4-9DC9-4A825C473CE8}" presName="composite" presStyleCnt="0"/>
      <dgm:spPr/>
    </dgm:pt>
    <dgm:pt modelId="{F57DECE9-1739-469C-875F-ECA2136C9D1C}" type="pres">
      <dgm:prSet presAssocID="{3FA9BFC3-B634-4CD4-9DC9-4A825C473CE8}" presName="background" presStyleLbl="node0" presStyleIdx="2" presStyleCnt="3"/>
      <dgm:spPr/>
    </dgm:pt>
    <dgm:pt modelId="{9A9BAC6F-E3DC-46EC-B559-76E15F99C41F}" type="pres">
      <dgm:prSet presAssocID="{3FA9BFC3-B634-4CD4-9DC9-4A825C473CE8}" presName="text" presStyleLbl="fgAcc0" presStyleIdx="2" presStyleCnt="3">
        <dgm:presLayoutVars>
          <dgm:chPref val="3"/>
        </dgm:presLayoutVars>
      </dgm:prSet>
      <dgm:spPr/>
    </dgm:pt>
    <dgm:pt modelId="{9746A88E-8143-41A3-8D0F-AF2BFD819A45}" type="pres">
      <dgm:prSet presAssocID="{3FA9BFC3-B634-4CD4-9DC9-4A825C473CE8}" presName="hierChild2" presStyleCnt="0"/>
      <dgm:spPr/>
    </dgm:pt>
  </dgm:ptLst>
  <dgm:cxnLst>
    <dgm:cxn modelId="{11174F62-D68D-4DCB-9883-17E65E8A14F6}" type="presOf" srcId="{3FA9BFC3-B634-4CD4-9DC9-4A825C473CE8}" destId="{9A9BAC6F-E3DC-46EC-B559-76E15F99C41F}" srcOrd="0" destOrd="0" presId="urn:microsoft.com/office/officeart/2005/8/layout/hierarchy1"/>
    <dgm:cxn modelId="{AF0E0C4B-24DC-4A88-A2F3-6B37FDC4EC3D}" type="presOf" srcId="{88AA0C8A-0719-4DF9-911C-0F7EA568B8A4}" destId="{7E9E1CAD-2D58-4B40-B899-823FF729D3F4}" srcOrd="0" destOrd="0" presId="urn:microsoft.com/office/officeart/2005/8/layout/hierarchy1"/>
    <dgm:cxn modelId="{39FDB455-D531-4E9D-BA5D-CDB4B4645951}" srcId="{88AA0C8A-0719-4DF9-911C-0F7EA568B8A4}" destId="{55B35226-682C-44B8-943B-BB083C53266A}" srcOrd="1" destOrd="0" parTransId="{C2391D69-2DBE-4B24-83CE-B20586560296}" sibTransId="{C246E2CB-D84C-4A04-B396-B3F183FA8739}"/>
    <dgm:cxn modelId="{FE108EA9-7769-4716-9E26-4F3F0DB0A1DD}" srcId="{88AA0C8A-0719-4DF9-911C-0F7EA568B8A4}" destId="{3FA9BFC3-B634-4CD4-9DC9-4A825C473CE8}" srcOrd="2" destOrd="0" parTransId="{67DE34F3-8DEB-426D-B661-548886E76BDE}" sibTransId="{FD2AD31F-60B9-48E1-A0FD-9F45CB5BDF90}"/>
    <dgm:cxn modelId="{0D4D6EB2-C93B-4430-86E5-0423043CC85E}" type="presOf" srcId="{BE3FCD88-BA25-4148-8B94-ACF7F411060A}" destId="{0E91D3FD-985B-4A40-82C2-A7A5FCA9AA0F}" srcOrd="0" destOrd="0" presId="urn:microsoft.com/office/officeart/2005/8/layout/hierarchy1"/>
    <dgm:cxn modelId="{D8EA95B2-6E39-49BC-8BBD-D175E335DF67}" srcId="{88AA0C8A-0719-4DF9-911C-0F7EA568B8A4}" destId="{BE3FCD88-BA25-4148-8B94-ACF7F411060A}" srcOrd="0" destOrd="0" parTransId="{B775560B-5251-4E6C-B737-31B5208C7F49}" sibTransId="{1E0732AA-0A34-4A6E-BA76-53819726C5D7}"/>
    <dgm:cxn modelId="{08D35AD2-D6E5-4238-AD2E-F0BC07E46CE2}" type="presOf" srcId="{55B35226-682C-44B8-943B-BB083C53266A}" destId="{9848CB63-1BEA-4986-B6B4-657EB35D1707}" srcOrd="0" destOrd="0" presId="urn:microsoft.com/office/officeart/2005/8/layout/hierarchy1"/>
    <dgm:cxn modelId="{173DC2A6-09B7-4E48-AFAD-96149A5266DD}" type="presParOf" srcId="{7E9E1CAD-2D58-4B40-B899-823FF729D3F4}" destId="{ED9600CA-5439-4A89-8655-44F6EA1F187B}" srcOrd="0" destOrd="0" presId="urn:microsoft.com/office/officeart/2005/8/layout/hierarchy1"/>
    <dgm:cxn modelId="{CFEB4B7C-5880-41E0-8383-BD071D1FDE3D}" type="presParOf" srcId="{ED9600CA-5439-4A89-8655-44F6EA1F187B}" destId="{232EF5CF-6EE6-4A3A-9B6C-0D218FF10249}" srcOrd="0" destOrd="0" presId="urn:microsoft.com/office/officeart/2005/8/layout/hierarchy1"/>
    <dgm:cxn modelId="{1E786447-AC31-40E2-AE2D-AEA80A050E33}" type="presParOf" srcId="{232EF5CF-6EE6-4A3A-9B6C-0D218FF10249}" destId="{39961A3F-635E-4BDB-B8E4-E4909346625C}" srcOrd="0" destOrd="0" presId="urn:microsoft.com/office/officeart/2005/8/layout/hierarchy1"/>
    <dgm:cxn modelId="{DCEE2F06-F630-4592-9764-7687F3FC63C5}" type="presParOf" srcId="{232EF5CF-6EE6-4A3A-9B6C-0D218FF10249}" destId="{0E91D3FD-985B-4A40-82C2-A7A5FCA9AA0F}" srcOrd="1" destOrd="0" presId="urn:microsoft.com/office/officeart/2005/8/layout/hierarchy1"/>
    <dgm:cxn modelId="{CDAADD86-2F7F-4004-A4FE-14B409FCD2A3}" type="presParOf" srcId="{ED9600CA-5439-4A89-8655-44F6EA1F187B}" destId="{A0CBCCAF-9C82-4214-B997-0B8AB6BE06F9}" srcOrd="1" destOrd="0" presId="urn:microsoft.com/office/officeart/2005/8/layout/hierarchy1"/>
    <dgm:cxn modelId="{012B9322-8E26-497F-9209-0877C3B3042D}" type="presParOf" srcId="{7E9E1CAD-2D58-4B40-B899-823FF729D3F4}" destId="{8DA8381F-F48B-446D-8103-8C63FC5A0C7A}" srcOrd="1" destOrd="0" presId="urn:microsoft.com/office/officeart/2005/8/layout/hierarchy1"/>
    <dgm:cxn modelId="{77D964C8-5947-41D7-8D22-A0F67DE64A6F}" type="presParOf" srcId="{8DA8381F-F48B-446D-8103-8C63FC5A0C7A}" destId="{2E8F36A6-74F0-469E-91E2-CB8D49F6A6ED}" srcOrd="0" destOrd="0" presId="urn:microsoft.com/office/officeart/2005/8/layout/hierarchy1"/>
    <dgm:cxn modelId="{6496FC1D-F230-46B0-935A-8D521BA83B68}" type="presParOf" srcId="{2E8F36A6-74F0-469E-91E2-CB8D49F6A6ED}" destId="{E708B3AF-14E0-4772-A6EF-09DECD30C091}" srcOrd="0" destOrd="0" presId="urn:microsoft.com/office/officeart/2005/8/layout/hierarchy1"/>
    <dgm:cxn modelId="{B3AC33EA-6936-4FA5-97BE-7204D08DE8D8}" type="presParOf" srcId="{2E8F36A6-74F0-469E-91E2-CB8D49F6A6ED}" destId="{9848CB63-1BEA-4986-B6B4-657EB35D1707}" srcOrd="1" destOrd="0" presId="urn:microsoft.com/office/officeart/2005/8/layout/hierarchy1"/>
    <dgm:cxn modelId="{112A3252-B645-4BBD-98C3-2204542A6C72}" type="presParOf" srcId="{8DA8381F-F48B-446D-8103-8C63FC5A0C7A}" destId="{447CDE4B-699D-4472-BD02-A3DA35CF367B}" srcOrd="1" destOrd="0" presId="urn:microsoft.com/office/officeart/2005/8/layout/hierarchy1"/>
    <dgm:cxn modelId="{702AE9FE-6C12-4C1E-9108-AEC42CFBBC72}" type="presParOf" srcId="{7E9E1CAD-2D58-4B40-B899-823FF729D3F4}" destId="{17E9AD84-CA14-429C-8C4D-B44486787DF1}" srcOrd="2" destOrd="0" presId="urn:microsoft.com/office/officeart/2005/8/layout/hierarchy1"/>
    <dgm:cxn modelId="{17D1907D-C33A-4316-A970-0D0F82D12B98}" type="presParOf" srcId="{17E9AD84-CA14-429C-8C4D-B44486787DF1}" destId="{2D22BE9B-E732-409E-B9C4-46E0E8338772}" srcOrd="0" destOrd="0" presId="urn:microsoft.com/office/officeart/2005/8/layout/hierarchy1"/>
    <dgm:cxn modelId="{F80B4ACB-F427-4264-8630-A3B46B871963}" type="presParOf" srcId="{2D22BE9B-E732-409E-B9C4-46E0E8338772}" destId="{F57DECE9-1739-469C-875F-ECA2136C9D1C}" srcOrd="0" destOrd="0" presId="urn:microsoft.com/office/officeart/2005/8/layout/hierarchy1"/>
    <dgm:cxn modelId="{BED41488-1214-4310-A2E3-FFBEAF7C8B83}" type="presParOf" srcId="{2D22BE9B-E732-409E-B9C4-46E0E8338772}" destId="{9A9BAC6F-E3DC-46EC-B559-76E15F99C41F}" srcOrd="1" destOrd="0" presId="urn:microsoft.com/office/officeart/2005/8/layout/hierarchy1"/>
    <dgm:cxn modelId="{0AE0FF71-5004-4E49-BA93-F6DCCD4FA46B}" type="presParOf" srcId="{17E9AD84-CA14-429C-8C4D-B44486787DF1}" destId="{9746A88E-8143-41A3-8D0F-AF2BFD819A4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D52B55-9EFE-44B2-B192-C0D971FDE4C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C56D20E-FC4D-4173-B095-703EB894E283}">
      <dgm:prSet/>
      <dgm:spPr/>
      <dgm:t>
        <a:bodyPr/>
        <a:lstStyle/>
        <a:p>
          <a:pPr>
            <a:lnSpc>
              <a:spcPct val="100000"/>
            </a:lnSpc>
          </a:pPr>
          <a:r>
            <a:rPr lang="en-US" b="0" i="0" baseline="0"/>
            <a:t>The correlation between the number of dependents and medical charges is extremely low (</a:t>
          </a:r>
          <a:r>
            <a:rPr lang="en-US" b="1" i="0" baseline="0"/>
            <a:t>around 0.07</a:t>
          </a:r>
          <a:r>
            <a:rPr lang="en-US" b="0" i="0" baseline="0"/>
            <a:t>), which means there is </a:t>
          </a:r>
          <a:r>
            <a:rPr lang="en-US" b="1" i="0" baseline="0"/>
            <a:t>almost no direct relationship</a:t>
          </a:r>
          <a:r>
            <a:rPr lang="en-US" b="0" i="0" baseline="0"/>
            <a:t> between the two.</a:t>
          </a:r>
          <a:endParaRPr lang="en-US"/>
        </a:p>
      </dgm:t>
    </dgm:pt>
    <dgm:pt modelId="{A26B855D-ABA4-4835-8209-DB20849D3CB0}" type="parTrans" cxnId="{B2E903CC-ACF7-43C1-8D80-EDA892CB409A}">
      <dgm:prSet/>
      <dgm:spPr/>
      <dgm:t>
        <a:bodyPr/>
        <a:lstStyle/>
        <a:p>
          <a:endParaRPr lang="en-US"/>
        </a:p>
      </dgm:t>
    </dgm:pt>
    <dgm:pt modelId="{6325DBD3-BFEF-4769-A5DE-2B1CC3A92868}" type="sibTrans" cxnId="{B2E903CC-ACF7-43C1-8D80-EDA892CB409A}">
      <dgm:prSet/>
      <dgm:spPr/>
      <dgm:t>
        <a:bodyPr/>
        <a:lstStyle/>
        <a:p>
          <a:pPr>
            <a:lnSpc>
              <a:spcPct val="100000"/>
            </a:lnSpc>
          </a:pPr>
          <a:endParaRPr lang="en-US"/>
        </a:p>
      </dgm:t>
    </dgm:pt>
    <dgm:pt modelId="{AF083872-A178-4AEE-ADA4-08E1AA21B931}">
      <dgm:prSet/>
      <dgm:spPr/>
      <dgm:t>
        <a:bodyPr/>
        <a:lstStyle/>
        <a:p>
          <a:pPr>
            <a:lnSpc>
              <a:spcPct val="100000"/>
            </a:lnSpc>
          </a:pPr>
          <a:r>
            <a:rPr lang="en-US" b="0" i="0" baseline="0"/>
            <a:t>In other words, having more children </a:t>
          </a:r>
          <a:r>
            <a:rPr lang="en-US" b="1" i="0" baseline="0"/>
            <a:t>doesn’t necessarily lead to higher medical expenses</a:t>
          </a:r>
          <a:r>
            <a:rPr lang="en-US" b="0" i="0" baseline="0"/>
            <a:t>. The costs remain fairly scattered across all family sizes.</a:t>
          </a:r>
          <a:endParaRPr lang="en-US"/>
        </a:p>
      </dgm:t>
    </dgm:pt>
    <dgm:pt modelId="{6CA1ECA5-5F39-458B-9FA1-0E5A914D0699}" type="parTrans" cxnId="{7EB177B3-961E-486C-8D94-B05F8C76A346}">
      <dgm:prSet/>
      <dgm:spPr/>
      <dgm:t>
        <a:bodyPr/>
        <a:lstStyle/>
        <a:p>
          <a:endParaRPr lang="en-US"/>
        </a:p>
      </dgm:t>
    </dgm:pt>
    <dgm:pt modelId="{C5EC9EFB-495E-4252-8E11-678270A534B2}" type="sibTrans" cxnId="{7EB177B3-961E-486C-8D94-B05F8C76A346}">
      <dgm:prSet/>
      <dgm:spPr/>
      <dgm:t>
        <a:bodyPr/>
        <a:lstStyle/>
        <a:p>
          <a:pPr>
            <a:lnSpc>
              <a:spcPct val="100000"/>
            </a:lnSpc>
          </a:pPr>
          <a:endParaRPr lang="en-US"/>
        </a:p>
      </dgm:t>
    </dgm:pt>
    <dgm:pt modelId="{D9FA992B-50BF-4382-AFED-D998780C68BC}">
      <dgm:prSet/>
      <dgm:spPr/>
      <dgm:t>
        <a:bodyPr/>
        <a:lstStyle/>
        <a:p>
          <a:pPr>
            <a:lnSpc>
              <a:spcPct val="100000"/>
            </a:lnSpc>
          </a:pPr>
          <a:r>
            <a:rPr lang="en-US" b="0" i="0" baseline="0"/>
            <a:t>The trendline on the chart is almost flat, reinforcing that </a:t>
          </a:r>
          <a:r>
            <a:rPr lang="en-US" b="1" i="0" baseline="0"/>
            <a:t>larger families do not automatically translate into higher medical bills</a:t>
          </a:r>
          <a:r>
            <a:rPr lang="en-US" b="0" i="0" baseline="0"/>
            <a:t> in this dataset.</a:t>
          </a:r>
          <a:endParaRPr lang="en-US"/>
        </a:p>
      </dgm:t>
    </dgm:pt>
    <dgm:pt modelId="{09835425-10E9-4BF8-BDCE-E2F21A9B19EE}" type="parTrans" cxnId="{A6F628CB-4056-4FC1-98DE-3E7F85E21034}">
      <dgm:prSet/>
      <dgm:spPr/>
      <dgm:t>
        <a:bodyPr/>
        <a:lstStyle/>
        <a:p>
          <a:endParaRPr lang="en-US"/>
        </a:p>
      </dgm:t>
    </dgm:pt>
    <dgm:pt modelId="{318EF8CB-7C70-4303-9B24-6F494D93CA8D}" type="sibTrans" cxnId="{A6F628CB-4056-4FC1-98DE-3E7F85E21034}">
      <dgm:prSet/>
      <dgm:spPr/>
      <dgm:t>
        <a:bodyPr/>
        <a:lstStyle/>
        <a:p>
          <a:endParaRPr lang="en-US"/>
        </a:p>
      </dgm:t>
    </dgm:pt>
    <dgm:pt modelId="{AEB0B5EA-6CC4-4246-9FD8-037174A79DDE}" type="pres">
      <dgm:prSet presAssocID="{BFD52B55-9EFE-44B2-B192-C0D971FDE4CA}" presName="root" presStyleCnt="0">
        <dgm:presLayoutVars>
          <dgm:dir/>
          <dgm:resizeHandles val="exact"/>
        </dgm:presLayoutVars>
      </dgm:prSet>
      <dgm:spPr/>
    </dgm:pt>
    <dgm:pt modelId="{6F3BB923-96B5-4A4C-9D14-00ECBA9F0FEE}" type="pres">
      <dgm:prSet presAssocID="{1C56D20E-FC4D-4173-B095-703EB894E283}" presName="compNode" presStyleCnt="0"/>
      <dgm:spPr/>
    </dgm:pt>
    <dgm:pt modelId="{F6C8AB5F-DB1C-4B88-AD60-D75ED0C3A189}" type="pres">
      <dgm:prSet presAssocID="{1C56D20E-FC4D-4173-B095-703EB894E283}" presName="bgRect" presStyleLbl="bgShp" presStyleIdx="0" presStyleCnt="3"/>
      <dgm:spPr/>
    </dgm:pt>
    <dgm:pt modelId="{DDFF1E1A-4820-47B8-88B2-013A218A475C}" type="pres">
      <dgm:prSet presAssocID="{1C56D20E-FC4D-4173-B095-703EB894E28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tor"/>
        </a:ext>
      </dgm:extLst>
    </dgm:pt>
    <dgm:pt modelId="{F88AFEE1-3D6B-4D0E-811D-295869408A6A}" type="pres">
      <dgm:prSet presAssocID="{1C56D20E-FC4D-4173-B095-703EB894E283}" presName="spaceRect" presStyleCnt="0"/>
      <dgm:spPr/>
    </dgm:pt>
    <dgm:pt modelId="{B6588595-876F-4D53-8A68-7464BE83000D}" type="pres">
      <dgm:prSet presAssocID="{1C56D20E-FC4D-4173-B095-703EB894E283}" presName="parTx" presStyleLbl="revTx" presStyleIdx="0" presStyleCnt="3">
        <dgm:presLayoutVars>
          <dgm:chMax val="0"/>
          <dgm:chPref val="0"/>
        </dgm:presLayoutVars>
      </dgm:prSet>
      <dgm:spPr/>
    </dgm:pt>
    <dgm:pt modelId="{329C1799-1FC5-4E3F-A0EE-EEE9C4653FD6}" type="pres">
      <dgm:prSet presAssocID="{6325DBD3-BFEF-4769-A5DE-2B1CC3A92868}" presName="sibTrans" presStyleCnt="0"/>
      <dgm:spPr/>
    </dgm:pt>
    <dgm:pt modelId="{D797D648-E820-4725-923D-5E3898B78053}" type="pres">
      <dgm:prSet presAssocID="{AF083872-A178-4AEE-ADA4-08E1AA21B931}" presName="compNode" presStyleCnt="0"/>
      <dgm:spPr/>
    </dgm:pt>
    <dgm:pt modelId="{E9B0C7BD-2E53-4ECF-97FE-3AEBF0FA1FF7}" type="pres">
      <dgm:prSet presAssocID="{AF083872-A178-4AEE-ADA4-08E1AA21B931}" presName="bgRect" presStyleLbl="bgShp" presStyleIdx="1" presStyleCnt="3"/>
      <dgm:spPr/>
    </dgm:pt>
    <dgm:pt modelId="{39141B9F-F0FE-4AEE-B1B8-48084B4EE52E}" type="pres">
      <dgm:prSet presAssocID="{AF083872-A178-4AEE-ADA4-08E1AA21B93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arent and Child"/>
        </a:ext>
      </dgm:extLst>
    </dgm:pt>
    <dgm:pt modelId="{9C1F6124-5DF3-4A61-82F1-54C0457F411A}" type="pres">
      <dgm:prSet presAssocID="{AF083872-A178-4AEE-ADA4-08E1AA21B931}" presName="spaceRect" presStyleCnt="0"/>
      <dgm:spPr/>
    </dgm:pt>
    <dgm:pt modelId="{12BA7E28-F4F4-4043-9D8F-45914864D3A8}" type="pres">
      <dgm:prSet presAssocID="{AF083872-A178-4AEE-ADA4-08E1AA21B931}" presName="parTx" presStyleLbl="revTx" presStyleIdx="1" presStyleCnt="3">
        <dgm:presLayoutVars>
          <dgm:chMax val="0"/>
          <dgm:chPref val="0"/>
        </dgm:presLayoutVars>
      </dgm:prSet>
      <dgm:spPr/>
    </dgm:pt>
    <dgm:pt modelId="{8D695358-74D4-4ECD-8AB2-7D5A8A78D2AC}" type="pres">
      <dgm:prSet presAssocID="{C5EC9EFB-495E-4252-8E11-678270A534B2}" presName="sibTrans" presStyleCnt="0"/>
      <dgm:spPr/>
    </dgm:pt>
    <dgm:pt modelId="{B824DAB2-A554-42AC-BB96-DE44D37E386E}" type="pres">
      <dgm:prSet presAssocID="{D9FA992B-50BF-4382-AFED-D998780C68BC}" presName="compNode" presStyleCnt="0"/>
      <dgm:spPr/>
    </dgm:pt>
    <dgm:pt modelId="{16D8E382-BA1D-4A7F-82EF-8AEABA8040E1}" type="pres">
      <dgm:prSet presAssocID="{D9FA992B-50BF-4382-AFED-D998780C68BC}" presName="bgRect" presStyleLbl="bgShp" presStyleIdx="2" presStyleCnt="3"/>
      <dgm:spPr/>
    </dgm:pt>
    <dgm:pt modelId="{FB40913E-1CD0-4076-A3F5-82A808E709F0}" type="pres">
      <dgm:prSet presAssocID="{D9FA992B-50BF-4382-AFED-D998780C68B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esentation with Checklist"/>
        </a:ext>
      </dgm:extLst>
    </dgm:pt>
    <dgm:pt modelId="{E8CF5FFF-0181-4108-B986-28A9DE39A685}" type="pres">
      <dgm:prSet presAssocID="{D9FA992B-50BF-4382-AFED-D998780C68BC}" presName="spaceRect" presStyleCnt="0"/>
      <dgm:spPr/>
    </dgm:pt>
    <dgm:pt modelId="{BD8323E0-101F-457A-820C-0A5CDB5E9970}" type="pres">
      <dgm:prSet presAssocID="{D9FA992B-50BF-4382-AFED-D998780C68BC}" presName="parTx" presStyleLbl="revTx" presStyleIdx="2" presStyleCnt="3">
        <dgm:presLayoutVars>
          <dgm:chMax val="0"/>
          <dgm:chPref val="0"/>
        </dgm:presLayoutVars>
      </dgm:prSet>
      <dgm:spPr/>
    </dgm:pt>
  </dgm:ptLst>
  <dgm:cxnLst>
    <dgm:cxn modelId="{58838644-A38F-4E93-96B8-B2A49E88ADF8}" type="presOf" srcId="{AF083872-A178-4AEE-ADA4-08E1AA21B931}" destId="{12BA7E28-F4F4-4043-9D8F-45914864D3A8}" srcOrd="0" destOrd="0" presId="urn:microsoft.com/office/officeart/2018/2/layout/IconVerticalSolidList"/>
    <dgm:cxn modelId="{F6D51547-BF45-4BB1-AAD0-EF2CB73AFEB8}" type="presOf" srcId="{1C56D20E-FC4D-4173-B095-703EB894E283}" destId="{B6588595-876F-4D53-8A68-7464BE83000D}" srcOrd="0" destOrd="0" presId="urn:microsoft.com/office/officeart/2018/2/layout/IconVerticalSolidList"/>
    <dgm:cxn modelId="{A13DEA6A-4B27-432C-B888-7AF9DB51DB84}" type="presOf" srcId="{D9FA992B-50BF-4382-AFED-D998780C68BC}" destId="{BD8323E0-101F-457A-820C-0A5CDB5E9970}" srcOrd="0" destOrd="0" presId="urn:microsoft.com/office/officeart/2018/2/layout/IconVerticalSolidList"/>
    <dgm:cxn modelId="{B3B15EA6-02E7-436B-8261-BB8F4F86725F}" type="presOf" srcId="{BFD52B55-9EFE-44B2-B192-C0D971FDE4CA}" destId="{AEB0B5EA-6CC4-4246-9FD8-037174A79DDE}" srcOrd="0" destOrd="0" presId="urn:microsoft.com/office/officeart/2018/2/layout/IconVerticalSolidList"/>
    <dgm:cxn modelId="{7EB177B3-961E-486C-8D94-B05F8C76A346}" srcId="{BFD52B55-9EFE-44B2-B192-C0D971FDE4CA}" destId="{AF083872-A178-4AEE-ADA4-08E1AA21B931}" srcOrd="1" destOrd="0" parTransId="{6CA1ECA5-5F39-458B-9FA1-0E5A914D0699}" sibTransId="{C5EC9EFB-495E-4252-8E11-678270A534B2}"/>
    <dgm:cxn modelId="{A6F628CB-4056-4FC1-98DE-3E7F85E21034}" srcId="{BFD52B55-9EFE-44B2-B192-C0D971FDE4CA}" destId="{D9FA992B-50BF-4382-AFED-D998780C68BC}" srcOrd="2" destOrd="0" parTransId="{09835425-10E9-4BF8-BDCE-E2F21A9B19EE}" sibTransId="{318EF8CB-7C70-4303-9B24-6F494D93CA8D}"/>
    <dgm:cxn modelId="{B2E903CC-ACF7-43C1-8D80-EDA892CB409A}" srcId="{BFD52B55-9EFE-44B2-B192-C0D971FDE4CA}" destId="{1C56D20E-FC4D-4173-B095-703EB894E283}" srcOrd="0" destOrd="0" parTransId="{A26B855D-ABA4-4835-8209-DB20849D3CB0}" sibTransId="{6325DBD3-BFEF-4769-A5DE-2B1CC3A92868}"/>
    <dgm:cxn modelId="{121EBBBA-55BE-4CCF-8846-9B77F500551F}" type="presParOf" srcId="{AEB0B5EA-6CC4-4246-9FD8-037174A79DDE}" destId="{6F3BB923-96B5-4A4C-9D14-00ECBA9F0FEE}" srcOrd="0" destOrd="0" presId="urn:microsoft.com/office/officeart/2018/2/layout/IconVerticalSolidList"/>
    <dgm:cxn modelId="{492B838F-3B8B-4C86-86D5-40749AD98F0C}" type="presParOf" srcId="{6F3BB923-96B5-4A4C-9D14-00ECBA9F0FEE}" destId="{F6C8AB5F-DB1C-4B88-AD60-D75ED0C3A189}" srcOrd="0" destOrd="0" presId="urn:microsoft.com/office/officeart/2018/2/layout/IconVerticalSolidList"/>
    <dgm:cxn modelId="{DCB39A01-4538-4697-B865-B26CC905008C}" type="presParOf" srcId="{6F3BB923-96B5-4A4C-9D14-00ECBA9F0FEE}" destId="{DDFF1E1A-4820-47B8-88B2-013A218A475C}" srcOrd="1" destOrd="0" presId="urn:microsoft.com/office/officeart/2018/2/layout/IconVerticalSolidList"/>
    <dgm:cxn modelId="{B44DCEB4-7BE6-4D38-9A72-374F8249B73F}" type="presParOf" srcId="{6F3BB923-96B5-4A4C-9D14-00ECBA9F0FEE}" destId="{F88AFEE1-3D6B-4D0E-811D-295869408A6A}" srcOrd="2" destOrd="0" presId="urn:microsoft.com/office/officeart/2018/2/layout/IconVerticalSolidList"/>
    <dgm:cxn modelId="{DA01F694-C029-4830-B34F-44218EB7E9D7}" type="presParOf" srcId="{6F3BB923-96B5-4A4C-9D14-00ECBA9F0FEE}" destId="{B6588595-876F-4D53-8A68-7464BE83000D}" srcOrd="3" destOrd="0" presId="urn:microsoft.com/office/officeart/2018/2/layout/IconVerticalSolidList"/>
    <dgm:cxn modelId="{D0A4FEF9-1D71-4FDF-8821-C968C72467B7}" type="presParOf" srcId="{AEB0B5EA-6CC4-4246-9FD8-037174A79DDE}" destId="{329C1799-1FC5-4E3F-A0EE-EEE9C4653FD6}" srcOrd="1" destOrd="0" presId="urn:microsoft.com/office/officeart/2018/2/layout/IconVerticalSolidList"/>
    <dgm:cxn modelId="{6B9E088D-8BA7-4A4B-B0E8-56B778916B2E}" type="presParOf" srcId="{AEB0B5EA-6CC4-4246-9FD8-037174A79DDE}" destId="{D797D648-E820-4725-923D-5E3898B78053}" srcOrd="2" destOrd="0" presId="urn:microsoft.com/office/officeart/2018/2/layout/IconVerticalSolidList"/>
    <dgm:cxn modelId="{D787DF8B-E24E-418E-AE05-9E503B9B844A}" type="presParOf" srcId="{D797D648-E820-4725-923D-5E3898B78053}" destId="{E9B0C7BD-2E53-4ECF-97FE-3AEBF0FA1FF7}" srcOrd="0" destOrd="0" presId="urn:microsoft.com/office/officeart/2018/2/layout/IconVerticalSolidList"/>
    <dgm:cxn modelId="{D381B43E-13D1-4F1C-8DD5-67A99DB40C63}" type="presParOf" srcId="{D797D648-E820-4725-923D-5E3898B78053}" destId="{39141B9F-F0FE-4AEE-B1B8-48084B4EE52E}" srcOrd="1" destOrd="0" presId="urn:microsoft.com/office/officeart/2018/2/layout/IconVerticalSolidList"/>
    <dgm:cxn modelId="{58EEFAB1-51D5-441C-A22A-EBA841F340CA}" type="presParOf" srcId="{D797D648-E820-4725-923D-5E3898B78053}" destId="{9C1F6124-5DF3-4A61-82F1-54C0457F411A}" srcOrd="2" destOrd="0" presId="urn:microsoft.com/office/officeart/2018/2/layout/IconVerticalSolidList"/>
    <dgm:cxn modelId="{FA398CB5-0B17-482E-B391-2D453D26F777}" type="presParOf" srcId="{D797D648-E820-4725-923D-5E3898B78053}" destId="{12BA7E28-F4F4-4043-9D8F-45914864D3A8}" srcOrd="3" destOrd="0" presId="urn:microsoft.com/office/officeart/2018/2/layout/IconVerticalSolidList"/>
    <dgm:cxn modelId="{5C6DB425-5137-49B6-9CCA-4FA033B9BC7F}" type="presParOf" srcId="{AEB0B5EA-6CC4-4246-9FD8-037174A79DDE}" destId="{8D695358-74D4-4ECD-8AB2-7D5A8A78D2AC}" srcOrd="3" destOrd="0" presId="urn:microsoft.com/office/officeart/2018/2/layout/IconVerticalSolidList"/>
    <dgm:cxn modelId="{38165EE9-2A87-47C8-80B3-279858DA86D8}" type="presParOf" srcId="{AEB0B5EA-6CC4-4246-9FD8-037174A79DDE}" destId="{B824DAB2-A554-42AC-BB96-DE44D37E386E}" srcOrd="4" destOrd="0" presId="urn:microsoft.com/office/officeart/2018/2/layout/IconVerticalSolidList"/>
    <dgm:cxn modelId="{1027FCB7-B44E-42EB-A9CC-D2D4E62A599B}" type="presParOf" srcId="{B824DAB2-A554-42AC-BB96-DE44D37E386E}" destId="{16D8E382-BA1D-4A7F-82EF-8AEABA8040E1}" srcOrd="0" destOrd="0" presId="urn:microsoft.com/office/officeart/2018/2/layout/IconVerticalSolidList"/>
    <dgm:cxn modelId="{BF5F8B15-AE2F-4633-9A99-483AC89EB6C6}" type="presParOf" srcId="{B824DAB2-A554-42AC-BB96-DE44D37E386E}" destId="{FB40913E-1CD0-4076-A3F5-82A808E709F0}" srcOrd="1" destOrd="0" presId="urn:microsoft.com/office/officeart/2018/2/layout/IconVerticalSolidList"/>
    <dgm:cxn modelId="{04A259A7-4CAF-415F-9573-11F5731C32B7}" type="presParOf" srcId="{B824DAB2-A554-42AC-BB96-DE44D37E386E}" destId="{E8CF5FFF-0181-4108-B986-28A9DE39A685}" srcOrd="2" destOrd="0" presId="urn:microsoft.com/office/officeart/2018/2/layout/IconVerticalSolidList"/>
    <dgm:cxn modelId="{E0CF9CF7-3934-4B55-978C-AE43ED7DC7C0}" type="presParOf" srcId="{B824DAB2-A554-42AC-BB96-DE44D37E386E}" destId="{BD8323E0-101F-457A-820C-0A5CDB5E997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74391A-3DB4-4255-8F02-5A4417AFCA1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DFB681E3-0522-409F-875A-A85C144DDFEE}">
      <dgm:prSet/>
      <dgm:spPr/>
      <dgm:t>
        <a:bodyPr/>
        <a:lstStyle/>
        <a:p>
          <a:r>
            <a:rPr lang="en-US" b="0" i="0" baseline="0"/>
            <a:t>The </a:t>
          </a:r>
          <a:r>
            <a:rPr lang="en-US" b="1" i="0" baseline="0"/>
            <a:t>Southeast region stands out with the highest average medical charges</a:t>
          </a:r>
          <a:r>
            <a:rPr lang="en-US" b="0" i="0" baseline="0"/>
            <a:t>, around </a:t>
          </a:r>
          <a:r>
            <a:rPr lang="en-US" b="1" i="0" baseline="0"/>
            <a:t>₹14,735</a:t>
          </a:r>
          <a:r>
            <a:rPr lang="en-US" b="0" i="0" baseline="0"/>
            <a:t>, which makes it the most expensive region in terms of healthcare costs.</a:t>
          </a:r>
          <a:endParaRPr lang="en-US"/>
        </a:p>
      </dgm:t>
    </dgm:pt>
    <dgm:pt modelId="{3FD68102-DC5D-4C85-9E6C-A2012643EA87}" type="parTrans" cxnId="{C30BBF2A-B22E-4E01-AF1E-6156E52C2BA4}">
      <dgm:prSet/>
      <dgm:spPr/>
      <dgm:t>
        <a:bodyPr/>
        <a:lstStyle/>
        <a:p>
          <a:endParaRPr lang="en-US"/>
        </a:p>
      </dgm:t>
    </dgm:pt>
    <dgm:pt modelId="{32FE1E06-DAAA-418B-B7DF-55FBC9F150A4}" type="sibTrans" cxnId="{C30BBF2A-B22E-4E01-AF1E-6156E52C2BA4}">
      <dgm:prSet/>
      <dgm:spPr/>
      <dgm:t>
        <a:bodyPr/>
        <a:lstStyle/>
        <a:p>
          <a:endParaRPr lang="en-US"/>
        </a:p>
      </dgm:t>
    </dgm:pt>
    <dgm:pt modelId="{CF69A443-018C-4199-A3CB-6722F5A699E0}">
      <dgm:prSet/>
      <dgm:spPr/>
      <dgm:t>
        <a:bodyPr/>
        <a:lstStyle/>
        <a:p>
          <a:r>
            <a:rPr lang="en-US" b="0" i="0" baseline="0"/>
            <a:t>The Southeast also shows the </a:t>
          </a:r>
          <a:r>
            <a:rPr lang="en-US" b="1" i="0" baseline="0"/>
            <a:t>highest average BMI (33.36)</a:t>
          </a:r>
          <a:r>
            <a:rPr lang="en-US" b="0" i="0" baseline="0"/>
            <a:t>, noticeably higher than the other regions. This suggests that people in this region may have a higher prevalence of weight-related health issues.</a:t>
          </a:r>
          <a:endParaRPr lang="en-US"/>
        </a:p>
      </dgm:t>
    </dgm:pt>
    <dgm:pt modelId="{5E4DD834-16EC-4220-A55C-70E6FFA6EDBC}" type="parTrans" cxnId="{27C16A5D-9C0D-4F85-AEAF-E449F2850F44}">
      <dgm:prSet/>
      <dgm:spPr/>
      <dgm:t>
        <a:bodyPr/>
        <a:lstStyle/>
        <a:p>
          <a:endParaRPr lang="en-US"/>
        </a:p>
      </dgm:t>
    </dgm:pt>
    <dgm:pt modelId="{32A703F7-6104-4F75-8E04-782B2BB7C520}" type="sibTrans" cxnId="{27C16A5D-9C0D-4F85-AEAF-E449F2850F44}">
      <dgm:prSet/>
      <dgm:spPr/>
      <dgm:t>
        <a:bodyPr/>
        <a:lstStyle/>
        <a:p>
          <a:endParaRPr lang="en-US"/>
        </a:p>
      </dgm:t>
    </dgm:pt>
    <dgm:pt modelId="{C9024EDE-FDCF-4AE3-A6C2-8AC51C8A3997}">
      <dgm:prSet/>
      <dgm:spPr/>
      <dgm:t>
        <a:bodyPr/>
        <a:lstStyle/>
        <a:p>
          <a:r>
            <a:rPr lang="en-US" b="0" i="0" baseline="0"/>
            <a:t>When we put both metrics together, the Southeast clearly appears to be the </a:t>
          </a:r>
          <a:r>
            <a:rPr lang="en-US" b="1" i="0" baseline="0"/>
            <a:t>most health-risk-prone region</a:t>
          </a:r>
          <a:r>
            <a:rPr lang="en-US" b="0" i="0" baseline="0"/>
            <a:t>, as higher BMI often leads to higher medical spending.</a:t>
          </a:r>
          <a:endParaRPr lang="en-US"/>
        </a:p>
      </dgm:t>
    </dgm:pt>
    <dgm:pt modelId="{0837BF3B-A514-47E7-8581-382CE21F2BD2}" type="parTrans" cxnId="{E5694FA2-BCCC-4072-9FEC-FD44F85B532D}">
      <dgm:prSet/>
      <dgm:spPr/>
      <dgm:t>
        <a:bodyPr/>
        <a:lstStyle/>
        <a:p>
          <a:endParaRPr lang="en-US"/>
        </a:p>
      </dgm:t>
    </dgm:pt>
    <dgm:pt modelId="{20349FFB-E657-4A36-BADF-2FC8E81A7D1D}" type="sibTrans" cxnId="{E5694FA2-BCCC-4072-9FEC-FD44F85B532D}">
      <dgm:prSet/>
      <dgm:spPr/>
      <dgm:t>
        <a:bodyPr/>
        <a:lstStyle/>
        <a:p>
          <a:endParaRPr lang="en-US"/>
        </a:p>
      </dgm:t>
    </dgm:pt>
    <dgm:pt modelId="{7DE5B400-9BA2-4FBA-8AC5-C4CD57618A9D}">
      <dgm:prSet/>
      <dgm:spPr/>
      <dgm:t>
        <a:bodyPr/>
        <a:lstStyle/>
        <a:p>
          <a:r>
            <a:rPr lang="en-US" b="0" i="0" baseline="0"/>
            <a:t>The other regions—Northeast, Northwest, and Southwest—show lower and relatively similar averages, indicating </a:t>
          </a:r>
          <a:r>
            <a:rPr lang="en-US" b="1" i="0" baseline="0"/>
            <a:t>more stable health and cost patterns</a:t>
          </a:r>
          <a:r>
            <a:rPr lang="en-US" b="0" i="0" baseline="0"/>
            <a:t> compared to the Southeast.</a:t>
          </a:r>
          <a:endParaRPr lang="en-US"/>
        </a:p>
      </dgm:t>
    </dgm:pt>
    <dgm:pt modelId="{76490D88-3637-4C65-9FF9-A51E05CDAED9}" type="parTrans" cxnId="{6121B630-CDAC-47BC-8A61-67EBB535289A}">
      <dgm:prSet/>
      <dgm:spPr/>
      <dgm:t>
        <a:bodyPr/>
        <a:lstStyle/>
        <a:p>
          <a:endParaRPr lang="en-US"/>
        </a:p>
      </dgm:t>
    </dgm:pt>
    <dgm:pt modelId="{FD5F6F9B-4247-4385-9A62-4CAF14168B84}" type="sibTrans" cxnId="{6121B630-CDAC-47BC-8A61-67EBB535289A}">
      <dgm:prSet/>
      <dgm:spPr/>
      <dgm:t>
        <a:bodyPr/>
        <a:lstStyle/>
        <a:p>
          <a:endParaRPr lang="en-US"/>
        </a:p>
      </dgm:t>
    </dgm:pt>
    <dgm:pt modelId="{B8630DC6-B23C-4604-A93E-04C7E2AF3861}" type="pres">
      <dgm:prSet presAssocID="{9074391A-3DB4-4255-8F02-5A4417AFCA1B}" presName="vert0" presStyleCnt="0">
        <dgm:presLayoutVars>
          <dgm:dir/>
          <dgm:animOne val="branch"/>
          <dgm:animLvl val="lvl"/>
        </dgm:presLayoutVars>
      </dgm:prSet>
      <dgm:spPr/>
    </dgm:pt>
    <dgm:pt modelId="{C760F0AD-3F1F-486D-A3DB-20AAF2BC198D}" type="pres">
      <dgm:prSet presAssocID="{DFB681E3-0522-409F-875A-A85C144DDFEE}" presName="thickLine" presStyleLbl="alignNode1" presStyleIdx="0" presStyleCnt="4"/>
      <dgm:spPr/>
    </dgm:pt>
    <dgm:pt modelId="{20982EF7-7221-4262-86CB-3497CA354445}" type="pres">
      <dgm:prSet presAssocID="{DFB681E3-0522-409F-875A-A85C144DDFEE}" presName="horz1" presStyleCnt="0"/>
      <dgm:spPr/>
    </dgm:pt>
    <dgm:pt modelId="{E540639E-3D95-44FB-9C9B-9B0C11720549}" type="pres">
      <dgm:prSet presAssocID="{DFB681E3-0522-409F-875A-A85C144DDFEE}" presName="tx1" presStyleLbl="revTx" presStyleIdx="0" presStyleCnt="4"/>
      <dgm:spPr/>
    </dgm:pt>
    <dgm:pt modelId="{ADF9B510-0B0C-409C-BF3A-010F74F6C9CD}" type="pres">
      <dgm:prSet presAssocID="{DFB681E3-0522-409F-875A-A85C144DDFEE}" presName="vert1" presStyleCnt="0"/>
      <dgm:spPr/>
    </dgm:pt>
    <dgm:pt modelId="{3085643D-AF4D-4754-97DF-49EE65EF2496}" type="pres">
      <dgm:prSet presAssocID="{CF69A443-018C-4199-A3CB-6722F5A699E0}" presName="thickLine" presStyleLbl="alignNode1" presStyleIdx="1" presStyleCnt="4"/>
      <dgm:spPr/>
    </dgm:pt>
    <dgm:pt modelId="{08959B9B-3BA6-4AC4-85D3-DEB70DB5D80B}" type="pres">
      <dgm:prSet presAssocID="{CF69A443-018C-4199-A3CB-6722F5A699E0}" presName="horz1" presStyleCnt="0"/>
      <dgm:spPr/>
    </dgm:pt>
    <dgm:pt modelId="{BCC704DC-3173-49C9-8170-3C244DF081F9}" type="pres">
      <dgm:prSet presAssocID="{CF69A443-018C-4199-A3CB-6722F5A699E0}" presName="tx1" presStyleLbl="revTx" presStyleIdx="1" presStyleCnt="4"/>
      <dgm:spPr/>
    </dgm:pt>
    <dgm:pt modelId="{55EB7043-682F-4071-A81A-4AC0CB36B7DA}" type="pres">
      <dgm:prSet presAssocID="{CF69A443-018C-4199-A3CB-6722F5A699E0}" presName="vert1" presStyleCnt="0"/>
      <dgm:spPr/>
    </dgm:pt>
    <dgm:pt modelId="{891E5A5F-9F6F-45AD-A0B1-3ADB9108ADA5}" type="pres">
      <dgm:prSet presAssocID="{C9024EDE-FDCF-4AE3-A6C2-8AC51C8A3997}" presName="thickLine" presStyleLbl="alignNode1" presStyleIdx="2" presStyleCnt="4"/>
      <dgm:spPr/>
    </dgm:pt>
    <dgm:pt modelId="{C9F61791-B9B4-42BC-8503-DEBE78FD8F87}" type="pres">
      <dgm:prSet presAssocID="{C9024EDE-FDCF-4AE3-A6C2-8AC51C8A3997}" presName="horz1" presStyleCnt="0"/>
      <dgm:spPr/>
    </dgm:pt>
    <dgm:pt modelId="{B3E208C7-CF67-4C9A-8DE6-913A7F3F3465}" type="pres">
      <dgm:prSet presAssocID="{C9024EDE-FDCF-4AE3-A6C2-8AC51C8A3997}" presName="tx1" presStyleLbl="revTx" presStyleIdx="2" presStyleCnt="4"/>
      <dgm:spPr/>
    </dgm:pt>
    <dgm:pt modelId="{E7AA2A2C-92E9-400B-BCFD-60EABB8E04C7}" type="pres">
      <dgm:prSet presAssocID="{C9024EDE-FDCF-4AE3-A6C2-8AC51C8A3997}" presName="vert1" presStyleCnt="0"/>
      <dgm:spPr/>
    </dgm:pt>
    <dgm:pt modelId="{C3353320-2C36-47BE-9499-760F613E6C9F}" type="pres">
      <dgm:prSet presAssocID="{7DE5B400-9BA2-4FBA-8AC5-C4CD57618A9D}" presName="thickLine" presStyleLbl="alignNode1" presStyleIdx="3" presStyleCnt="4"/>
      <dgm:spPr/>
    </dgm:pt>
    <dgm:pt modelId="{73412924-5012-44C3-A665-440AC5B991F4}" type="pres">
      <dgm:prSet presAssocID="{7DE5B400-9BA2-4FBA-8AC5-C4CD57618A9D}" presName="horz1" presStyleCnt="0"/>
      <dgm:spPr/>
    </dgm:pt>
    <dgm:pt modelId="{107F504F-55ED-49B6-9F0D-C8BAFD076AE7}" type="pres">
      <dgm:prSet presAssocID="{7DE5B400-9BA2-4FBA-8AC5-C4CD57618A9D}" presName="tx1" presStyleLbl="revTx" presStyleIdx="3" presStyleCnt="4"/>
      <dgm:spPr/>
    </dgm:pt>
    <dgm:pt modelId="{3273CD01-AAD7-4838-AC04-1D24B9667C64}" type="pres">
      <dgm:prSet presAssocID="{7DE5B400-9BA2-4FBA-8AC5-C4CD57618A9D}" presName="vert1" presStyleCnt="0"/>
      <dgm:spPr/>
    </dgm:pt>
  </dgm:ptLst>
  <dgm:cxnLst>
    <dgm:cxn modelId="{D2A9DD0A-F493-4878-AAC3-E011A668572C}" type="presOf" srcId="{CF69A443-018C-4199-A3CB-6722F5A699E0}" destId="{BCC704DC-3173-49C9-8170-3C244DF081F9}" srcOrd="0" destOrd="0" presId="urn:microsoft.com/office/officeart/2008/layout/LinedList"/>
    <dgm:cxn modelId="{C30BBF2A-B22E-4E01-AF1E-6156E52C2BA4}" srcId="{9074391A-3DB4-4255-8F02-5A4417AFCA1B}" destId="{DFB681E3-0522-409F-875A-A85C144DDFEE}" srcOrd="0" destOrd="0" parTransId="{3FD68102-DC5D-4C85-9E6C-A2012643EA87}" sibTransId="{32FE1E06-DAAA-418B-B7DF-55FBC9F150A4}"/>
    <dgm:cxn modelId="{6121B630-CDAC-47BC-8A61-67EBB535289A}" srcId="{9074391A-3DB4-4255-8F02-5A4417AFCA1B}" destId="{7DE5B400-9BA2-4FBA-8AC5-C4CD57618A9D}" srcOrd="3" destOrd="0" parTransId="{76490D88-3637-4C65-9FF9-A51E05CDAED9}" sibTransId="{FD5F6F9B-4247-4385-9A62-4CAF14168B84}"/>
    <dgm:cxn modelId="{27C16A5D-9C0D-4F85-AEAF-E449F2850F44}" srcId="{9074391A-3DB4-4255-8F02-5A4417AFCA1B}" destId="{CF69A443-018C-4199-A3CB-6722F5A699E0}" srcOrd="1" destOrd="0" parTransId="{5E4DD834-16EC-4220-A55C-70E6FFA6EDBC}" sibTransId="{32A703F7-6104-4F75-8E04-782B2BB7C520}"/>
    <dgm:cxn modelId="{CCD22070-F884-4541-A709-D8825B9E70F4}" type="presOf" srcId="{9074391A-3DB4-4255-8F02-5A4417AFCA1B}" destId="{B8630DC6-B23C-4604-A93E-04C7E2AF3861}" srcOrd="0" destOrd="0" presId="urn:microsoft.com/office/officeart/2008/layout/LinedList"/>
    <dgm:cxn modelId="{25FDD889-6E16-4C75-9E55-DE67683CB37B}" type="presOf" srcId="{DFB681E3-0522-409F-875A-A85C144DDFEE}" destId="{E540639E-3D95-44FB-9C9B-9B0C11720549}" srcOrd="0" destOrd="0" presId="urn:microsoft.com/office/officeart/2008/layout/LinedList"/>
    <dgm:cxn modelId="{E5694FA2-BCCC-4072-9FEC-FD44F85B532D}" srcId="{9074391A-3DB4-4255-8F02-5A4417AFCA1B}" destId="{C9024EDE-FDCF-4AE3-A6C2-8AC51C8A3997}" srcOrd="2" destOrd="0" parTransId="{0837BF3B-A514-47E7-8581-382CE21F2BD2}" sibTransId="{20349FFB-E657-4A36-BADF-2FC8E81A7D1D}"/>
    <dgm:cxn modelId="{3C0DD1B9-81B8-44DD-8626-E6E469141CE4}" type="presOf" srcId="{7DE5B400-9BA2-4FBA-8AC5-C4CD57618A9D}" destId="{107F504F-55ED-49B6-9F0D-C8BAFD076AE7}" srcOrd="0" destOrd="0" presId="urn:microsoft.com/office/officeart/2008/layout/LinedList"/>
    <dgm:cxn modelId="{875464F5-4F5C-4AAF-9FE1-728620E5D763}" type="presOf" srcId="{C9024EDE-FDCF-4AE3-A6C2-8AC51C8A3997}" destId="{B3E208C7-CF67-4C9A-8DE6-913A7F3F3465}" srcOrd="0" destOrd="0" presId="urn:microsoft.com/office/officeart/2008/layout/LinedList"/>
    <dgm:cxn modelId="{A74DADD3-EE4A-4A18-B39D-0A67691410AE}" type="presParOf" srcId="{B8630DC6-B23C-4604-A93E-04C7E2AF3861}" destId="{C760F0AD-3F1F-486D-A3DB-20AAF2BC198D}" srcOrd="0" destOrd="0" presId="urn:microsoft.com/office/officeart/2008/layout/LinedList"/>
    <dgm:cxn modelId="{3AF6D6BD-933A-42F5-9C8E-6E5564A31D8E}" type="presParOf" srcId="{B8630DC6-B23C-4604-A93E-04C7E2AF3861}" destId="{20982EF7-7221-4262-86CB-3497CA354445}" srcOrd="1" destOrd="0" presId="urn:microsoft.com/office/officeart/2008/layout/LinedList"/>
    <dgm:cxn modelId="{6E5AF04A-1E2E-4197-917A-07C897984244}" type="presParOf" srcId="{20982EF7-7221-4262-86CB-3497CA354445}" destId="{E540639E-3D95-44FB-9C9B-9B0C11720549}" srcOrd="0" destOrd="0" presId="urn:microsoft.com/office/officeart/2008/layout/LinedList"/>
    <dgm:cxn modelId="{EB84F510-1853-41AF-93E0-4DF560929201}" type="presParOf" srcId="{20982EF7-7221-4262-86CB-3497CA354445}" destId="{ADF9B510-0B0C-409C-BF3A-010F74F6C9CD}" srcOrd="1" destOrd="0" presId="urn:microsoft.com/office/officeart/2008/layout/LinedList"/>
    <dgm:cxn modelId="{5AA28EAF-6DCF-4BDF-A614-B7F909BFDBBD}" type="presParOf" srcId="{B8630DC6-B23C-4604-A93E-04C7E2AF3861}" destId="{3085643D-AF4D-4754-97DF-49EE65EF2496}" srcOrd="2" destOrd="0" presId="urn:microsoft.com/office/officeart/2008/layout/LinedList"/>
    <dgm:cxn modelId="{A3672311-3F64-4CAE-BE47-93DAFCFF28B6}" type="presParOf" srcId="{B8630DC6-B23C-4604-A93E-04C7E2AF3861}" destId="{08959B9B-3BA6-4AC4-85D3-DEB70DB5D80B}" srcOrd="3" destOrd="0" presId="urn:microsoft.com/office/officeart/2008/layout/LinedList"/>
    <dgm:cxn modelId="{70237075-875E-41F2-BE54-60892A0774BC}" type="presParOf" srcId="{08959B9B-3BA6-4AC4-85D3-DEB70DB5D80B}" destId="{BCC704DC-3173-49C9-8170-3C244DF081F9}" srcOrd="0" destOrd="0" presId="urn:microsoft.com/office/officeart/2008/layout/LinedList"/>
    <dgm:cxn modelId="{66B735D4-352D-4986-884F-0543C6C80D4F}" type="presParOf" srcId="{08959B9B-3BA6-4AC4-85D3-DEB70DB5D80B}" destId="{55EB7043-682F-4071-A81A-4AC0CB36B7DA}" srcOrd="1" destOrd="0" presId="urn:microsoft.com/office/officeart/2008/layout/LinedList"/>
    <dgm:cxn modelId="{812A2DB1-AF82-416E-AE5F-2F46F55D4837}" type="presParOf" srcId="{B8630DC6-B23C-4604-A93E-04C7E2AF3861}" destId="{891E5A5F-9F6F-45AD-A0B1-3ADB9108ADA5}" srcOrd="4" destOrd="0" presId="urn:microsoft.com/office/officeart/2008/layout/LinedList"/>
    <dgm:cxn modelId="{6DBD78E9-1907-48A9-8C0F-3CFCECC7A829}" type="presParOf" srcId="{B8630DC6-B23C-4604-A93E-04C7E2AF3861}" destId="{C9F61791-B9B4-42BC-8503-DEBE78FD8F87}" srcOrd="5" destOrd="0" presId="urn:microsoft.com/office/officeart/2008/layout/LinedList"/>
    <dgm:cxn modelId="{58D20703-49A7-402E-A739-05CEAB13366C}" type="presParOf" srcId="{C9F61791-B9B4-42BC-8503-DEBE78FD8F87}" destId="{B3E208C7-CF67-4C9A-8DE6-913A7F3F3465}" srcOrd="0" destOrd="0" presId="urn:microsoft.com/office/officeart/2008/layout/LinedList"/>
    <dgm:cxn modelId="{182D4AAC-D0A1-4049-886A-EEEFECD4E06C}" type="presParOf" srcId="{C9F61791-B9B4-42BC-8503-DEBE78FD8F87}" destId="{E7AA2A2C-92E9-400B-BCFD-60EABB8E04C7}" srcOrd="1" destOrd="0" presId="urn:microsoft.com/office/officeart/2008/layout/LinedList"/>
    <dgm:cxn modelId="{C415B6B6-7B1C-4AD2-BA22-CCF9AF56BE43}" type="presParOf" srcId="{B8630DC6-B23C-4604-A93E-04C7E2AF3861}" destId="{C3353320-2C36-47BE-9499-760F613E6C9F}" srcOrd="6" destOrd="0" presId="urn:microsoft.com/office/officeart/2008/layout/LinedList"/>
    <dgm:cxn modelId="{AF256312-158C-47AC-A721-4FAF1FC49E3B}" type="presParOf" srcId="{B8630DC6-B23C-4604-A93E-04C7E2AF3861}" destId="{73412924-5012-44C3-A665-440AC5B991F4}" srcOrd="7" destOrd="0" presId="urn:microsoft.com/office/officeart/2008/layout/LinedList"/>
    <dgm:cxn modelId="{F8D96036-1966-42FF-B57D-5C6362717D89}" type="presParOf" srcId="{73412924-5012-44C3-A665-440AC5B991F4}" destId="{107F504F-55ED-49B6-9F0D-C8BAFD076AE7}" srcOrd="0" destOrd="0" presId="urn:microsoft.com/office/officeart/2008/layout/LinedList"/>
    <dgm:cxn modelId="{D2D6CF28-12A6-4E8E-A07E-2815BDC9047E}" type="presParOf" srcId="{73412924-5012-44C3-A665-440AC5B991F4}" destId="{3273CD01-AAD7-4838-AC04-1D24B9667C6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5EF83FD-96A4-4C26-BC5A-15FD1DC13484}"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A6B76927-A734-446E-BAC5-6C06804F3768}">
      <dgm:prSet/>
      <dgm:spPr/>
      <dgm:t>
        <a:bodyPr/>
        <a:lstStyle/>
        <a:p>
          <a:r>
            <a:rPr lang="en-US" b="0" i="0" baseline="0"/>
            <a:t>Most people fall in the </a:t>
          </a:r>
          <a:r>
            <a:rPr lang="en-US" b="1" i="0" baseline="0"/>
            <a:t>₹5,000–₹10,000</a:t>
          </a:r>
          <a:r>
            <a:rPr lang="en-US" b="0" i="0" baseline="0"/>
            <a:t> medical charge range, making it the most common bracket in the dataset.</a:t>
          </a:r>
          <a:endParaRPr lang="en-US"/>
        </a:p>
      </dgm:t>
    </dgm:pt>
    <dgm:pt modelId="{B4CB20B1-9802-483D-A239-6F34A0AC85DA}" type="parTrans" cxnId="{C0C40ACB-BC28-470B-9CEB-8945D0585CB5}">
      <dgm:prSet/>
      <dgm:spPr/>
      <dgm:t>
        <a:bodyPr/>
        <a:lstStyle/>
        <a:p>
          <a:endParaRPr lang="en-US"/>
        </a:p>
      </dgm:t>
    </dgm:pt>
    <dgm:pt modelId="{E75A0AA9-B2DB-4EAD-8DFA-788895A20C43}" type="sibTrans" cxnId="{C0C40ACB-BC28-470B-9CEB-8945D0585CB5}">
      <dgm:prSet/>
      <dgm:spPr/>
      <dgm:t>
        <a:bodyPr/>
        <a:lstStyle/>
        <a:p>
          <a:endParaRPr lang="en-US"/>
        </a:p>
      </dgm:t>
    </dgm:pt>
    <dgm:pt modelId="{53E6DB54-90B6-430F-9CD8-7E2CA255BB96}">
      <dgm:prSet/>
      <dgm:spPr/>
      <dgm:t>
        <a:bodyPr/>
        <a:lstStyle/>
        <a:p>
          <a:r>
            <a:rPr lang="en-US" b="0" i="0" baseline="0"/>
            <a:t>As the cost increases, the number of beneficiaries drops sharply. Charges above </a:t>
          </a:r>
          <a:r>
            <a:rPr lang="en-US" b="1" i="0" baseline="0"/>
            <a:t>₹30,000 are quite rare</a:t>
          </a:r>
          <a:r>
            <a:rPr lang="en-US" b="0" i="0" baseline="0"/>
            <a:t>, and only a small handful reach the very high-cost levels.</a:t>
          </a:r>
          <a:endParaRPr lang="en-US"/>
        </a:p>
      </dgm:t>
    </dgm:pt>
    <dgm:pt modelId="{5ED7C6EC-0B7B-415B-A354-1E09784559E2}" type="parTrans" cxnId="{476C5B66-A123-4B66-B8F9-2D4E297E7343}">
      <dgm:prSet/>
      <dgm:spPr/>
      <dgm:t>
        <a:bodyPr/>
        <a:lstStyle/>
        <a:p>
          <a:endParaRPr lang="en-US"/>
        </a:p>
      </dgm:t>
    </dgm:pt>
    <dgm:pt modelId="{407756CA-A95F-49DF-90A5-1B03B40EC664}" type="sibTrans" cxnId="{476C5B66-A123-4B66-B8F9-2D4E297E7343}">
      <dgm:prSet/>
      <dgm:spPr/>
      <dgm:t>
        <a:bodyPr/>
        <a:lstStyle/>
        <a:p>
          <a:endParaRPr lang="en-US"/>
        </a:p>
      </dgm:t>
    </dgm:pt>
    <dgm:pt modelId="{FF6DA340-E523-4776-BB50-502E2BAE614C}">
      <dgm:prSet/>
      <dgm:spPr/>
      <dgm:t>
        <a:bodyPr/>
        <a:lstStyle/>
        <a:p>
          <a:r>
            <a:rPr lang="en-US" b="0" i="0" baseline="0"/>
            <a:t>The shape of the distribution shows that the data is </a:t>
          </a:r>
          <a:r>
            <a:rPr lang="en-US" b="1" i="0" baseline="0"/>
            <a:t>right-skewed</a:t>
          </a:r>
          <a:r>
            <a:rPr lang="en-US" b="0" i="0" baseline="0"/>
            <a:t> — meaning a majority of people have relatively lower medical expenses, while a few individuals have very high costs that stretch the tail of the graph.</a:t>
          </a:r>
          <a:endParaRPr lang="en-US"/>
        </a:p>
      </dgm:t>
    </dgm:pt>
    <dgm:pt modelId="{147E3147-3528-4F90-81B2-D0AE99593550}" type="parTrans" cxnId="{879106D5-D857-4CF8-9669-D64AA2D8B06C}">
      <dgm:prSet/>
      <dgm:spPr/>
      <dgm:t>
        <a:bodyPr/>
        <a:lstStyle/>
        <a:p>
          <a:endParaRPr lang="en-US"/>
        </a:p>
      </dgm:t>
    </dgm:pt>
    <dgm:pt modelId="{73F4F1AC-4DFC-4C57-84B1-65AF2199F2D7}" type="sibTrans" cxnId="{879106D5-D857-4CF8-9669-D64AA2D8B06C}">
      <dgm:prSet/>
      <dgm:spPr/>
      <dgm:t>
        <a:bodyPr/>
        <a:lstStyle/>
        <a:p>
          <a:endParaRPr lang="en-US"/>
        </a:p>
      </dgm:t>
    </dgm:pt>
    <dgm:pt modelId="{EFE33938-C6E0-4E9F-B8E7-8BB75AAFCD09}" type="pres">
      <dgm:prSet presAssocID="{85EF83FD-96A4-4C26-BC5A-15FD1DC13484}" presName="hierChild1" presStyleCnt="0">
        <dgm:presLayoutVars>
          <dgm:chPref val="1"/>
          <dgm:dir/>
          <dgm:animOne val="branch"/>
          <dgm:animLvl val="lvl"/>
          <dgm:resizeHandles/>
        </dgm:presLayoutVars>
      </dgm:prSet>
      <dgm:spPr/>
    </dgm:pt>
    <dgm:pt modelId="{6EDD0355-4B7A-47B6-BB9A-B69B83880F89}" type="pres">
      <dgm:prSet presAssocID="{A6B76927-A734-446E-BAC5-6C06804F3768}" presName="hierRoot1" presStyleCnt="0"/>
      <dgm:spPr/>
    </dgm:pt>
    <dgm:pt modelId="{89356FB0-D8A6-4D74-92D3-689AD33B5225}" type="pres">
      <dgm:prSet presAssocID="{A6B76927-A734-446E-BAC5-6C06804F3768}" presName="composite" presStyleCnt="0"/>
      <dgm:spPr/>
    </dgm:pt>
    <dgm:pt modelId="{6254E1B0-9A13-46CA-9ED5-528A6E54932C}" type="pres">
      <dgm:prSet presAssocID="{A6B76927-A734-446E-BAC5-6C06804F3768}" presName="background" presStyleLbl="node0" presStyleIdx="0" presStyleCnt="3"/>
      <dgm:spPr/>
    </dgm:pt>
    <dgm:pt modelId="{01753E7C-14BB-444E-902A-DA8A47631F68}" type="pres">
      <dgm:prSet presAssocID="{A6B76927-A734-446E-BAC5-6C06804F3768}" presName="text" presStyleLbl="fgAcc0" presStyleIdx="0" presStyleCnt="3">
        <dgm:presLayoutVars>
          <dgm:chPref val="3"/>
        </dgm:presLayoutVars>
      </dgm:prSet>
      <dgm:spPr/>
    </dgm:pt>
    <dgm:pt modelId="{E8D16D55-9D6E-44BA-933A-FF573E8F3C0E}" type="pres">
      <dgm:prSet presAssocID="{A6B76927-A734-446E-BAC5-6C06804F3768}" presName="hierChild2" presStyleCnt="0"/>
      <dgm:spPr/>
    </dgm:pt>
    <dgm:pt modelId="{EF3ADF22-3923-4BA7-8ED5-631933DE008B}" type="pres">
      <dgm:prSet presAssocID="{53E6DB54-90B6-430F-9CD8-7E2CA255BB96}" presName="hierRoot1" presStyleCnt="0"/>
      <dgm:spPr/>
    </dgm:pt>
    <dgm:pt modelId="{7C8CB0F8-06F1-4D7D-9545-BF72A25B2D09}" type="pres">
      <dgm:prSet presAssocID="{53E6DB54-90B6-430F-9CD8-7E2CA255BB96}" presName="composite" presStyleCnt="0"/>
      <dgm:spPr/>
    </dgm:pt>
    <dgm:pt modelId="{E95902ED-5C70-4560-BAE4-E860C7858B21}" type="pres">
      <dgm:prSet presAssocID="{53E6DB54-90B6-430F-9CD8-7E2CA255BB96}" presName="background" presStyleLbl="node0" presStyleIdx="1" presStyleCnt="3"/>
      <dgm:spPr/>
    </dgm:pt>
    <dgm:pt modelId="{2EAEACD7-FF08-4953-8346-544E3A056952}" type="pres">
      <dgm:prSet presAssocID="{53E6DB54-90B6-430F-9CD8-7E2CA255BB96}" presName="text" presStyleLbl="fgAcc0" presStyleIdx="1" presStyleCnt="3">
        <dgm:presLayoutVars>
          <dgm:chPref val="3"/>
        </dgm:presLayoutVars>
      </dgm:prSet>
      <dgm:spPr/>
    </dgm:pt>
    <dgm:pt modelId="{44802CF7-FEA7-4675-9AD4-5448A7C5C245}" type="pres">
      <dgm:prSet presAssocID="{53E6DB54-90B6-430F-9CD8-7E2CA255BB96}" presName="hierChild2" presStyleCnt="0"/>
      <dgm:spPr/>
    </dgm:pt>
    <dgm:pt modelId="{F98ED948-D65A-49D8-BC6B-C05D2BC888F7}" type="pres">
      <dgm:prSet presAssocID="{FF6DA340-E523-4776-BB50-502E2BAE614C}" presName="hierRoot1" presStyleCnt="0"/>
      <dgm:spPr/>
    </dgm:pt>
    <dgm:pt modelId="{3E73DB0A-1280-4677-9598-BA63F3954DBD}" type="pres">
      <dgm:prSet presAssocID="{FF6DA340-E523-4776-BB50-502E2BAE614C}" presName="composite" presStyleCnt="0"/>
      <dgm:spPr/>
    </dgm:pt>
    <dgm:pt modelId="{5B8618C2-0EA9-43CC-9BFD-6FF2F5648792}" type="pres">
      <dgm:prSet presAssocID="{FF6DA340-E523-4776-BB50-502E2BAE614C}" presName="background" presStyleLbl="node0" presStyleIdx="2" presStyleCnt="3"/>
      <dgm:spPr/>
    </dgm:pt>
    <dgm:pt modelId="{090A2429-F407-4304-B494-888D5DA1E958}" type="pres">
      <dgm:prSet presAssocID="{FF6DA340-E523-4776-BB50-502E2BAE614C}" presName="text" presStyleLbl="fgAcc0" presStyleIdx="2" presStyleCnt="3">
        <dgm:presLayoutVars>
          <dgm:chPref val="3"/>
        </dgm:presLayoutVars>
      </dgm:prSet>
      <dgm:spPr/>
    </dgm:pt>
    <dgm:pt modelId="{D5F80C7D-0A02-4B66-8714-1459C78FF36E}" type="pres">
      <dgm:prSet presAssocID="{FF6DA340-E523-4776-BB50-502E2BAE614C}" presName="hierChild2" presStyleCnt="0"/>
      <dgm:spPr/>
    </dgm:pt>
  </dgm:ptLst>
  <dgm:cxnLst>
    <dgm:cxn modelId="{1A92B31D-2519-464F-ABDD-6BACB5D43DCE}" type="presOf" srcId="{53E6DB54-90B6-430F-9CD8-7E2CA255BB96}" destId="{2EAEACD7-FF08-4953-8346-544E3A056952}" srcOrd="0" destOrd="0" presId="urn:microsoft.com/office/officeart/2005/8/layout/hierarchy1"/>
    <dgm:cxn modelId="{476C5B66-A123-4B66-B8F9-2D4E297E7343}" srcId="{85EF83FD-96A4-4C26-BC5A-15FD1DC13484}" destId="{53E6DB54-90B6-430F-9CD8-7E2CA255BB96}" srcOrd="1" destOrd="0" parTransId="{5ED7C6EC-0B7B-415B-A354-1E09784559E2}" sibTransId="{407756CA-A95F-49DF-90A5-1B03B40EC664}"/>
    <dgm:cxn modelId="{4F5A8951-20FD-4725-90B4-9D80533C2877}" type="presOf" srcId="{FF6DA340-E523-4776-BB50-502E2BAE614C}" destId="{090A2429-F407-4304-B494-888D5DA1E958}" srcOrd="0" destOrd="0" presId="urn:microsoft.com/office/officeart/2005/8/layout/hierarchy1"/>
    <dgm:cxn modelId="{7F858F7B-5ABB-4C8D-96AE-A2E37F1CB013}" type="presOf" srcId="{85EF83FD-96A4-4C26-BC5A-15FD1DC13484}" destId="{EFE33938-C6E0-4E9F-B8E7-8BB75AAFCD09}" srcOrd="0" destOrd="0" presId="urn:microsoft.com/office/officeart/2005/8/layout/hierarchy1"/>
    <dgm:cxn modelId="{C0C40ACB-BC28-470B-9CEB-8945D0585CB5}" srcId="{85EF83FD-96A4-4C26-BC5A-15FD1DC13484}" destId="{A6B76927-A734-446E-BAC5-6C06804F3768}" srcOrd="0" destOrd="0" parTransId="{B4CB20B1-9802-483D-A239-6F34A0AC85DA}" sibTransId="{E75A0AA9-B2DB-4EAD-8DFA-788895A20C43}"/>
    <dgm:cxn modelId="{879106D5-D857-4CF8-9669-D64AA2D8B06C}" srcId="{85EF83FD-96A4-4C26-BC5A-15FD1DC13484}" destId="{FF6DA340-E523-4776-BB50-502E2BAE614C}" srcOrd="2" destOrd="0" parTransId="{147E3147-3528-4F90-81B2-D0AE99593550}" sibTransId="{73F4F1AC-4DFC-4C57-84B1-65AF2199F2D7}"/>
    <dgm:cxn modelId="{49447EF0-D098-415B-AE81-A0D7EAF9E0CA}" type="presOf" srcId="{A6B76927-A734-446E-BAC5-6C06804F3768}" destId="{01753E7C-14BB-444E-902A-DA8A47631F68}" srcOrd="0" destOrd="0" presId="urn:microsoft.com/office/officeart/2005/8/layout/hierarchy1"/>
    <dgm:cxn modelId="{29A34FE5-54C4-4A73-9354-51CB9CFD97CD}" type="presParOf" srcId="{EFE33938-C6E0-4E9F-B8E7-8BB75AAFCD09}" destId="{6EDD0355-4B7A-47B6-BB9A-B69B83880F89}" srcOrd="0" destOrd="0" presId="urn:microsoft.com/office/officeart/2005/8/layout/hierarchy1"/>
    <dgm:cxn modelId="{7830F398-C2A5-4CB6-A718-BA9223EE883E}" type="presParOf" srcId="{6EDD0355-4B7A-47B6-BB9A-B69B83880F89}" destId="{89356FB0-D8A6-4D74-92D3-689AD33B5225}" srcOrd="0" destOrd="0" presId="urn:microsoft.com/office/officeart/2005/8/layout/hierarchy1"/>
    <dgm:cxn modelId="{E7A185E4-D5FA-4E45-B056-3B66C8AC0D22}" type="presParOf" srcId="{89356FB0-D8A6-4D74-92D3-689AD33B5225}" destId="{6254E1B0-9A13-46CA-9ED5-528A6E54932C}" srcOrd="0" destOrd="0" presId="urn:microsoft.com/office/officeart/2005/8/layout/hierarchy1"/>
    <dgm:cxn modelId="{9686A8D2-F980-4CD8-9057-C4BDDD67B032}" type="presParOf" srcId="{89356FB0-D8A6-4D74-92D3-689AD33B5225}" destId="{01753E7C-14BB-444E-902A-DA8A47631F68}" srcOrd="1" destOrd="0" presId="urn:microsoft.com/office/officeart/2005/8/layout/hierarchy1"/>
    <dgm:cxn modelId="{A8E79089-474D-47BC-9D35-C0F78D18E843}" type="presParOf" srcId="{6EDD0355-4B7A-47B6-BB9A-B69B83880F89}" destId="{E8D16D55-9D6E-44BA-933A-FF573E8F3C0E}" srcOrd="1" destOrd="0" presId="urn:microsoft.com/office/officeart/2005/8/layout/hierarchy1"/>
    <dgm:cxn modelId="{E9C4F95E-7CF3-4403-9E06-F25D8B4C2535}" type="presParOf" srcId="{EFE33938-C6E0-4E9F-B8E7-8BB75AAFCD09}" destId="{EF3ADF22-3923-4BA7-8ED5-631933DE008B}" srcOrd="1" destOrd="0" presId="urn:microsoft.com/office/officeart/2005/8/layout/hierarchy1"/>
    <dgm:cxn modelId="{630D6F49-CF31-4AF3-924A-F499AB0146F7}" type="presParOf" srcId="{EF3ADF22-3923-4BA7-8ED5-631933DE008B}" destId="{7C8CB0F8-06F1-4D7D-9545-BF72A25B2D09}" srcOrd="0" destOrd="0" presId="urn:microsoft.com/office/officeart/2005/8/layout/hierarchy1"/>
    <dgm:cxn modelId="{394C05FC-E7B2-4AF9-A560-A7DFEA0B14AF}" type="presParOf" srcId="{7C8CB0F8-06F1-4D7D-9545-BF72A25B2D09}" destId="{E95902ED-5C70-4560-BAE4-E860C7858B21}" srcOrd="0" destOrd="0" presId="urn:microsoft.com/office/officeart/2005/8/layout/hierarchy1"/>
    <dgm:cxn modelId="{A1B3AF01-3011-4B7F-A497-0BBED3E1274C}" type="presParOf" srcId="{7C8CB0F8-06F1-4D7D-9545-BF72A25B2D09}" destId="{2EAEACD7-FF08-4953-8346-544E3A056952}" srcOrd="1" destOrd="0" presId="urn:microsoft.com/office/officeart/2005/8/layout/hierarchy1"/>
    <dgm:cxn modelId="{1C68E8D1-2BDC-461C-9F82-0334BDC6380B}" type="presParOf" srcId="{EF3ADF22-3923-4BA7-8ED5-631933DE008B}" destId="{44802CF7-FEA7-4675-9AD4-5448A7C5C245}" srcOrd="1" destOrd="0" presId="urn:microsoft.com/office/officeart/2005/8/layout/hierarchy1"/>
    <dgm:cxn modelId="{AFCA009B-EF7C-4086-863B-7907F65A632C}" type="presParOf" srcId="{EFE33938-C6E0-4E9F-B8E7-8BB75AAFCD09}" destId="{F98ED948-D65A-49D8-BC6B-C05D2BC888F7}" srcOrd="2" destOrd="0" presId="urn:microsoft.com/office/officeart/2005/8/layout/hierarchy1"/>
    <dgm:cxn modelId="{B80B1E78-C72A-4111-9879-20BEB1ACFB03}" type="presParOf" srcId="{F98ED948-D65A-49D8-BC6B-C05D2BC888F7}" destId="{3E73DB0A-1280-4677-9598-BA63F3954DBD}" srcOrd="0" destOrd="0" presId="urn:microsoft.com/office/officeart/2005/8/layout/hierarchy1"/>
    <dgm:cxn modelId="{EE8CD48C-75EA-44DC-81B2-263D76DD1AD6}" type="presParOf" srcId="{3E73DB0A-1280-4677-9598-BA63F3954DBD}" destId="{5B8618C2-0EA9-43CC-9BFD-6FF2F5648792}" srcOrd="0" destOrd="0" presId="urn:microsoft.com/office/officeart/2005/8/layout/hierarchy1"/>
    <dgm:cxn modelId="{2E062A54-E750-40CD-8AA4-045A828B2029}" type="presParOf" srcId="{3E73DB0A-1280-4677-9598-BA63F3954DBD}" destId="{090A2429-F407-4304-B494-888D5DA1E958}" srcOrd="1" destOrd="0" presId="urn:microsoft.com/office/officeart/2005/8/layout/hierarchy1"/>
    <dgm:cxn modelId="{4EBD8301-1C06-4C93-B58B-595653034CC6}" type="presParOf" srcId="{F98ED948-D65A-49D8-BC6B-C05D2BC888F7}" destId="{D5F80C7D-0A02-4B66-8714-1459C78FF36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57EE8A9-FAEC-4005-A863-AF34A9229E9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D21CF95-A6FC-4701-95C8-D53F80087DBB}">
      <dgm:prSet/>
      <dgm:spPr/>
      <dgm:t>
        <a:bodyPr/>
        <a:lstStyle/>
        <a:p>
          <a:r>
            <a:rPr lang="en-US" b="0" i="0" baseline="0"/>
            <a:t>The correlation between BMI and medical charges is </a:t>
          </a:r>
          <a:r>
            <a:rPr lang="en-US" b="1" i="0" baseline="0"/>
            <a:t>around 0.20</a:t>
          </a:r>
          <a:r>
            <a:rPr lang="en-US" b="0" i="0" baseline="0"/>
            <a:t>, which indicates a </a:t>
          </a:r>
          <a:r>
            <a:rPr lang="en-US" b="1" i="0" baseline="0"/>
            <a:t>weak positive relationship</a:t>
          </a:r>
          <a:r>
            <a:rPr lang="en-US" b="0" i="0" baseline="0"/>
            <a:t>. In simple terms, higher BMI is linked to higher medical costs, but the connection isn’t very strong.</a:t>
          </a:r>
          <a:endParaRPr lang="en-US"/>
        </a:p>
      </dgm:t>
    </dgm:pt>
    <dgm:pt modelId="{D7BE4A5D-FC26-414F-AD4C-0E701F4A9751}" type="parTrans" cxnId="{A08C4361-CD94-4C42-9208-477CBEE3A101}">
      <dgm:prSet/>
      <dgm:spPr/>
      <dgm:t>
        <a:bodyPr/>
        <a:lstStyle/>
        <a:p>
          <a:endParaRPr lang="en-US"/>
        </a:p>
      </dgm:t>
    </dgm:pt>
    <dgm:pt modelId="{AF3E95A3-7928-4EC9-AB5E-ED4C13797F68}" type="sibTrans" cxnId="{A08C4361-CD94-4C42-9208-477CBEE3A101}">
      <dgm:prSet/>
      <dgm:spPr/>
      <dgm:t>
        <a:bodyPr/>
        <a:lstStyle/>
        <a:p>
          <a:endParaRPr lang="en-US"/>
        </a:p>
      </dgm:t>
    </dgm:pt>
    <dgm:pt modelId="{CAC2DBF8-8002-47F6-A7C9-0795C77F61A1}">
      <dgm:prSet/>
      <dgm:spPr/>
      <dgm:t>
        <a:bodyPr/>
        <a:lstStyle/>
        <a:p>
          <a:r>
            <a:rPr lang="en-US" b="0" i="0" baseline="0"/>
            <a:t>The scatter plot shows a lot of spread, meaning people with similar BMI values can still have very different medical expenses. This suggests that </a:t>
          </a:r>
          <a:r>
            <a:rPr lang="en-US" b="1" i="0" baseline="0"/>
            <a:t>BMI alone doesn’t fully explain the variations in medical costs</a:t>
          </a:r>
          <a:r>
            <a:rPr lang="en-US" b="0" i="0" baseline="0"/>
            <a:t>.</a:t>
          </a:r>
          <a:endParaRPr lang="en-US"/>
        </a:p>
      </dgm:t>
    </dgm:pt>
    <dgm:pt modelId="{15AC06C5-0440-49E4-A5AA-B4CAA2C81A25}" type="parTrans" cxnId="{8FA46D55-D091-439D-9CF3-6F61C2BE889F}">
      <dgm:prSet/>
      <dgm:spPr/>
      <dgm:t>
        <a:bodyPr/>
        <a:lstStyle/>
        <a:p>
          <a:endParaRPr lang="en-US"/>
        </a:p>
      </dgm:t>
    </dgm:pt>
    <dgm:pt modelId="{D3E8A4B3-EA7A-4A9F-98D4-52077F22B419}" type="sibTrans" cxnId="{8FA46D55-D091-439D-9CF3-6F61C2BE889F}">
      <dgm:prSet/>
      <dgm:spPr/>
      <dgm:t>
        <a:bodyPr/>
        <a:lstStyle/>
        <a:p>
          <a:endParaRPr lang="en-US"/>
        </a:p>
      </dgm:t>
    </dgm:pt>
    <dgm:pt modelId="{3BF82760-CC38-4B16-A229-8363B822D3C7}">
      <dgm:prSet/>
      <dgm:spPr/>
      <dgm:t>
        <a:bodyPr/>
        <a:lstStyle/>
        <a:p>
          <a:r>
            <a:rPr lang="en-US" b="0" i="0" baseline="0"/>
            <a:t>Other factors—especially </a:t>
          </a:r>
          <a:r>
            <a:rPr lang="en-US" b="1" i="0" baseline="0"/>
            <a:t>smoking status</a:t>
          </a:r>
          <a:r>
            <a:rPr lang="en-US" b="0" i="0" baseline="0"/>
            <a:t> and in some cases </a:t>
          </a:r>
          <a:r>
            <a:rPr lang="en-US" b="1" i="0" baseline="0"/>
            <a:t>regional differences</a:t>
          </a:r>
          <a:r>
            <a:rPr lang="en-US" b="0" i="0" baseline="0"/>
            <a:t>—seem to have a much stronger influence on healthcare spending than BMI does.</a:t>
          </a:r>
          <a:endParaRPr lang="en-US"/>
        </a:p>
      </dgm:t>
    </dgm:pt>
    <dgm:pt modelId="{03F6E9D0-B981-4A40-BFE1-916E56824296}" type="parTrans" cxnId="{8BBCAB89-542A-4FB2-B4B1-08FB48BF2289}">
      <dgm:prSet/>
      <dgm:spPr/>
      <dgm:t>
        <a:bodyPr/>
        <a:lstStyle/>
        <a:p>
          <a:endParaRPr lang="en-US"/>
        </a:p>
      </dgm:t>
    </dgm:pt>
    <dgm:pt modelId="{430C3009-FFB3-41AF-9983-F828888F1921}" type="sibTrans" cxnId="{8BBCAB89-542A-4FB2-B4B1-08FB48BF2289}">
      <dgm:prSet/>
      <dgm:spPr/>
      <dgm:t>
        <a:bodyPr/>
        <a:lstStyle/>
        <a:p>
          <a:endParaRPr lang="en-US"/>
        </a:p>
      </dgm:t>
    </dgm:pt>
    <dgm:pt modelId="{9087ED60-E52A-4A2B-A33D-427B00ECBCBD}" type="pres">
      <dgm:prSet presAssocID="{057EE8A9-FAEC-4005-A863-AF34A9229E9D}" presName="vert0" presStyleCnt="0">
        <dgm:presLayoutVars>
          <dgm:dir/>
          <dgm:animOne val="branch"/>
          <dgm:animLvl val="lvl"/>
        </dgm:presLayoutVars>
      </dgm:prSet>
      <dgm:spPr/>
    </dgm:pt>
    <dgm:pt modelId="{AD3C7D59-D9E5-4695-8053-B6B97AF0BBD0}" type="pres">
      <dgm:prSet presAssocID="{CD21CF95-A6FC-4701-95C8-D53F80087DBB}" presName="thickLine" presStyleLbl="alignNode1" presStyleIdx="0" presStyleCnt="3"/>
      <dgm:spPr/>
    </dgm:pt>
    <dgm:pt modelId="{2DD3C69F-8925-4F29-A482-4192256DC45F}" type="pres">
      <dgm:prSet presAssocID="{CD21CF95-A6FC-4701-95C8-D53F80087DBB}" presName="horz1" presStyleCnt="0"/>
      <dgm:spPr/>
    </dgm:pt>
    <dgm:pt modelId="{BA2FFB12-579B-4BA9-97C3-360606BE36B4}" type="pres">
      <dgm:prSet presAssocID="{CD21CF95-A6FC-4701-95C8-D53F80087DBB}" presName="tx1" presStyleLbl="revTx" presStyleIdx="0" presStyleCnt="3"/>
      <dgm:spPr/>
    </dgm:pt>
    <dgm:pt modelId="{B0AAA2E5-0D22-421C-9FB3-C3CA226A5E8E}" type="pres">
      <dgm:prSet presAssocID="{CD21CF95-A6FC-4701-95C8-D53F80087DBB}" presName="vert1" presStyleCnt="0"/>
      <dgm:spPr/>
    </dgm:pt>
    <dgm:pt modelId="{8DD4ECC6-8E62-4031-BCAE-9F4CDE4419B2}" type="pres">
      <dgm:prSet presAssocID="{CAC2DBF8-8002-47F6-A7C9-0795C77F61A1}" presName="thickLine" presStyleLbl="alignNode1" presStyleIdx="1" presStyleCnt="3"/>
      <dgm:spPr/>
    </dgm:pt>
    <dgm:pt modelId="{2981A461-ED23-4FF0-A7FA-E6E8B646A0B0}" type="pres">
      <dgm:prSet presAssocID="{CAC2DBF8-8002-47F6-A7C9-0795C77F61A1}" presName="horz1" presStyleCnt="0"/>
      <dgm:spPr/>
    </dgm:pt>
    <dgm:pt modelId="{5ED53E87-D4E3-46F6-A96F-5835213AD570}" type="pres">
      <dgm:prSet presAssocID="{CAC2DBF8-8002-47F6-A7C9-0795C77F61A1}" presName="tx1" presStyleLbl="revTx" presStyleIdx="1" presStyleCnt="3"/>
      <dgm:spPr/>
    </dgm:pt>
    <dgm:pt modelId="{943D4B8C-DB51-4C2C-A5D0-ACFAB7C061D5}" type="pres">
      <dgm:prSet presAssocID="{CAC2DBF8-8002-47F6-A7C9-0795C77F61A1}" presName="vert1" presStyleCnt="0"/>
      <dgm:spPr/>
    </dgm:pt>
    <dgm:pt modelId="{727B1695-6A2F-452B-86A3-726CEA6F138D}" type="pres">
      <dgm:prSet presAssocID="{3BF82760-CC38-4B16-A229-8363B822D3C7}" presName="thickLine" presStyleLbl="alignNode1" presStyleIdx="2" presStyleCnt="3"/>
      <dgm:spPr/>
    </dgm:pt>
    <dgm:pt modelId="{D222986D-0B41-4B9B-B678-4C8898FA02ED}" type="pres">
      <dgm:prSet presAssocID="{3BF82760-CC38-4B16-A229-8363B822D3C7}" presName="horz1" presStyleCnt="0"/>
      <dgm:spPr/>
    </dgm:pt>
    <dgm:pt modelId="{37CE2600-C9D5-4FD1-98E5-496397328CB1}" type="pres">
      <dgm:prSet presAssocID="{3BF82760-CC38-4B16-A229-8363B822D3C7}" presName="tx1" presStyleLbl="revTx" presStyleIdx="2" presStyleCnt="3"/>
      <dgm:spPr/>
    </dgm:pt>
    <dgm:pt modelId="{6157D45E-26B2-40F7-A792-66A5F38662BF}" type="pres">
      <dgm:prSet presAssocID="{3BF82760-CC38-4B16-A229-8363B822D3C7}" presName="vert1" presStyleCnt="0"/>
      <dgm:spPr/>
    </dgm:pt>
  </dgm:ptLst>
  <dgm:cxnLst>
    <dgm:cxn modelId="{500A5B16-D3B6-494C-9501-529194F3DB0C}" type="presOf" srcId="{CD21CF95-A6FC-4701-95C8-D53F80087DBB}" destId="{BA2FFB12-579B-4BA9-97C3-360606BE36B4}" srcOrd="0" destOrd="0" presId="urn:microsoft.com/office/officeart/2008/layout/LinedList"/>
    <dgm:cxn modelId="{A08C4361-CD94-4C42-9208-477CBEE3A101}" srcId="{057EE8A9-FAEC-4005-A863-AF34A9229E9D}" destId="{CD21CF95-A6FC-4701-95C8-D53F80087DBB}" srcOrd="0" destOrd="0" parTransId="{D7BE4A5D-FC26-414F-AD4C-0E701F4A9751}" sibTransId="{AF3E95A3-7928-4EC9-AB5E-ED4C13797F68}"/>
    <dgm:cxn modelId="{8FA46D55-D091-439D-9CF3-6F61C2BE889F}" srcId="{057EE8A9-FAEC-4005-A863-AF34A9229E9D}" destId="{CAC2DBF8-8002-47F6-A7C9-0795C77F61A1}" srcOrd="1" destOrd="0" parTransId="{15AC06C5-0440-49E4-A5AA-B4CAA2C81A25}" sibTransId="{D3E8A4B3-EA7A-4A9F-98D4-52077F22B419}"/>
    <dgm:cxn modelId="{0762A181-2160-470A-A212-F9C680F590BD}" type="presOf" srcId="{3BF82760-CC38-4B16-A229-8363B822D3C7}" destId="{37CE2600-C9D5-4FD1-98E5-496397328CB1}" srcOrd="0" destOrd="0" presId="urn:microsoft.com/office/officeart/2008/layout/LinedList"/>
    <dgm:cxn modelId="{8BBCAB89-542A-4FB2-B4B1-08FB48BF2289}" srcId="{057EE8A9-FAEC-4005-A863-AF34A9229E9D}" destId="{3BF82760-CC38-4B16-A229-8363B822D3C7}" srcOrd="2" destOrd="0" parTransId="{03F6E9D0-B981-4A40-BFE1-916E56824296}" sibTransId="{430C3009-FFB3-41AF-9983-F828888F1921}"/>
    <dgm:cxn modelId="{A24841E7-E983-430B-A7D0-D12B53D5CE6A}" type="presOf" srcId="{CAC2DBF8-8002-47F6-A7C9-0795C77F61A1}" destId="{5ED53E87-D4E3-46F6-A96F-5835213AD570}" srcOrd="0" destOrd="0" presId="urn:microsoft.com/office/officeart/2008/layout/LinedList"/>
    <dgm:cxn modelId="{F89403EA-63A6-4E9B-B3F4-81847586AA1F}" type="presOf" srcId="{057EE8A9-FAEC-4005-A863-AF34A9229E9D}" destId="{9087ED60-E52A-4A2B-A33D-427B00ECBCBD}" srcOrd="0" destOrd="0" presId="urn:microsoft.com/office/officeart/2008/layout/LinedList"/>
    <dgm:cxn modelId="{0CC4426B-D3FE-43C0-95D9-14D3659855D6}" type="presParOf" srcId="{9087ED60-E52A-4A2B-A33D-427B00ECBCBD}" destId="{AD3C7D59-D9E5-4695-8053-B6B97AF0BBD0}" srcOrd="0" destOrd="0" presId="urn:microsoft.com/office/officeart/2008/layout/LinedList"/>
    <dgm:cxn modelId="{DC09F839-7EC9-490C-93C3-774B25C07DD9}" type="presParOf" srcId="{9087ED60-E52A-4A2B-A33D-427B00ECBCBD}" destId="{2DD3C69F-8925-4F29-A482-4192256DC45F}" srcOrd="1" destOrd="0" presId="urn:microsoft.com/office/officeart/2008/layout/LinedList"/>
    <dgm:cxn modelId="{F0160E28-821A-4964-8F55-F03CA603C4DF}" type="presParOf" srcId="{2DD3C69F-8925-4F29-A482-4192256DC45F}" destId="{BA2FFB12-579B-4BA9-97C3-360606BE36B4}" srcOrd="0" destOrd="0" presId="urn:microsoft.com/office/officeart/2008/layout/LinedList"/>
    <dgm:cxn modelId="{96539295-700C-4A73-8F0C-E2644EC6D658}" type="presParOf" srcId="{2DD3C69F-8925-4F29-A482-4192256DC45F}" destId="{B0AAA2E5-0D22-421C-9FB3-C3CA226A5E8E}" srcOrd="1" destOrd="0" presId="urn:microsoft.com/office/officeart/2008/layout/LinedList"/>
    <dgm:cxn modelId="{A3D96A84-F44F-42A2-B273-571B9EE1290C}" type="presParOf" srcId="{9087ED60-E52A-4A2B-A33D-427B00ECBCBD}" destId="{8DD4ECC6-8E62-4031-BCAE-9F4CDE4419B2}" srcOrd="2" destOrd="0" presId="urn:microsoft.com/office/officeart/2008/layout/LinedList"/>
    <dgm:cxn modelId="{3F4310A7-C6D8-40EE-AE0F-8BECBEA43E7D}" type="presParOf" srcId="{9087ED60-E52A-4A2B-A33D-427B00ECBCBD}" destId="{2981A461-ED23-4FF0-A7FA-E6E8B646A0B0}" srcOrd="3" destOrd="0" presId="urn:microsoft.com/office/officeart/2008/layout/LinedList"/>
    <dgm:cxn modelId="{8E073A47-499E-4531-A136-FD36D42F2B11}" type="presParOf" srcId="{2981A461-ED23-4FF0-A7FA-E6E8B646A0B0}" destId="{5ED53E87-D4E3-46F6-A96F-5835213AD570}" srcOrd="0" destOrd="0" presId="urn:microsoft.com/office/officeart/2008/layout/LinedList"/>
    <dgm:cxn modelId="{52DBEB68-A8B3-4C7A-909C-F3B72C0D0D3E}" type="presParOf" srcId="{2981A461-ED23-4FF0-A7FA-E6E8B646A0B0}" destId="{943D4B8C-DB51-4C2C-A5D0-ACFAB7C061D5}" srcOrd="1" destOrd="0" presId="urn:microsoft.com/office/officeart/2008/layout/LinedList"/>
    <dgm:cxn modelId="{C079558B-DA7F-4437-91B1-B64FE504CC30}" type="presParOf" srcId="{9087ED60-E52A-4A2B-A33D-427B00ECBCBD}" destId="{727B1695-6A2F-452B-86A3-726CEA6F138D}" srcOrd="4" destOrd="0" presId="urn:microsoft.com/office/officeart/2008/layout/LinedList"/>
    <dgm:cxn modelId="{E6E73966-E1C5-410D-B366-6E0D22999B67}" type="presParOf" srcId="{9087ED60-E52A-4A2B-A33D-427B00ECBCBD}" destId="{D222986D-0B41-4B9B-B678-4C8898FA02ED}" srcOrd="5" destOrd="0" presId="urn:microsoft.com/office/officeart/2008/layout/LinedList"/>
    <dgm:cxn modelId="{C2DB05CB-1D4A-4A4F-8B09-0F835DD08D00}" type="presParOf" srcId="{D222986D-0B41-4B9B-B678-4C8898FA02ED}" destId="{37CE2600-C9D5-4FD1-98E5-496397328CB1}" srcOrd="0" destOrd="0" presId="urn:microsoft.com/office/officeart/2008/layout/LinedList"/>
    <dgm:cxn modelId="{0604106B-C724-4C06-B40B-F6777A7FB744}" type="presParOf" srcId="{D222986D-0B41-4B9B-B678-4C8898FA02ED}" destId="{6157D45E-26B2-40F7-A792-66A5F38662B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7AFF709-9935-450C-BA09-26F5CEC4C16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DD1EC7C-E485-4345-ADF9-408E6314522D}">
      <dgm:prSet/>
      <dgm:spPr/>
      <dgm:t>
        <a:bodyPr/>
        <a:lstStyle/>
        <a:p>
          <a:r>
            <a:rPr lang="en-US" b="0" i="0" baseline="0"/>
            <a:t>Across every region, </a:t>
          </a:r>
          <a:r>
            <a:rPr lang="en-US" b="1" i="0" baseline="0"/>
            <a:t>smokers consistently have much higher medical charges</a:t>
          </a:r>
          <a:r>
            <a:rPr lang="en-US" b="0" i="0" baseline="0"/>
            <a:t> compared to non-smokers. The pattern is strong and very clear in the chart.</a:t>
          </a:r>
          <a:endParaRPr lang="en-US"/>
        </a:p>
      </dgm:t>
    </dgm:pt>
    <dgm:pt modelId="{525C81E0-CC65-4B26-B0EE-2CD104551F66}" type="parTrans" cxnId="{909CDAD0-8DA9-476F-89A6-FFC3F347588A}">
      <dgm:prSet/>
      <dgm:spPr/>
      <dgm:t>
        <a:bodyPr/>
        <a:lstStyle/>
        <a:p>
          <a:endParaRPr lang="en-US"/>
        </a:p>
      </dgm:t>
    </dgm:pt>
    <dgm:pt modelId="{7FE31ABC-93E1-414A-8507-40BC3C423466}" type="sibTrans" cxnId="{909CDAD0-8DA9-476F-89A6-FFC3F347588A}">
      <dgm:prSet/>
      <dgm:spPr/>
      <dgm:t>
        <a:bodyPr/>
        <a:lstStyle/>
        <a:p>
          <a:endParaRPr lang="en-US"/>
        </a:p>
      </dgm:t>
    </dgm:pt>
    <dgm:pt modelId="{5A482BD7-D13E-46AD-A388-D1B1B4F906C6}">
      <dgm:prSet/>
      <dgm:spPr/>
      <dgm:t>
        <a:bodyPr/>
        <a:lstStyle/>
        <a:p>
          <a:r>
            <a:rPr lang="en-US" b="0" i="0" baseline="0"/>
            <a:t>Among all regions, the </a:t>
          </a:r>
          <a:r>
            <a:rPr lang="en-US" b="1" i="0" baseline="0"/>
            <a:t>Southeast shows the highest average medical cost for smokers</a:t>
          </a:r>
          <a:r>
            <a:rPr lang="en-US" b="0" i="0" baseline="0"/>
            <a:t>, at around </a:t>
          </a:r>
          <a:r>
            <a:rPr lang="en-US" b="1" i="0" baseline="0"/>
            <a:t>₹34,845</a:t>
          </a:r>
          <a:r>
            <a:rPr lang="en-US" b="0" i="0" baseline="0"/>
            <a:t>. This suggests that smoking-related health issues may be more severe or more expensive to treat in this region.</a:t>
          </a:r>
          <a:endParaRPr lang="en-US"/>
        </a:p>
      </dgm:t>
    </dgm:pt>
    <dgm:pt modelId="{60EA4A27-7537-4E7D-AE4E-72EBD11A7B9B}" type="parTrans" cxnId="{D9F1FB80-E2BE-4F9A-A2D7-F4B208C99F42}">
      <dgm:prSet/>
      <dgm:spPr/>
      <dgm:t>
        <a:bodyPr/>
        <a:lstStyle/>
        <a:p>
          <a:endParaRPr lang="en-US"/>
        </a:p>
      </dgm:t>
    </dgm:pt>
    <dgm:pt modelId="{CE209692-400A-46AB-A656-3687C7778024}" type="sibTrans" cxnId="{D9F1FB80-E2BE-4F9A-A2D7-F4B208C99F42}">
      <dgm:prSet/>
      <dgm:spPr/>
      <dgm:t>
        <a:bodyPr/>
        <a:lstStyle/>
        <a:p>
          <a:endParaRPr lang="en-US"/>
        </a:p>
      </dgm:t>
    </dgm:pt>
    <dgm:pt modelId="{F804AB96-1F03-4BB6-8133-E43FD8F1892D}">
      <dgm:prSet/>
      <dgm:spPr/>
      <dgm:t>
        <a:bodyPr/>
        <a:lstStyle/>
        <a:p>
          <a:r>
            <a:rPr lang="en-US" b="0" i="0" baseline="0"/>
            <a:t>Non-smokers, on the other hand, show </a:t>
          </a:r>
          <a:r>
            <a:rPr lang="en-US" b="1" i="0" baseline="0"/>
            <a:t>lower and fairly stable costs</a:t>
          </a:r>
          <a:r>
            <a:rPr lang="en-US" b="0" i="0" baseline="0"/>
            <a:t> across all regions, with only small differences between them.</a:t>
          </a:r>
          <a:endParaRPr lang="en-US"/>
        </a:p>
      </dgm:t>
    </dgm:pt>
    <dgm:pt modelId="{63B3A399-A943-48E8-A072-1AAB93F6B8FC}" type="parTrans" cxnId="{1E21896D-FCC6-48F9-B053-5D5881D88B57}">
      <dgm:prSet/>
      <dgm:spPr/>
      <dgm:t>
        <a:bodyPr/>
        <a:lstStyle/>
        <a:p>
          <a:endParaRPr lang="en-US"/>
        </a:p>
      </dgm:t>
    </dgm:pt>
    <dgm:pt modelId="{706A91B8-993A-49AD-9EB3-ACC529FD4BD0}" type="sibTrans" cxnId="{1E21896D-FCC6-48F9-B053-5D5881D88B57}">
      <dgm:prSet/>
      <dgm:spPr/>
      <dgm:t>
        <a:bodyPr/>
        <a:lstStyle/>
        <a:p>
          <a:endParaRPr lang="en-US"/>
        </a:p>
      </dgm:t>
    </dgm:pt>
    <dgm:pt modelId="{47B33A49-F2CD-49BC-A4BE-1E0E300F7178}">
      <dgm:prSet/>
      <dgm:spPr/>
      <dgm:t>
        <a:bodyPr/>
        <a:lstStyle/>
        <a:p>
          <a:r>
            <a:rPr lang="en-US" b="0" i="0" baseline="0"/>
            <a:t>Overall, the chart highlights that </a:t>
          </a:r>
          <a:r>
            <a:rPr lang="en-US" b="1" i="0" baseline="0"/>
            <a:t>smoking dramatically increases medical expenses</a:t>
          </a:r>
          <a:r>
            <a:rPr lang="en-US" b="0" i="0" baseline="0"/>
            <a:t>, and the effect becomes even more pronounced in certain regions—especially the Southeast.</a:t>
          </a:r>
          <a:endParaRPr lang="en-US"/>
        </a:p>
      </dgm:t>
    </dgm:pt>
    <dgm:pt modelId="{89C5BDBA-3F62-4F4A-984D-6BA997B8F35E}" type="parTrans" cxnId="{1C5628A7-6B7E-489F-9563-D025237C9674}">
      <dgm:prSet/>
      <dgm:spPr/>
      <dgm:t>
        <a:bodyPr/>
        <a:lstStyle/>
        <a:p>
          <a:endParaRPr lang="en-US"/>
        </a:p>
      </dgm:t>
    </dgm:pt>
    <dgm:pt modelId="{C57FEAC9-17AC-4321-80ED-C3CAF3005097}" type="sibTrans" cxnId="{1C5628A7-6B7E-489F-9563-D025237C9674}">
      <dgm:prSet/>
      <dgm:spPr/>
      <dgm:t>
        <a:bodyPr/>
        <a:lstStyle/>
        <a:p>
          <a:endParaRPr lang="en-US"/>
        </a:p>
      </dgm:t>
    </dgm:pt>
    <dgm:pt modelId="{52A1AEA5-48D6-476A-BA88-702F6E3FE8D5}" type="pres">
      <dgm:prSet presAssocID="{C7AFF709-9935-450C-BA09-26F5CEC4C16E}" presName="vert0" presStyleCnt="0">
        <dgm:presLayoutVars>
          <dgm:dir/>
          <dgm:animOne val="branch"/>
          <dgm:animLvl val="lvl"/>
        </dgm:presLayoutVars>
      </dgm:prSet>
      <dgm:spPr/>
    </dgm:pt>
    <dgm:pt modelId="{97D0424B-AF75-4B0E-A55D-CC0154497662}" type="pres">
      <dgm:prSet presAssocID="{7DD1EC7C-E485-4345-ADF9-408E6314522D}" presName="thickLine" presStyleLbl="alignNode1" presStyleIdx="0" presStyleCnt="4"/>
      <dgm:spPr/>
    </dgm:pt>
    <dgm:pt modelId="{C5C9BEFA-E97F-4E7E-8013-A8B07470C562}" type="pres">
      <dgm:prSet presAssocID="{7DD1EC7C-E485-4345-ADF9-408E6314522D}" presName="horz1" presStyleCnt="0"/>
      <dgm:spPr/>
    </dgm:pt>
    <dgm:pt modelId="{A3E5FF3A-FE7A-492B-85A1-AB340D90A524}" type="pres">
      <dgm:prSet presAssocID="{7DD1EC7C-E485-4345-ADF9-408E6314522D}" presName="tx1" presStyleLbl="revTx" presStyleIdx="0" presStyleCnt="4"/>
      <dgm:spPr/>
    </dgm:pt>
    <dgm:pt modelId="{2C371078-CFEC-4C91-BEEF-0624C3195609}" type="pres">
      <dgm:prSet presAssocID="{7DD1EC7C-E485-4345-ADF9-408E6314522D}" presName="vert1" presStyleCnt="0"/>
      <dgm:spPr/>
    </dgm:pt>
    <dgm:pt modelId="{CC8759E0-F441-4B02-8B35-CD9B3FC27E86}" type="pres">
      <dgm:prSet presAssocID="{5A482BD7-D13E-46AD-A388-D1B1B4F906C6}" presName="thickLine" presStyleLbl="alignNode1" presStyleIdx="1" presStyleCnt="4"/>
      <dgm:spPr/>
    </dgm:pt>
    <dgm:pt modelId="{5F372ACE-84B3-4843-ACA7-44F1A61819F5}" type="pres">
      <dgm:prSet presAssocID="{5A482BD7-D13E-46AD-A388-D1B1B4F906C6}" presName="horz1" presStyleCnt="0"/>
      <dgm:spPr/>
    </dgm:pt>
    <dgm:pt modelId="{C64C88E9-41AF-42EC-988E-70112D635EE9}" type="pres">
      <dgm:prSet presAssocID="{5A482BD7-D13E-46AD-A388-D1B1B4F906C6}" presName="tx1" presStyleLbl="revTx" presStyleIdx="1" presStyleCnt="4"/>
      <dgm:spPr/>
    </dgm:pt>
    <dgm:pt modelId="{01CEC5EF-4E42-402A-9DCD-ADA669723719}" type="pres">
      <dgm:prSet presAssocID="{5A482BD7-D13E-46AD-A388-D1B1B4F906C6}" presName="vert1" presStyleCnt="0"/>
      <dgm:spPr/>
    </dgm:pt>
    <dgm:pt modelId="{B8490006-4C40-44EF-8ABB-2AF32FFC343F}" type="pres">
      <dgm:prSet presAssocID="{F804AB96-1F03-4BB6-8133-E43FD8F1892D}" presName="thickLine" presStyleLbl="alignNode1" presStyleIdx="2" presStyleCnt="4"/>
      <dgm:spPr/>
    </dgm:pt>
    <dgm:pt modelId="{2F1DB4FE-DB0C-4551-811A-97A044EE104C}" type="pres">
      <dgm:prSet presAssocID="{F804AB96-1F03-4BB6-8133-E43FD8F1892D}" presName="horz1" presStyleCnt="0"/>
      <dgm:spPr/>
    </dgm:pt>
    <dgm:pt modelId="{C3923A53-5F28-4F5D-8152-B18F02E20A5E}" type="pres">
      <dgm:prSet presAssocID="{F804AB96-1F03-4BB6-8133-E43FD8F1892D}" presName="tx1" presStyleLbl="revTx" presStyleIdx="2" presStyleCnt="4"/>
      <dgm:spPr/>
    </dgm:pt>
    <dgm:pt modelId="{DA16551A-4FA8-438D-8F60-60B9FDFB65EE}" type="pres">
      <dgm:prSet presAssocID="{F804AB96-1F03-4BB6-8133-E43FD8F1892D}" presName="vert1" presStyleCnt="0"/>
      <dgm:spPr/>
    </dgm:pt>
    <dgm:pt modelId="{9C76DB30-7F00-4578-A7DB-36D3245BE51D}" type="pres">
      <dgm:prSet presAssocID="{47B33A49-F2CD-49BC-A4BE-1E0E300F7178}" presName="thickLine" presStyleLbl="alignNode1" presStyleIdx="3" presStyleCnt="4"/>
      <dgm:spPr/>
    </dgm:pt>
    <dgm:pt modelId="{A5B5C0AB-9DA5-4A24-A491-2B4AF0C45713}" type="pres">
      <dgm:prSet presAssocID="{47B33A49-F2CD-49BC-A4BE-1E0E300F7178}" presName="horz1" presStyleCnt="0"/>
      <dgm:spPr/>
    </dgm:pt>
    <dgm:pt modelId="{BFDCAE25-742C-4F7A-AF91-AA5FB1E15D96}" type="pres">
      <dgm:prSet presAssocID="{47B33A49-F2CD-49BC-A4BE-1E0E300F7178}" presName="tx1" presStyleLbl="revTx" presStyleIdx="3" presStyleCnt="4"/>
      <dgm:spPr/>
    </dgm:pt>
    <dgm:pt modelId="{BC443C94-5CB9-4262-93B4-14609E50756B}" type="pres">
      <dgm:prSet presAssocID="{47B33A49-F2CD-49BC-A4BE-1E0E300F7178}" presName="vert1" presStyleCnt="0"/>
      <dgm:spPr/>
    </dgm:pt>
  </dgm:ptLst>
  <dgm:cxnLst>
    <dgm:cxn modelId="{1E21896D-FCC6-48F9-B053-5D5881D88B57}" srcId="{C7AFF709-9935-450C-BA09-26F5CEC4C16E}" destId="{F804AB96-1F03-4BB6-8133-E43FD8F1892D}" srcOrd="2" destOrd="0" parTransId="{63B3A399-A943-48E8-A072-1AAB93F6B8FC}" sibTransId="{706A91B8-993A-49AD-9EB3-ACC529FD4BD0}"/>
    <dgm:cxn modelId="{2E048B79-DE6A-4F28-8857-6C824FEC4114}" type="presOf" srcId="{7DD1EC7C-E485-4345-ADF9-408E6314522D}" destId="{A3E5FF3A-FE7A-492B-85A1-AB340D90A524}" srcOrd="0" destOrd="0" presId="urn:microsoft.com/office/officeart/2008/layout/LinedList"/>
    <dgm:cxn modelId="{4FB46580-A2B7-4983-A9C6-865110BD6376}" type="presOf" srcId="{47B33A49-F2CD-49BC-A4BE-1E0E300F7178}" destId="{BFDCAE25-742C-4F7A-AF91-AA5FB1E15D96}" srcOrd="0" destOrd="0" presId="urn:microsoft.com/office/officeart/2008/layout/LinedList"/>
    <dgm:cxn modelId="{D9F1FB80-E2BE-4F9A-A2D7-F4B208C99F42}" srcId="{C7AFF709-9935-450C-BA09-26F5CEC4C16E}" destId="{5A482BD7-D13E-46AD-A388-D1B1B4F906C6}" srcOrd="1" destOrd="0" parTransId="{60EA4A27-7537-4E7D-AE4E-72EBD11A7B9B}" sibTransId="{CE209692-400A-46AB-A656-3687C7778024}"/>
    <dgm:cxn modelId="{70FDFB97-0E71-4537-ABDC-A5640F4AE13C}" type="presOf" srcId="{5A482BD7-D13E-46AD-A388-D1B1B4F906C6}" destId="{C64C88E9-41AF-42EC-988E-70112D635EE9}" srcOrd="0" destOrd="0" presId="urn:microsoft.com/office/officeart/2008/layout/LinedList"/>
    <dgm:cxn modelId="{1C5628A7-6B7E-489F-9563-D025237C9674}" srcId="{C7AFF709-9935-450C-BA09-26F5CEC4C16E}" destId="{47B33A49-F2CD-49BC-A4BE-1E0E300F7178}" srcOrd="3" destOrd="0" parTransId="{89C5BDBA-3F62-4F4A-984D-6BA997B8F35E}" sibTransId="{C57FEAC9-17AC-4321-80ED-C3CAF3005097}"/>
    <dgm:cxn modelId="{4C1670CB-034B-4FC3-94CC-336E1BF37E17}" type="presOf" srcId="{C7AFF709-9935-450C-BA09-26F5CEC4C16E}" destId="{52A1AEA5-48D6-476A-BA88-702F6E3FE8D5}" srcOrd="0" destOrd="0" presId="urn:microsoft.com/office/officeart/2008/layout/LinedList"/>
    <dgm:cxn modelId="{909CDAD0-8DA9-476F-89A6-FFC3F347588A}" srcId="{C7AFF709-9935-450C-BA09-26F5CEC4C16E}" destId="{7DD1EC7C-E485-4345-ADF9-408E6314522D}" srcOrd="0" destOrd="0" parTransId="{525C81E0-CC65-4B26-B0EE-2CD104551F66}" sibTransId="{7FE31ABC-93E1-414A-8507-40BC3C423466}"/>
    <dgm:cxn modelId="{BF6A71DA-211D-4BA8-A082-2B13F3464776}" type="presOf" srcId="{F804AB96-1F03-4BB6-8133-E43FD8F1892D}" destId="{C3923A53-5F28-4F5D-8152-B18F02E20A5E}" srcOrd="0" destOrd="0" presId="urn:microsoft.com/office/officeart/2008/layout/LinedList"/>
    <dgm:cxn modelId="{D5BECA33-B378-4127-9A47-4E17D72AF24B}" type="presParOf" srcId="{52A1AEA5-48D6-476A-BA88-702F6E3FE8D5}" destId="{97D0424B-AF75-4B0E-A55D-CC0154497662}" srcOrd="0" destOrd="0" presId="urn:microsoft.com/office/officeart/2008/layout/LinedList"/>
    <dgm:cxn modelId="{D8F11983-4A94-4A31-8A22-2900EDDCC6B1}" type="presParOf" srcId="{52A1AEA5-48D6-476A-BA88-702F6E3FE8D5}" destId="{C5C9BEFA-E97F-4E7E-8013-A8B07470C562}" srcOrd="1" destOrd="0" presId="urn:microsoft.com/office/officeart/2008/layout/LinedList"/>
    <dgm:cxn modelId="{83AE56B0-1DB9-498C-B07B-23725508AFD6}" type="presParOf" srcId="{C5C9BEFA-E97F-4E7E-8013-A8B07470C562}" destId="{A3E5FF3A-FE7A-492B-85A1-AB340D90A524}" srcOrd="0" destOrd="0" presId="urn:microsoft.com/office/officeart/2008/layout/LinedList"/>
    <dgm:cxn modelId="{88DA78B5-CBBE-4FB0-91F3-33DA857366F9}" type="presParOf" srcId="{C5C9BEFA-E97F-4E7E-8013-A8B07470C562}" destId="{2C371078-CFEC-4C91-BEEF-0624C3195609}" srcOrd="1" destOrd="0" presId="urn:microsoft.com/office/officeart/2008/layout/LinedList"/>
    <dgm:cxn modelId="{C657D834-64D5-4F3F-A5FB-361FD9BEE7B3}" type="presParOf" srcId="{52A1AEA5-48D6-476A-BA88-702F6E3FE8D5}" destId="{CC8759E0-F441-4B02-8B35-CD9B3FC27E86}" srcOrd="2" destOrd="0" presId="urn:microsoft.com/office/officeart/2008/layout/LinedList"/>
    <dgm:cxn modelId="{F1379B25-7E1C-48DB-8F53-DCA3125C9646}" type="presParOf" srcId="{52A1AEA5-48D6-476A-BA88-702F6E3FE8D5}" destId="{5F372ACE-84B3-4843-ACA7-44F1A61819F5}" srcOrd="3" destOrd="0" presId="urn:microsoft.com/office/officeart/2008/layout/LinedList"/>
    <dgm:cxn modelId="{1D0B4610-815D-4C56-9AFF-92B8A80FCEAD}" type="presParOf" srcId="{5F372ACE-84B3-4843-ACA7-44F1A61819F5}" destId="{C64C88E9-41AF-42EC-988E-70112D635EE9}" srcOrd="0" destOrd="0" presId="urn:microsoft.com/office/officeart/2008/layout/LinedList"/>
    <dgm:cxn modelId="{3A5D578D-CC9B-4D0A-AB6D-1A79FD0E7DBA}" type="presParOf" srcId="{5F372ACE-84B3-4843-ACA7-44F1A61819F5}" destId="{01CEC5EF-4E42-402A-9DCD-ADA669723719}" srcOrd="1" destOrd="0" presId="urn:microsoft.com/office/officeart/2008/layout/LinedList"/>
    <dgm:cxn modelId="{3D009D67-9785-42C6-8E25-41C27CE0D58A}" type="presParOf" srcId="{52A1AEA5-48D6-476A-BA88-702F6E3FE8D5}" destId="{B8490006-4C40-44EF-8ABB-2AF32FFC343F}" srcOrd="4" destOrd="0" presId="urn:microsoft.com/office/officeart/2008/layout/LinedList"/>
    <dgm:cxn modelId="{5C47E10C-5C8E-4255-8636-ACA4B33FE53C}" type="presParOf" srcId="{52A1AEA5-48D6-476A-BA88-702F6E3FE8D5}" destId="{2F1DB4FE-DB0C-4551-811A-97A044EE104C}" srcOrd="5" destOrd="0" presId="urn:microsoft.com/office/officeart/2008/layout/LinedList"/>
    <dgm:cxn modelId="{1073FD52-C074-4992-9ABE-F30DF1755B87}" type="presParOf" srcId="{2F1DB4FE-DB0C-4551-811A-97A044EE104C}" destId="{C3923A53-5F28-4F5D-8152-B18F02E20A5E}" srcOrd="0" destOrd="0" presId="urn:microsoft.com/office/officeart/2008/layout/LinedList"/>
    <dgm:cxn modelId="{9CDADFE4-F5F6-4F7E-AEEB-78DA7F6B313E}" type="presParOf" srcId="{2F1DB4FE-DB0C-4551-811A-97A044EE104C}" destId="{DA16551A-4FA8-438D-8F60-60B9FDFB65EE}" srcOrd="1" destOrd="0" presId="urn:microsoft.com/office/officeart/2008/layout/LinedList"/>
    <dgm:cxn modelId="{6CF725A8-234D-4EA7-A410-36AAFFC358C9}" type="presParOf" srcId="{52A1AEA5-48D6-476A-BA88-702F6E3FE8D5}" destId="{9C76DB30-7F00-4578-A7DB-36D3245BE51D}" srcOrd="6" destOrd="0" presId="urn:microsoft.com/office/officeart/2008/layout/LinedList"/>
    <dgm:cxn modelId="{A06BC758-648C-4442-8F9B-6C59C529A5A5}" type="presParOf" srcId="{52A1AEA5-48D6-476A-BA88-702F6E3FE8D5}" destId="{A5B5C0AB-9DA5-4A24-A491-2B4AF0C45713}" srcOrd="7" destOrd="0" presId="urn:microsoft.com/office/officeart/2008/layout/LinedList"/>
    <dgm:cxn modelId="{E49C88F0-B537-48F3-A650-EEE7B06E8ECB}" type="presParOf" srcId="{A5B5C0AB-9DA5-4A24-A491-2B4AF0C45713}" destId="{BFDCAE25-742C-4F7A-AF91-AA5FB1E15D96}" srcOrd="0" destOrd="0" presId="urn:microsoft.com/office/officeart/2008/layout/LinedList"/>
    <dgm:cxn modelId="{B08EC35D-EAAA-4383-88F0-53471A03227D}" type="presParOf" srcId="{A5B5C0AB-9DA5-4A24-A491-2B4AF0C45713}" destId="{BC443C94-5CB9-4262-93B4-14609E50756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396BC9-526E-40F9-ABE3-E1DC8A030CD3}"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DEDB9C92-D1A8-4171-A3D8-65B650710DD4}">
      <dgm:prSet/>
      <dgm:spPr/>
      <dgm:t>
        <a:bodyPr/>
        <a:lstStyle/>
        <a:p>
          <a:r>
            <a:rPr lang="en-US"/>
            <a:t>The dashboard highlights three key metrics upfront:</a:t>
          </a:r>
          <a:br>
            <a:rPr lang="en-US"/>
          </a:br>
          <a:r>
            <a:rPr lang="en-US" b="1"/>
            <a:t>Average medical charges are ₹13,270</a:t>
          </a:r>
          <a:r>
            <a:rPr lang="en-US"/>
            <a:t>, the </a:t>
          </a:r>
          <a:r>
            <a:rPr lang="en-US" b="1"/>
            <a:t>average BMI is 30.66</a:t>
          </a:r>
          <a:r>
            <a:rPr lang="en-US"/>
            <a:t>, and </a:t>
          </a:r>
          <a:r>
            <a:rPr lang="en-US" b="1"/>
            <a:t>around 20% of the population are smokers</a:t>
          </a:r>
          <a:r>
            <a:rPr lang="en-US"/>
            <a:t>. These values help set the overall context of the dataset.</a:t>
          </a:r>
        </a:p>
      </dgm:t>
    </dgm:pt>
    <dgm:pt modelId="{99C0E7FE-FE32-4C09-A822-1B52AD8081FC}" type="parTrans" cxnId="{BD99EA9C-E8ED-4E85-B5B9-3323A8C106FF}">
      <dgm:prSet/>
      <dgm:spPr/>
      <dgm:t>
        <a:bodyPr/>
        <a:lstStyle/>
        <a:p>
          <a:endParaRPr lang="en-US"/>
        </a:p>
      </dgm:t>
    </dgm:pt>
    <dgm:pt modelId="{D3C16A65-EB08-40A4-8CE2-5B416DA8C459}" type="sibTrans" cxnId="{BD99EA9C-E8ED-4E85-B5B9-3323A8C106FF}">
      <dgm:prSet/>
      <dgm:spPr/>
      <dgm:t>
        <a:bodyPr/>
        <a:lstStyle/>
        <a:p>
          <a:endParaRPr lang="en-US"/>
        </a:p>
      </dgm:t>
    </dgm:pt>
    <dgm:pt modelId="{4CCE7D68-691F-4327-AB6B-211476D01E13}">
      <dgm:prSet/>
      <dgm:spPr/>
      <dgm:t>
        <a:bodyPr/>
        <a:lstStyle/>
        <a:p>
          <a:r>
            <a:rPr lang="en-US"/>
            <a:t>One of the biggest insights is that </a:t>
          </a:r>
          <a:r>
            <a:rPr lang="en-US" b="1"/>
            <a:t>smokers incur far higher medical expenses</a:t>
          </a:r>
          <a:r>
            <a:rPr lang="en-US"/>
            <a:t>. On average, smokers pay </a:t>
          </a:r>
          <a:r>
            <a:rPr lang="en-US" b="1"/>
            <a:t>₹32,050</a:t>
          </a:r>
          <a:r>
            <a:rPr lang="en-US"/>
            <a:t>, whereas non-smokers pay only </a:t>
          </a:r>
          <a:r>
            <a:rPr lang="en-US" b="1"/>
            <a:t>₹8,434</a:t>
          </a:r>
          <a:r>
            <a:rPr lang="en-US"/>
            <a:t> — roughly </a:t>
          </a:r>
          <a:r>
            <a:rPr lang="en-US" b="1"/>
            <a:t>4× difference</a:t>
          </a:r>
          <a:r>
            <a:rPr lang="en-US"/>
            <a:t>, making smoking the strongest driver of medical costs.</a:t>
          </a:r>
        </a:p>
      </dgm:t>
    </dgm:pt>
    <dgm:pt modelId="{F5AA6502-6C32-4383-9A89-D519FE79DACA}" type="parTrans" cxnId="{6BBCD26F-380E-4A07-8171-C2B46A032F48}">
      <dgm:prSet/>
      <dgm:spPr/>
      <dgm:t>
        <a:bodyPr/>
        <a:lstStyle/>
        <a:p>
          <a:endParaRPr lang="en-US"/>
        </a:p>
      </dgm:t>
    </dgm:pt>
    <dgm:pt modelId="{A2DCA008-B3C6-41BC-BF89-8024F8336BCA}" type="sibTrans" cxnId="{6BBCD26F-380E-4A07-8171-C2B46A032F48}">
      <dgm:prSet/>
      <dgm:spPr/>
      <dgm:t>
        <a:bodyPr/>
        <a:lstStyle/>
        <a:p>
          <a:endParaRPr lang="en-US"/>
        </a:p>
      </dgm:t>
    </dgm:pt>
    <dgm:pt modelId="{A5A62DAA-F48A-4DAA-AC17-C4FC7CD7088C}">
      <dgm:prSet/>
      <dgm:spPr/>
      <dgm:t>
        <a:bodyPr/>
        <a:lstStyle/>
        <a:p>
          <a:r>
            <a:rPr lang="en-US"/>
            <a:t>Regional filters show that the </a:t>
          </a:r>
          <a:r>
            <a:rPr lang="en-US" b="1"/>
            <a:t>Southeast region records the highest medical charges</a:t>
          </a:r>
          <a:r>
            <a:rPr lang="en-US"/>
            <a:t>, with an average of </a:t>
          </a:r>
          <a:r>
            <a:rPr lang="en-US" b="1"/>
            <a:t>₹14,735</a:t>
          </a:r>
          <a:r>
            <a:rPr lang="en-US"/>
            <a:t>, along with the </a:t>
          </a:r>
          <a:r>
            <a:rPr lang="en-US" b="1"/>
            <a:t>highest BMI (33.36)</a:t>
          </a:r>
          <a:r>
            <a:rPr lang="en-US"/>
            <a:t>. This indicates that this region faces more health risks than others.</a:t>
          </a:r>
        </a:p>
      </dgm:t>
    </dgm:pt>
    <dgm:pt modelId="{0E51AE4E-1ECA-4A14-89B8-B007A9140FB8}" type="parTrans" cxnId="{23CC9C73-0835-4F8F-B963-4284247034E4}">
      <dgm:prSet/>
      <dgm:spPr/>
      <dgm:t>
        <a:bodyPr/>
        <a:lstStyle/>
        <a:p>
          <a:endParaRPr lang="en-US"/>
        </a:p>
      </dgm:t>
    </dgm:pt>
    <dgm:pt modelId="{7347DB35-2D93-4FAA-BBCA-CB34DD9E82BD}" type="sibTrans" cxnId="{23CC9C73-0835-4F8F-B963-4284247034E4}">
      <dgm:prSet/>
      <dgm:spPr/>
      <dgm:t>
        <a:bodyPr/>
        <a:lstStyle/>
        <a:p>
          <a:endParaRPr lang="en-US"/>
        </a:p>
      </dgm:t>
    </dgm:pt>
    <dgm:pt modelId="{301B3382-2318-4E90-B516-EEF5F695FAC9}">
      <dgm:prSet/>
      <dgm:spPr/>
      <dgm:t>
        <a:bodyPr/>
        <a:lstStyle/>
        <a:p>
          <a:r>
            <a:rPr lang="en-US"/>
            <a:t>Looking at BMI categories, </a:t>
          </a:r>
          <a:r>
            <a:rPr lang="en-US" b="1"/>
            <a:t>53% of individuals fall into the obese group</a:t>
          </a:r>
          <a:r>
            <a:rPr lang="en-US"/>
            <a:t>, followed by </a:t>
          </a:r>
          <a:r>
            <a:rPr lang="en-US" b="1"/>
            <a:t>29% overweight</a:t>
          </a:r>
          <a:r>
            <a:rPr lang="en-US"/>
            <a:t>. This means more than </a:t>
          </a:r>
          <a:r>
            <a:rPr lang="en-US" b="1"/>
            <a:t>80% of the population is above the normal BMI range</a:t>
          </a:r>
          <a:r>
            <a:rPr lang="en-US"/>
            <a:t>, which directly connects to higher medical spending.</a:t>
          </a:r>
        </a:p>
      </dgm:t>
    </dgm:pt>
    <dgm:pt modelId="{C76ABB14-CB48-4B08-B51A-69BF0A699BB3}" type="parTrans" cxnId="{ACF2BD52-C8DD-47A3-9307-ED4E4D440EC1}">
      <dgm:prSet/>
      <dgm:spPr/>
      <dgm:t>
        <a:bodyPr/>
        <a:lstStyle/>
        <a:p>
          <a:endParaRPr lang="en-US"/>
        </a:p>
      </dgm:t>
    </dgm:pt>
    <dgm:pt modelId="{25658E1F-F33E-4ECC-BACD-D2DEDFE42596}" type="sibTrans" cxnId="{ACF2BD52-C8DD-47A3-9307-ED4E4D440EC1}">
      <dgm:prSet/>
      <dgm:spPr/>
      <dgm:t>
        <a:bodyPr/>
        <a:lstStyle/>
        <a:p>
          <a:endParaRPr lang="en-US"/>
        </a:p>
      </dgm:t>
    </dgm:pt>
    <dgm:pt modelId="{2BFA8310-138D-4DED-9A20-205AF50B6A86}">
      <dgm:prSet/>
      <dgm:spPr/>
      <dgm:t>
        <a:bodyPr/>
        <a:lstStyle/>
        <a:p>
          <a:r>
            <a:rPr lang="en-US"/>
            <a:t>Gender filters reveal that </a:t>
          </a:r>
          <a:r>
            <a:rPr lang="en-US" b="1"/>
            <a:t>males have slightly higher medical charges</a:t>
          </a:r>
          <a:r>
            <a:rPr lang="en-US"/>
            <a:t> (₹13,956) than females (₹12,569), and they also show a slightly higher average BMI (30.94 vs. 30.38).</a:t>
          </a:r>
        </a:p>
      </dgm:t>
    </dgm:pt>
    <dgm:pt modelId="{7331E0F1-B082-487E-9ECF-622842DC1630}" type="parTrans" cxnId="{88C240E1-9A51-497F-BF03-463630EED155}">
      <dgm:prSet/>
      <dgm:spPr/>
      <dgm:t>
        <a:bodyPr/>
        <a:lstStyle/>
        <a:p>
          <a:endParaRPr lang="en-US"/>
        </a:p>
      </dgm:t>
    </dgm:pt>
    <dgm:pt modelId="{21C2822B-C9F8-46EF-AD9D-E1B239B52D0B}" type="sibTrans" cxnId="{88C240E1-9A51-497F-BF03-463630EED155}">
      <dgm:prSet/>
      <dgm:spPr/>
      <dgm:t>
        <a:bodyPr/>
        <a:lstStyle/>
        <a:p>
          <a:endParaRPr lang="en-US"/>
        </a:p>
      </dgm:t>
    </dgm:pt>
    <dgm:pt modelId="{286B4931-1548-42E2-980F-E670128FA7F4}">
      <dgm:prSet/>
      <dgm:spPr/>
      <dgm:t>
        <a:bodyPr/>
        <a:lstStyle/>
        <a:p>
          <a:r>
            <a:rPr lang="en-US"/>
            <a:t>Overall, the dashboard gives a clear picture of the major cost-driving patterns:</a:t>
          </a:r>
          <a:br>
            <a:rPr lang="en-US"/>
          </a:br>
          <a:r>
            <a:rPr lang="en-US" b="1"/>
            <a:t>smokers pay the most, the Southeast has the highest risk profile, and obese individuals form the most expensive BMI segment.</a:t>
          </a:r>
          <a:endParaRPr lang="en-US"/>
        </a:p>
      </dgm:t>
    </dgm:pt>
    <dgm:pt modelId="{E009D65B-39BC-45FD-A80D-4F8601E5740E}" type="parTrans" cxnId="{54538A7F-502F-44E4-9661-9906ACED1B02}">
      <dgm:prSet/>
      <dgm:spPr/>
      <dgm:t>
        <a:bodyPr/>
        <a:lstStyle/>
        <a:p>
          <a:endParaRPr lang="en-US"/>
        </a:p>
      </dgm:t>
    </dgm:pt>
    <dgm:pt modelId="{B7C369C3-93C1-4449-A168-ED2359D45E95}" type="sibTrans" cxnId="{54538A7F-502F-44E4-9661-9906ACED1B02}">
      <dgm:prSet/>
      <dgm:spPr/>
      <dgm:t>
        <a:bodyPr/>
        <a:lstStyle/>
        <a:p>
          <a:endParaRPr lang="en-US"/>
        </a:p>
      </dgm:t>
    </dgm:pt>
    <dgm:pt modelId="{6C3A27C2-49D3-4CC3-A667-3B7C36522F6A}" type="pres">
      <dgm:prSet presAssocID="{3D396BC9-526E-40F9-ABE3-E1DC8A030CD3}" presName="diagram" presStyleCnt="0">
        <dgm:presLayoutVars>
          <dgm:dir/>
          <dgm:resizeHandles val="exact"/>
        </dgm:presLayoutVars>
      </dgm:prSet>
      <dgm:spPr/>
    </dgm:pt>
    <dgm:pt modelId="{57CF2B7E-19D4-4777-8D22-FD84259FE5EE}" type="pres">
      <dgm:prSet presAssocID="{DEDB9C92-D1A8-4171-A3D8-65B650710DD4}" presName="node" presStyleLbl="node1" presStyleIdx="0" presStyleCnt="6">
        <dgm:presLayoutVars>
          <dgm:bulletEnabled val="1"/>
        </dgm:presLayoutVars>
      </dgm:prSet>
      <dgm:spPr/>
    </dgm:pt>
    <dgm:pt modelId="{9B549112-2425-4A54-9CDF-6F4BC4577CC3}" type="pres">
      <dgm:prSet presAssocID="{D3C16A65-EB08-40A4-8CE2-5B416DA8C459}" presName="sibTrans" presStyleCnt="0"/>
      <dgm:spPr/>
    </dgm:pt>
    <dgm:pt modelId="{44BE2894-2D98-4A35-957B-8EA9F70E08C9}" type="pres">
      <dgm:prSet presAssocID="{4CCE7D68-691F-4327-AB6B-211476D01E13}" presName="node" presStyleLbl="node1" presStyleIdx="1" presStyleCnt="6">
        <dgm:presLayoutVars>
          <dgm:bulletEnabled val="1"/>
        </dgm:presLayoutVars>
      </dgm:prSet>
      <dgm:spPr/>
    </dgm:pt>
    <dgm:pt modelId="{3B278F5E-8789-41A5-81FC-9C9E11ECE403}" type="pres">
      <dgm:prSet presAssocID="{A2DCA008-B3C6-41BC-BF89-8024F8336BCA}" presName="sibTrans" presStyleCnt="0"/>
      <dgm:spPr/>
    </dgm:pt>
    <dgm:pt modelId="{8611D89B-6439-46ED-8C90-F91E5AE171E2}" type="pres">
      <dgm:prSet presAssocID="{A5A62DAA-F48A-4DAA-AC17-C4FC7CD7088C}" presName="node" presStyleLbl="node1" presStyleIdx="2" presStyleCnt="6">
        <dgm:presLayoutVars>
          <dgm:bulletEnabled val="1"/>
        </dgm:presLayoutVars>
      </dgm:prSet>
      <dgm:spPr/>
    </dgm:pt>
    <dgm:pt modelId="{A59E25C4-68DA-46F4-8D8F-DCFB3746B5A8}" type="pres">
      <dgm:prSet presAssocID="{7347DB35-2D93-4FAA-BBCA-CB34DD9E82BD}" presName="sibTrans" presStyleCnt="0"/>
      <dgm:spPr/>
    </dgm:pt>
    <dgm:pt modelId="{33595F2A-F8A7-4CDD-BD16-004FEE484707}" type="pres">
      <dgm:prSet presAssocID="{301B3382-2318-4E90-B516-EEF5F695FAC9}" presName="node" presStyleLbl="node1" presStyleIdx="3" presStyleCnt="6">
        <dgm:presLayoutVars>
          <dgm:bulletEnabled val="1"/>
        </dgm:presLayoutVars>
      </dgm:prSet>
      <dgm:spPr/>
    </dgm:pt>
    <dgm:pt modelId="{B603BC33-9F45-442E-A12E-A54ED145029D}" type="pres">
      <dgm:prSet presAssocID="{25658E1F-F33E-4ECC-BACD-D2DEDFE42596}" presName="sibTrans" presStyleCnt="0"/>
      <dgm:spPr/>
    </dgm:pt>
    <dgm:pt modelId="{4FD77A53-91B3-4138-AB6D-5D81A7E2717E}" type="pres">
      <dgm:prSet presAssocID="{2BFA8310-138D-4DED-9A20-205AF50B6A86}" presName="node" presStyleLbl="node1" presStyleIdx="4" presStyleCnt="6">
        <dgm:presLayoutVars>
          <dgm:bulletEnabled val="1"/>
        </dgm:presLayoutVars>
      </dgm:prSet>
      <dgm:spPr/>
    </dgm:pt>
    <dgm:pt modelId="{373B2F74-DF25-4734-B0CD-E1E9D883E4CA}" type="pres">
      <dgm:prSet presAssocID="{21C2822B-C9F8-46EF-AD9D-E1B239B52D0B}" presName="sibTrans" presStyleCnt="0"/>
      <dgm:spPr/>
    </dgm:pt>
    <dgm:pt modelId="{2112D012-A55A-45D4-BB38-E2EEB4D5C2BF}" type="pres">
      <dgm:prSet presAssocID="{286B4931-1548-42E2-980F-E670128FA7F4}" presName="node" presStyleLbl="node1" presStyleIdx="5" presStyleCnt="6">
        <dgm:presLayoutVars>
          <dgm:bulletEnabled val="1"/>
        </dgm:presLayoutVars>
      </dgm:prSet>
      <dgm:spPr/>
    </dgm:pt>
  </dgm:ptLst>
  <dgm:cxnLst>
    <dgm:cxn modelId="{DF16123B-99C1-4B6D-A27D-388F77D87641}" type="presOf" srcId="{4CCE7D68-691F-4327-AB6B-211476D01E13}" destId="{44BE2894-2D98-4A35-957B-8EA9F70E08C9}" srcOrd="0" destOrd="0" presId="urn:microsoft.com/office/officeart/2005/8/layout/default"/>
    <dgm:cxn modelId="{6BBCD26F-380E-4A07-8171-C2B46A032F48}" srcId="{3D396BC9-526E-40F9-ABE3-E1DC8A030CD3}" destId="{4CCE7D68-691F-4327-AB6B-211476D01E13}" srcOrd="1" destOrd="0" parTransId="{F5AA6502-6C32-4383-9A89-D519FE79DACA}" sibTransId="{A2DCA008-B3C6-41BC-BF89-8024F8336BCA}"/>
    <dgm:cxn modelId="{ACF2BD52-C8DD-47A3-9307-ED4E4D440EC1}" srcId="{3D396BC9-526E-40F9-ABE3-E1DC8A030CD3}" destId="{301B3382-2318-4E90-B516-EEF5F695FAC9}" srcOrd="3" destOrd="0" parTransId="{C76ABB14-CB48-4B08-B51A-69BF0A699BB3}" sibTransId="{25658E1F-F33E-4ECC-BACD-D2DEDFE42596}"/>
    <dgm:cxn modelId="{23CC9C73-0835-4F8F-B963-4284247034E4}" srcId="{3D396BC9-526E-40F9-ABE3-E1DC8A030CD3}" destId="{A5A62DAA-F48A-4DAA-AC17-C4FC7CD7088C}" srcOrd="2" destOrd="0" parTransId="{0E51AE4E-1ECA-4A14-89B8-B007A9140FB8}" sibTransId="{7347DB35-2D93-4FAA-BBCA-CB34DD9E82BD}"/>
    <dgm:cxn modelId="{8269C259-5165-45BF-96D6-B07FBD13C92E}" type="presOf" srcId="{2BFA8310-138D-4DED-9A20-205AF50B6A86}" destId="{4FD77A53-91B3-4138-AB6D-5D81A7E2717E}" srcOrd="0" destOrd="0" presId="urn:microsoft.com/office/officeart/2005/8/layout/default"/>
    <dgm:cxn modelId="{54538A7F-502F-44E4-9661-9906ACED1B02}" srcId="{3D396BC9-526E-40F9-ABE3-E1DC8A030CD3}" destId="{286B4931-1548-42E2-980F-E670128FA7F4}" srcOrd="5" destOrd="0" parTransId="{E009D65B-39BC-45FD-A80D-4F8601E5740E}" sibTransId="{B7C369C3-93C1-4449-A168-ED2359D45E95}"/>
    <dgm:cxn modelId="{92A40D96-B71E-4124-ABF4-EB455BFAA82A}" type="presOf" srcId="{301B3382-2318-4E90-B516-EEF5F695FAC9}" destId="{33595F2A-F8A7-4CDD-BD16-004FEE484707}" srcOrd="0" destOrd="0" presId="urn:microsoft.com/office/officeart/2005/8/layout/default"/>
    <dgm:cxn modelId="{BD99EA9C-E8ED-4E85-B5B9-3323A8C106FF}" srcId="{3D396BC9-526E-40F9-ABE3-E1DC8A030CD3}" destId="{DEDB9C92-D1A8-4171-A3D8-65B650710DD4}" srcOrd="0" destOrd="0" parTransId="{99C0E7FE-FE32-4C09-A822-1B52AD8081FC}" sibTransId="{D3C16A65-EB08-40A4-8CE2-5B416DA8C459}"/>
    <dgm:cxn modelId="{65C153C2-01AA-4941-9461-105ABE413B5D}" type="presOf" srcId="{286B4931-1548-42E2-980F-E670128FA7F4}" destId="{2112D012-A55A-45D4-BB38-E2EEB4D5C2BF}" srcOrd="0" destOrd="0" presId="urn:microsoft.com/office/officeart/2005/8/layout/default"/>
    <dgm:cxn modelId="{692188D0-DFA2-4715-9DF5-33B2259DC511}" type="presOf" srcId="{3D396BC9-526E-40F9-ABE3-E1DC8A030CD3}" destId="{6C3A27C2-49D3-4CC3-A667-3B7C36522F6A}" srcOrd="0" destOrd="0" presId="urn:microsoft.com/office/officeart/2005/8/layout/default"/>
    <dgm:cxn modelId="{017328DC-20FA-4A9D-BC0A-3D49F140E910}" type="presOf" srcId="{DEDB9C92-D1A8-4171-A3D8-65B650710DD4}" destId="{57CF2B7E-19D4-4777-8D22-FD84259FE5EE}" srcOrd="0" destOrd="0" presId="urn:microsoft.com/office/officeart/2005/8/layout/default"/>
    <dgm:cxn modelId="{88C240E1-9A51-497F-BF03-463630EED155}" srcId="{3D396BC9-526E-40F9-ABE3-E1DC8A030CD3}" destId="{2BFA8310-138D-4DED-9A20-205AF50B6A86}" srcOrd="4" destOrd="0" parTransId="{7331E0F1-B082-487E-9ECF-622842DC1630}" sibTransId="{21C2822B-C9F8-46EF-AD9D-E1B239B52D0B}"/>
    <dgm:cxn modelId="{D328F4F8-EFE5-4202-8CD8-E2E3A8133600}" type="presOf" srcId="{A5A62DAA-F48A-4DAA-AC17-C4FC7CD7088C}" destId="{8611D89B-6439-46ED-8C90-F91E5AE171E2}" srcOrd="0" destOrd="0" presId="urn:microsoft.com/office/officeart/2005/8/layout/default"/>
    <dgm:cxn modelId="{49B56869-FB1B-47CD-A117-C0662605ABE3}" type="presParOf" srcId="{6C3A27C2-49D3-4CC3-A667-3B7C36522F6A}" destId="{57CF2B7E-19D4-4777-8D22-FD84259FE5EE}" srcOrd="0" destOrd="0" presId="urn:microsoft.com/office/officeart/2005/8/layout/default"/>
    <dgm:cxn modelId="{1772FD59-8DDF-4D44-A7BA-E552F8D4638E}" type="presParOf" srcId="{6C3A27C2-49D3-4CC3-A667-3B7C36522F6A}" destId="{9B549112-2425-4A54-9CDF-6F4BC4577CC3}" srcOrd="1" destOrd="0" presId="urn:microsoft.com/office/officeart/2005/8/layout/default"/>
    <dgm:cxn modelId="{7BC84B9C-9432-4A4B-B8E2-D191132B4371}" type="presParOf" srcId="{6C3A27C2-49D3-4CC3-A667-3B7C36522F6A}" destId="{44BE2894-2D98-4A35-957B-8EA9F70E08C9}" srcOrd="2" destOrd="0" presId="urn:microsoft.com/office/officeart/2005/8/layout/default"/>
    <dgm:cxn modelId="{F45B643F-67B4-4791-8E1A-2B9183EA154F}" type="presParOf" srcId="{6C3A27C2-49D3-4CC3-A667-3B7C36522F6A}" destId="{3B278F5E-8789-41A5-81FC-9C9E11ECE403}" srcOrd="3" destOrd="0" presId="urn:microsoft.com/office/officeart/2005/8/layout/default"/>
    <dgm:cxn modelId="{95C9C000-7488-4A8A-AA0F-F50BCF2CCA69}" type="presParOf" srcId="{6C3A27C2-49D3-4CC3-A667-3B7C36522F6A}" destId="{8611D89B-6439-46ED-8C90-F91E5AE171E2}" srcOrd="4" destOrd="0" presId="urn:microsoft.com/office/officeart/2005/8/layout/default"/>
    <dgm:cxn modelId="{8120A03D-9CEF-4AE0-B764-D074DBF67700}" type="presParOf" srcId="{6C3A27C2-49D3-4CC3-A667-3B7C36522F6A}" destId="{A59E25C4-68DA-46F4-8D8F-DCFB3746B5A8}" srcOrd="5" destOrd="0" presId="urn:microsoft.com/office/officeart/2005/8/layout/default"/>
    <dgm:cxn modelId="{47664AC0-68D9-485D-ACF5-0CC3E7C64EA1}" type="presParOf" srcId="{6C3A27C2-49D3-4CC3-A667-3B7C36522F6A}" destId="{33595F2A-F8A7-4CDD-BD16-004FEE484707}" srcOrd="6" destOrd="0" presId="urn:microsoft.com/office/officeart/2005/8/layout/default"/>
    <dgm:cxn modelId="{FD04819A-A0B5-4A39-B75A-4D8CE43FEF73}" type="presParOf" srcId="{6C3A27C2-49D3-4CC3-A667-3B7C36522F6A}" destId="{B603BC33-9F45-442E-A12E-A54ED145029D}" srcOrd="7" destOrd="0" presId="urn:microsoft.com/office/officeart/2005/8/layout/default"/>
    <dgm:cxn modelId="{E1AAF1DD-D158-4109-8FBB-F06DA875873D}" type="presParOf" srcId="{6C3A27C2-49D3-4CC3-A667-3B7C36522F6A}" destId="{4FD77A53-91B3-4138-AB6D-5D81A7E2717E}" srcOrd="8" destOrd="0" presId="urn:microsoft.com/office/officeart/2005/8/layout/default"/>
    <dgm:cxn modelId="{38CD2E86-C1C0-4AC1-B985-D5C967A2532F}" type="presParOf" srcId="{6C3A27C2-49D3-4CC3-A667-3B7C36522F6A}" destId="{373B2F74-DF25-4734-B0CD-E1E9D883E4CA}" srcOrd="9" destOrd="0" presId="urn:microsoft.com/office/officeart/2005/8/layout/default"/>
    <dgm:cxn modelId="{F52DBE15-6173-4F2A-877E-E92751B194BE}" type="presParOf" srcId="{6C3A27C2-49D3-4CC3-A667-3B7C36522F6A}" destId="{2112D012-A55A-45D4-BB38-E2EEB4D5C2BF}"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60F52-B8CD-4403-ABE5-43317D089E4A}">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F6D4A2-8A7B-409D-8B02-65160D56F6FC}">
      <dsp:nvSpPr>
        <dsp:cNvPr id="0" name=""/>
        <dsp:cNvSpPr/>
      </dsp:nvSpPr>
      <dsp:spPr>
        <a:xfrm>
          <a:off x="0" y="0"/>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i="0" kern="1200" baseline="0"/>
            <a:t>Objective:</a:t>
          </a:r>
          <a:r>
            <a:rPr lang="en-US" sz="2200" b="0" i="0" kern="1200" baseline="0"/>
            <a:t> The aim of this project is to understand what factors have the biggest influence on medical costs and identify patterns that explain why some individuals end up paying more than others.</a:t>
          </a:r>
          <a:endParaRPr lang="en-US" sz="2200" kern="1200"/>
        </a:p>
      </dsp:txBody>
      <dsp:txXfrm>
        <a:off x="0" y="0"/>
        <a:ext cx="8229600" cy="1131490"/>
      </dsp:txXfrm>
    </dsp:sp>
    <dsp:sp modelId="{25338F0F-585F-4C93-AE5F-0FE8B7F0C962}">
      <dsp:nvSpPr>
        <dsp:cNvPr id="0" name=""/>
        <dsp:cNvSpPr/>
      </dsp:nvSpPr>
      <dsp:spPr>
        <a:xfrm>
          <a:off x="0" y="113149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9C61C9-6E00-4225-882A-CBD74EDAA962}">
      <dsp:nvSpPr>
        <dsp:cNvPr id="0" name=""/>
        <dsp:cNvSpPr/>
      </dsp:nvSpPr>
      <dsp:spPr>
        <a:xfrm>
          <a:off x="0" y="1131490"/>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i="0" kern="1200" baseline="0"/>
            <a:t>Dataset:</a:t>
          </a:r>
          <a:r>
            <a:rPr lang="en-US" sz="2200" b="0" i="0" kern="1200" baseline="0"/>
            <a:t> The analysis is based on </a:t>
          </a:r>
          <a:r>
            <a:rPr lang="en-US" sz="2200" b="1" i="0" kern="1200" baseline="0"/>
            <a:t>1,338 records</a:t>
          </a:r>
          <a:r>
            <a:rPr lang="en-US" sz="2200" b="0" i="0" kern="1200" baseline="0"/>
            <a:t>, including details such as age, BMI, number of dependents, smoking status, region, and medical charges.</a:t>
          </a:r>
          <a:endParaRPr lang="en-US" sz="2200" kern="1200"/>
        </a:p>
      </dsp:txBody>
      <dsp:txXfrm>
        <a:off x="0" y="1131490"/>
        <a:ext cx="8229600" cy="1131490"/>
      </dsp:txXfrm>
    </dsp:sp>
    <dsp:sp modelId="{D4F6D436-A16A-4BE3-92A6-B4AAC033E123}">
      <dsp:nvSpPr>
        <dsp:cNvPr id="0" name=""/>
        <dsp:cNvSpPr/>
      </dsp:nvSpPr>
      <dsp:spPr>
        <a:xfrm>
          <a:off x="0" y="2262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CA2F92-D737-40AB-8330-C4B3BE00F689}">
      <dsp:nvSpPr>
        <dsp:cNvPr id="0" name=""/>
        <dsp:cNvSpPr/>
      </dsp:nvSpPr>
      <dsp:spPr>
        <a:xfrm>
          <a:off x="0" y="2262981"/>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i="0" kern="1200" baseline="0"/>
            <a:t>Tools Used:</a:t>
          </a:r>
          <a:r>
            <a:rPr lang="en-US" sz="2200" b="0" i="0" kern="1200" baseline="0"/>
            <a:t> The entire study was carried out in </a:t>
          </a:r>
          <a:r>
            <a:rPr lang="en-US" sz="2200" b="1" i="0" kern="1200" baseline="0"/>
            <a:t>Excel</a:t>
          </a:r>
          <a:r>
            <a:rPr lang="en-US" sz="2200" b="0" i="0" kern="1200" baseline="0"/>
            <a:t>, using pivot tables, charts, KPI cards, and an interactive dashboard to explore and visualize the data.</a:t>
          </a:r>
          <a:endParaRPr lang="en-US" sz="2200" kern="1200"/>
        </a:p>
      </dsp:txBody>
      <dsp:txXfrm>
        <a:off x="0" y="2262981"/>
        <a:ext cx="8229600" cy="1131490"/>
      </dsp:txXfrm>
    </dsp:sp>
    <dsp:sp modelId="{064A9546-E3B4-4EFB-BF2C-A37167D61713}">
      <dsp:nvSpPr>
        <dsp:cNvPr id="0" name=""/>
        <dsp:cNvSpPr/>
      </dsp:nvSpPr>
      <dsp:spPr>
        <a:xfrm>
          <a:off x="0" y="3394472"/>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B76712-BF9C-4D9F-895B-1CC18FBB0436}">
      <dsp:nvSpPr>
        <dsp:cNvPr id="0" name=""/>
        <dsp:cNvSpPr/>
      </dsp:nvSpPr>
      <dsp:spPr>
        <a:xfrm>
          <a:off x="0" y="3394472"/>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i="0" kern="1200" baseline="0"/>
            <a:t>Goal:</a:t>
          </a:r>
          <a:r>
            <a:rPr lang="en-US" sz="2200" b="0" i="0" kern="1200" baseline="0"/>
            <a:t> The main goal is to uncover key health and cost trends that can help explain medical expenditure and highlight high-risk groups.</a:t>
          </a:r>
          <a:endParaRPr lang="en-US" sz="2200" kern="1200"/>
        </a:p>
      </dsp:txBody>
      <dsp:txXfrm>
        <a:off x="0" y="3394472"/>
        <a:ext cx="8229600" cy="1131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2C0354-A266-46E5-889E-3E1AEFD4F9AC}">
      <dsp:nvSpPr>
        <dsp:cNvPr id="0" name=""/>
        <dsp:cNvSpPr/>
      </dsp:nvSpPr>
      <dsp:spPr>
        <a:xfrm>
          <a:off x="0" y="1227"/>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E23A9B-EAA2-4FD8-987F-270FE8183C18}">
      <dsp:nvSpPr>
        <dsp:cNvPr id="0" name=""/>
        <dsp:cNvSpPr/>
      </dsp:nvSpPr>
      <dsp:spPr>
        <a:xfrm>
          <a:off x="0" y="1227"/>
          <a:ext cx="82296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a:t>On average, </a:t>
          </a:r>
          <a:r>
            <a:rPr lang="en-US" sz="1600" b="1" i="0" kern="1200" baseline="0"/>
            <a:t>males tend to spend more on medical charges</a:t>
          </a:r>
          <a:r>
            <a:rPr lang="en-US" sz="1600" b="0" i="0" kern="1200" baseline="0"/>
            <a:t> than females. Male beneficiaries have average charges of about </a:t>
          </a:r>
          <a:r>
            <a:rPr lang="en-US" sz="1600" b="1" i="0" kern="1200" baseline="0"/>
            <a:t>₹13,956</a:t>
          </a:r>
          <a:r>
            <a:rPr lang="en-US" sz="1600" b="0" i="0" kern="1200" baseline="0"/>
            <a:t>, while females are around </a:t>
          </a:r>
          <a:r>
            <a:rPr lang="en-US" sz="1600" b="1" i="0" kern="1200" baseline="0"/>
            <a:t>₹12,570</a:t>
          </a:r>
          <a:r>
            <a:rPr lang="en-US" sz="1600" b="0" i="0" kern="1200" baseline="0"/>
            <a:t>. This means men are spending roughly </a:t>
          </a:r>
          <a:r>
            <a:rPr lang="en-US" sz="1600" b="1" i="0" kern="1200" baseline="0"/>
            <a:t>11% more</a:t>
          </a:r>
          <a:r>
            <a:rPr lang="en-US" sz="1600" b="0" i="0" kern="1200" baseline="0"/>
            <a:t>.</a:t>
          </a:r>
          <a:endParaRPr lang="en-US" sz="1600" kern="1200"/>
        </a:p>
      </dsp:txBody>
      <dsp:txXfrm>
        <a:off x="0" y="1227"/>
        <a:ext cx="8229600" cy="837381"/>
      </dsp:txXfrm>
    </dsp:sp>
    <dsp:sp modelId="{D9116CEF-C003-4CBA-A3D6-C8D72A924F74}">
      <dsp:nvSpPr>
        <dsp:cNvPr id="0" name=""/>
        <dsp:cNvSpPr/>
      </dsp:nvSpPr>
      <dsp:spPr>
        <a:xfrm>
          <a:off x="0" y="838609"/>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5090FE-C929-45B1-B8E8-F6D5E8F6680D}">
      <dsp:nvSpPr>
        <dsp:cNvPr id="0" name=""/>
        <dsp:cNvSpPr/>
      </dsp:nvSpPr>
      <dsp:spPr>
        <a:xfrm>
          <a:off x="0" y="838609"/>
          <a:ext cx="82296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a:t>When we look at BMI, </a:t>
          </a:r>
          <a:r>
            <a:rPr lang="en-US" sz="1600" b="1" i="0" kern="1200" baseline="0"/>
            <a:t>males also show a slightly higher average BMI</a:t>
          </a:r>
          <a:r>
            <a:rPr lang="en-US" sz="1600" b="0" i="0" kern="1200" baseline="0"/>
            <a:t> (30.94) compared to females (30.38). The difference isn’t huge, but it does suggest that men in this dataset are marginally heavier on average.</a:t>
          </a:r>
          <a:endParaRPr lang="en-US" sz="1600" kern="1200"/>
        </a:p>
      </dsp:txBody>
      <dsp:txXfrm>
        <a:off x="0" y="838609"/>
        <a:ext cx="8229600" cy="837381"/>
      </dsp:txXfrm>
    </dsp:sp>
    <dsp:sp modelId="{2A756592-575D-4334-B710-233C4DD9650D}">
      <dsp:nvSpPr>
        <dsp:cNvPr id="0" name=""/>
        <dsp:cNvSpPr/>
      </dsp:nvSpPr>
      <dsp:spPr>
        <a:xfrm>
          <a:off x="0" y="167599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4FF5F6-4359-4870-9F4D-53D845179113}">
      <dsp:nvSpPr>
        <dsp:cNvPr id="0" name=""/>
        <dsp:cNvSpPr/>
      </dsp:nvSpPr>
      <dsp:spPr>
        <a:xfrm>
          <a:off x="0" y="1675990"/>
          <a:ext cx="8229600" cy="837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a:t>Overall, </a:t>
          </a:r>
          <a:r>
            <a:rPr lang="en-US" sz="1600" b="1" i="0" kern="1200" baseline="0"/>
            <a:t>gender does play a role</a:t>
          </a:r>
          <a:r>
            <a:rPr lang="en-US" sz="1600" b="0" i="0" kern="1200" baseline="0"/>
            <a:t>, but the impact is </a:t>
          </a:r>
          <a:r>
            <a:rPr lang="en-US" sz="1600" b="1" i="0" kern="1200" baseline="0"/>
            <a:t>moderate</a:t>
          </a:r>
          <a:r>
            <a:rPr lang="en-US" sz="1600" b="0" i="0" kern="1200" baseline="0"/>
            <a:t> rather than extreme. Both costs and BMI differ between men and women, but not drastically.</a:t>
          </a:r>
          <a:endParaRPr lang="en-US" sz="1600" kern="1200"/>
        </a:p>
      </dsp:txBody>
      <dsp:txXfrm>
        <a:off x="0" y="1675990"/>
        <a:ext cx="8229600" cy="8373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961A3F-635E-4BDB-B8E4-E4909346625C}">
      <dsp:nvSpPr>
        <dsp:cNvPr id="0" name=""/>
        <dsp:cNvSpPr/>
      </dsp:nvSpPr>
      <dsp:spPr>
        <a:xfrm>
          <a:off x="0" y="444714"/>
          <a:ext cx="2314575" cy="1469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91D3FD-985B-4A40-82C2-A7A5FCA9AA0F}">
      <dsp:nvSpPr>
        <dsp:cNvPr id="0" name=""/>
        <dsp:cNvSpPr/>
      </dsp:nvSpPr>
      <dsp:spPr>
        <a:xfrm>
          <a:off x="257174" y="689030"/>
          <a:ext cx="2314575" cy="14697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baseline="0"/>
            <a:t>The difference in medical spending between smokers and non-smokers is huge. </a:t>
          </a:r>
          <a:r>
            <a:rPr lang="en-US" sz="1300" b="1" i="0" kern="1200" baseline="0"/>
            <a:t>Smokers spend around ₹32,050 on average</a:t>
          </a:r>
          <a:r>
            <a:rPr lang="en-US" sz="1300" b="0" i="0" kern="1200" baseline="0"/>
            <a:t>, while </a:t>
          </a:r>
          <a:r>
            <a:rPr lang="en-US" sz="1300" b="1" i="0" kern="1200" baseline="0"/>
            <a:t>non-smokers spend roughly ₹8,434</a:t>
          </a:r>
          <a:r>
            <a:rPr lang="en-US" sz="1300" b="0" i="0" kern="1200" baseline="0"/>
            <a:t>.</a:t>
          </a:r>
          <a:endParaRPr lang="en-US" sz="1300" kern="1200"/>
        </a:p>
      </dsp:txBody>
      <dsp:txXfrm>
        <a:off x="300222" y="732078"/>
        <a:ext cx="2228479" cy="1383659"/>
      </dsp:txXfrm>
    </dsp:sp>
    <dsp:sp modelId="{E708B3AF-14E0-4772-A6EF-09DECD30C091}">
      <dsp:nvSpPr>
        <dsp:cNvPr id="0" name=""/>
        <dsp:cNvSpPr/>
      </dsp:nvSpPr>
      <dsp:spPr>
        <a:xfrm>
          <a:off x="2828924" y="444714"/>
          <a:ext cx="2314575" cy="1469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48CB63-1BEA-4986-B6B4-657EB35D1707}">
      <dsp:nvSpPr>
        <dsp:cNvPr id="0" name=""/>
        <dsp:cNvSpPr/>
      </dsp:nvSpPr>
      <dsp:spPr>
        <a:xfrm>
          <a:off x="3086099" y="689030"/>
          <a:ext cx="2314575" cy="14697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baseline="0"/>
            <a:t>This means </a:t>
          </a:r>
          <a:r>
            <a:rPr lang="en-US" sz="1300" b="1" i="0" kern="1200" baseline="0"/>
            <a:t>smokers are paying almost four times more</a:t>
          </a:r>
          <a:r>
            <a:rPr lang="en-US" sz="1300" b="0" i="0" kern="1200" baseline="0"/>
            <a:t> than non-smokers, making smoking one of the </a:t>
          </a:r>
          <a:r>
            <a:rPr lang="en-US" sz="1300" b="1" i="0" kern="1200" baseline="0"/>
            <a:t>strongest factors driving up medical costs</a:t>
          </a:r>
          <a:r>
            <a:rPr lang="en-US" sz="1300" b="0" i="0" kern="1200" baseline="0"/>
            <a:t> in the entire dataset.</a:t>
          </a:r>
          <a:endParaRPr lang="en-US" sz="1300" kern="1200"/>
        </a:p>
      </dsp:txBody>
      <dsp:txXfrm>
        <a:off x="3129147" y="732078"/>
        <a:ext cx="2228479" cy="1383659"/>
      </dsp:txXfrm>
    </dsp:sp>
    <dsp:sp modelId="{F57DECE9-1739-469C-875F-ECA2136C9D1C}">
      <dsp:nvSpPr>
        <dsp:cNvPr id="0" name=""/>
        <dsp:cNvSpPr/>
      </dsp:nvSpPr>
      <dsp:spPr>
        <a:xfrm>
          <a:off x="5657850" y="444714"/>
          <a:ext cx="2314575" cy="1469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9BAC6F-E3DC-46EC-B559-76E15F99C41F}">
      <dsp:nvSpPr>
        <dsp:cNvPr id="0" name=""/>
        <dsp:cNvSpPr/>
      </dsp:nvSpPr>
      <dsp:spPr>
        <a:xfrm>
          <a:off x="5915024" y="689030"/>
          <a:ext cx="2314575" cy="14697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i="0" kern="1200" baseline="0"/>
            <a:t>The numbers clearly show that </a:t>
          </a:r>
          <a:r>
            <a:rPr lang="en-US" sz="1300" b="1" i="0" kern="1200" baseline="0"/>
            <a:t>smoking has a major financial impact</a:t>
          </a:r>
          <a:r>
            <a:rPr lang="en-US" sz="1300" b="0" i="0" kern="1200" baseline="0"/>
            <a:t>, with significantly higher healthcare expenses for individuals who smoke.</a:t>
          </a:r>
          <a:endParaRPr lang="en-US" sz="1300" kern="1200"/>
        </a:p>
      </dsp:txBody>
      <dsp:txXfrm>
        <a:off x="5958072" y="732078"/>
        <a:ext cx="2228479" cy="13836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C8AB5F-DB1C-4B88-AD60-D75ED0C3A189}">
      <dsp:nvSpPr>
        <dsp:cNvPr id="0" name=""/>
        <dsp:cNvSpPr/>
      </dsp:nvSpPr>
      <dsp:spPr>
        <a:xfrm>
          <a:off x="0" y="273"/>
          <a:ext cx="8229600" cy="638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FF1E1A-4820-47B8-88B2-013A218A475C}">
      <dsp:nvSpPr>
        <dsp:cNvPr id="0" name=""/>
        <dsp:cNvSpPr/>
      </dsp:nvSpPr>
      <dsp:spPr>
        <a:xfrm>
          <a:off x="193275" y="144031"/>
          <a:ext cx="351409" cy="3514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588595-876F-4D53-8A68-7464BE83000D}">
      <dsp:nvSpPr>
        <dsp:cNvPr id="0" name=""/>
        <dsp:cNvSpPr/>
      </dsp:nvSpPr>
      <dsp:spPr>
        <a:xfrm>
          <a:off x="737959" y="273"/>
          <a:ext cx="7491640" cy="638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620" tIns="67620" rIns="67620" bIns="67620" numCol="1" spcCol="1270" anchor="ctr" anchorCtr="0">
          <a:noAutofit/>
        </a:bodyPr>
        <a:lstStyle/>
        <a:p>
          <a:pPr marL="0" lvl="0" indent="0" algn="l" defTabSz="711200">
            <a:lnSpc>
              <a:spcPct val="100000"/>
            </a:lnSpc>
            <a:spcBef>
              <a:spcPct val="0"/>
            </a:spcBef>
            <a:spcAft>
              <a:spcPct val="35000"/>
            </a:spcAft>
            <a:buNone/>
          </a:pPr>
          <a:r>
            <a:rPr lang="en-US" sz="1600" b="0" i="0" kern="1200" baseline="0"/>
            <a:t>The correlation between the number of dependents and medical charges is extremely low (</a:t>
          </a:r>
          <a:r>
            <a:rPr lang="en-US" sz="1600" b="1" i="0" kern="1200" baseline="0"/>
            <a:t>around 0.07</a:t>
          </a:r>
          <a:r>
            <a:rPr lang="en-US" sz="1600" b="0" i="0" kern="1200" baseline="0"/>
            <a:t>), which means there is </a:t>
          </a:r>
          <a:r>
            <a:rPr lang="en-US" sz="1600" b="1" i="0" kern="1200" baseline="0"/>
            <a:t>almost no direct relationship</a:t>
          </a:r>
          <a:r>
            <a:rPr lang="en-US" sz="1600" b="0" i="0" kern="1200" baseline="0"/>
            <a:t> between the two.</a:t>
          </a:r>
          <a:endParaRPr lang="en-US" sz="1600" kern="1200"/>
        </a:p>
      </dsp:txBody>
      <dsp:txXfrm>
        <a:off x="737959" y="273"/>
        <a:ext cx="7491640" cy="638925"/>
      </dsp:txXfrm>
    </dsp:sp>
    <dsp:sp modelId="{E9B0C7BD-2E53-4ECF-97FE-3AEBF0FA1FF7}">
      <dsp:nvSpPr>
        <dsp:cNvPr id="0" name=""/>
        <dsp:cNvSpPr/>
      </dsp:nvSpPr>
      <dsp:spPr>
        <a:xfrm>
          <a:off x="0" y="798930"/>
          <a:ext cx="8229600" cy="638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141B9F-F0FE-4AEE-B1B8-48084B4EE52E}">
      <dsp:nvSpPr>
        <dsp:cNvPr id="0" name=""/>
        <dsp:cNvSpPr/>
      </dsp:nvSpPr>
      <dsp:spPr>
        <a:xfrm>
          <a:off x="193275" y="942688"/>
          <a:ext cx="351409" cy="3514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BA7E28-F4F4-4043-9D8F-45914864D3A8}">
      <dsp:nvSpPr>
        <dsp:cNvPr id="0" name=""/>
        <dsp:cNvSpPr/>
      </dsp:nvSpPr>
      <dsp:spPr>
        <a:xfrm>
          <a:off x="737959" y="798930"/>
          <a:ext cx="7491640" cy="638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620" tIns="67620" rIns="67620" bIns="67620" numCol="1" spcCol="1270" anchor="ctr" anchorCtr="0">
          <a:noAutofit/>
        </a:bodyPr>
        <a:lstStyle/>
        <a:p>
          <a:pPr marL="0" lvl="0" indent="0" algn="l" defTabSz="711200">
            <a:lnSpc>
              <a:spcPct val="100000"/>
            </a:lnSpc>
            <a:spcBef>
              <a:spcPct val="0"/>
            </a:spcBef>
            <a:spcAft>
              <a:spcPct val="35000"/>
            </a:spcAft>
            <a:buNone/>
          </a:pPr>
          <a:r>
            <a:rPr lang="en-US" sz="1600" b="0" i="0" kern="1200" baseline="0"/>
            <a:t>In other words, having more children </a:t>
          </a:r>
          <a:r>
            <a:rPr lang="en-US" sz="1600" b="1" i="0" kern="1200" baseline="0"/>
            <a:t>doesn’t necessarily lead to higher medical expenses</a:t>
          </a:r>
          <a:r>
            <a:rPr lang="en-US" sz="1600" b="0" i="0" kern="1200" baseline="0"/>
            <a:t>. The costs remain fairly scattered across all family sizes.</a:t>
          </a:r>
          <a:endParaRPr lang="en-US" sz="1600" kern="1200"/>
        </a:p>
      </dsp:txBody>
      <dsp:txXfrm>
        <a:off x="737959" y="798930"/>
        <a:ext cx="7491640" cy="638925"/>
      </dsp:txXfrm>
    </dsp:sp>
    <dsp:sp modelId="{16D8E382-BA1D-4A7F-82EF-8AEABA8040E1}">
      <dsp:nvSpPr>
        <dsp:cNvPr id="0" name=""/>
        <dsp:cNvSpPr/>
      </dsp:nvSpPr>
      <dsp:spPr>
        <a:xfrm>
          <a:off x="0" y="1597587"/>
          <a:ext cx="8229600" cy="638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40913E-1CD0-4076-A3F5-82A808E709F0}">
      <dsp:nvSpPr>
        <dsp:cNvPr id="0" name=""/>
        <dsp:cNvSpPr/>
      </dsp:nvSpPr>
      <dsp:spPr>
        <a:xfrm>
          <a:off x="193275" y="1741346"/>
          <a:ext cx="351409" cy="3514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8323E0-101F-457A-820C-0A5CDB5E9970}">
      <dsp:nvSpPr>
        <dsp:cNvPr id="0" name=""/>
        <dsp:cNvSpPr/>
      </dsp:nvSpPr>
      <dsp:spPr>
        <a:xfrm>
          <a:off x="737959" y="1597587"/>
          <a:ext cx="7491640" cy="638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620" tIns="67620" rIns="67620" bIns="67620" numCol="1" spcCol="1270" anchor="ctr" anchorCtr="0">
          <a:noAutofit/>
        </a:bodyPr>
        <a:lstStyle/>
        <a:p>
          <a:pPr marL="0" lvl="0" indent="0" algn="l" defTabSz="711200">
            <a:lnSpc>
              <a:spcPct val="100000"/>
            </a:lnSpc>
            <a:spcBef>
              <a:spcPct val="0"/>
            </a:spcBef>
            <a:spcAft>
              <a:spcPct val="35000"/>
            </a:spcAft>
            <a:buNone/>
          </a:pPr>
          <a:r>
            <a:rPr lang="en-US" sz="1600" b="0" i="0" kern="1200" baseline="0"/>
            <a:t>The trendline on the chart is almost flat, reinforcing that </a:t>
          </a:r>
          <a:r>
            <a:rPr lang="en-US" sz="1600" b="1" i="0" kern="1200" baseline="0"/>
            <a:t>larger families do not automatically translate into higher medical bills</a:t>
          </a:r>
          <a:r>
            <a:rPr lang="en-US" sz="1600" b="0" i="0" kern="1200" baseline="0"/>
            <a:t> in this dataset.</a:t>
          </a:r>
          <a:endParaRPr lang="en-US" sz="1600" kern="1200"/>
        </a:p>
      </dsp:txBody>
      <dsp:txXfrm>
        <a:off x="737959" y="1597587"/>
        <a:ext cx="7491640" cy="6389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60F0AD-3F1F-486D-A3DB-20AAF2BC198D}">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40639E-3D95-44FB-9C9B-9B0C11720549}">
      <dsp:nvSpPr>
        <dsp:cNvPr id="0" name=""/>
        <dsp:cNvSpPr/>
      </dsp:nvSpPr>
      <dsp:spPr>
        <a:xfrm>
          <a:off x="0" y="0"/>
          <a:ext cx="8229600" cy="58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baseline="0"/>
            <a:t>The </a:t>
          </a:r>
          <a:r>
            <a:rPr lang="en-US" sz="1500" b="1" i="0" kern="1200" baseline="0"/>
            <a:t>Southeast region stands out with the highest average medical charges</a:t>
          </a:r>
          <a:r>
            <a:rPr lang="en-US" sz="1500" b="0" i="0" kern="1200" baseline="0"/>
            <a:t>, around </a:t>
          </a:r>
          <a:r>
            <a:rPr lang="en-US" sz="1500" b="1" i="0" kern="1200" baseline="0"/>
            <a:t>₹14,735</a:t>
          </a:r>
          <a:r>
            <a:rPr lang="en-US" sz="1500" b="0" i="0" kern="1200" baseline="0"/>
            <a:t>, which makes it the most expensive region in terms of healthcare costs.</a:t>
          </a:r>
          <a:endParaRPr lang="en-US" sz="1500" kern="1200"/>
        </a:p>
      </dsp:txBody>
      <dsp:txXfrm>
        <a:off x="0" y="0"/>
        <a:ext cx="8229600" cy="584993"/>
      </dsp:txXfrm>
    </dsp:sp>
    <dsp:sp modelId="{3085643D-AF4D-4754-97DF-49EE65EF2496}">
      <dsp:nvSpPr>
        <dsp:cNvPr id="0" name=""/>
        <dsp:cNvSpPr/>
      </dsp:nvSpPr>
      <dsp:spPr>
        <a:xfrm>
          <a:off x="0" y="584993"/>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C704DC-3173-49C9-8170-3C244DF081F9}">
      <dsp:nvSpPr>
        <dsp:cNvPr id="0" name=""/>
        <dsp:cNvSpPr/>
      </dsp:nvSpPr>
      <dsp:spPr>
        <a:xfrm>
          <a:off x="0" y="584993"/>
          <a:ext cx="8229600" cy="58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baseline="0"/>
            <a:t>The Southeast also shows the </a:t>
          </a:r>
          <a:r>
            <a:rPr lang="en-US" sz="1500" b="1" i="0" kern="1200" baseline="0"/>
            <a:t>highest average BMI (33.36)</a:t>
          </a:r>
          <a:r>
            <a:rPr lang="en-US" sz="1500" b="0" i="0" kern="1200" baseline="0"/>
            <a:t>, noticeably higher than the other regions. This suggests that people in this region may have a higher prevalence of weight-related health issues.</a:t>
          </a:r>
          <a:endParaRPr lang="en-US" sz="1500" kern="1200"/>
        </a:p>
      </dsp:txBody>
      <dsp:txXfrm>
        <a:off x="0" y="584993"/>
        <a:ext cx="8229600" cy="584993"/>
      </dsp:txXfrm>
    </dsp:sp>
    <dsp:sp modelId="{891E5A5F-9F6F-45AD-A0B1-3ADB9108ADA5}">
      <dsp:nvSpPr>
        <dsp:cNvPr id="0" name=""/>
        <dsp:cNvSpPr/>
      </dsp:nvSpPr>
      <dsp:spPr>
        <a:xfrm>
          <a:off x="0" y="1169987"/>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E208C7-CF67-4C9A-8DE6-913A7F3F3465}">
      <dsp:nvSpPr>
        <dsp:cNvPr id="0" name=""/>
        <dsp:cNvSpPr/>
      </dsp:nvSpPr>
      <dsp:spPr>
        <a:xfrm>
          <a:off x="0" y="1169987"/>
          <a:ext cx="8229600" cy="58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baseline="0"/>
            <a:t>When we put both metrics together, the Southeast clearly appears to be the </a:t>
          </a:r>
          <a:r>
            <a:rPr lang="en-US" sz="1500" b="1" i="0" kern="1200" baseline="0"/>
            <a:t>most health-risk-prone region</a:t>
          </a:r>
          <a:r>
            <a:rPr lang="en-US" sz="1500" b="0" i="0" kern="1200" baseline="0"/>
            <a:t>, as higher BMI often leads to higher medical spending.</a:t>
          </a:r>
          <a:endParaRPr lang="en-US" sz="1500" kern="1200"/>
        </a:p>
      </dsp:txBody>
      <dsp:txXfrm>
        <a:off x="0" y="1169987"/>
        <a:ext cx="8229600" cy="584993"/>
      </dsp:txXfrm>
    </dsp:sp>
    <dsp:sp modelId="{C3353320-2C36-47BE-9499-760F613E6C9F}">
      <dsp:nvSpPr>
        <dsp:cNvPr id="0" name=""/>
        <dsp:cNvSpPr/>
      </dsp:nvSpPr>
      <dsp:spPr>
        <a:xfrm>
          <a:off x="0" y="1754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7F504F-55ED-49B6-9F0D-C8BAFD076AE7}">
      <dsp:nvSpPr>
        <dsp:cNvPr id="0" name=""/>
        <dsp:cNvSpPr/>
      </dsp:nvSpPr>
      <dsp:spPr>
        <a:xfrm>
          <a:off x="0" y="1754981"/>
          <a:ext cx="8229600" cy="58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baseline="0"/>
            <a:t>The other regions—Northeast, Northwest, and Southwest—show lower and relatively similar averages, indicating </a:t>
          </a:r>
          <a:r>
            <a:rPr lang="en-US" sz="1500" b="1" i="0" kern="1200" baseline="0"/>
            <a:t>more stable health and cost patterns</a:t>
          </a:r>
          <a:r>
            <a:rPr lang="en-US" sz="1500" b="0" i="0" kern="1200" baseline="0"/>
            <a:t> compared to the Southeast.</a:t>
          </a:r>
          <a:endParaRPr lang="en-US" sz="1500" kern="1200"/>
        </a:p>
      </dsp:txBody>
      <dsp:txXfrm>
        <a:off x="0" y="1754981"/>
        <a:ext cx="8229600" cy="5849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54E1B0-9A13-46CA-9ED5-528A6E54932C}">
      <dsp:nvSpPr>
        <dsp:cNvPr id="0" name=""/>
        <dsp:cNvSpPr/>
      </dsp:nvSpPr>
      <dsp:spPr>
        <a:xfrm>
          <a:off x="0" y="324064"/>
          <a:ext cx="2314575" cy="1469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753E7C-14BB-444E-902A-DA8A47631F68}">
      <dsp:nvSpPr>
        <dsp:cNvPr id="0" name=""/>
        <dsp:cNvSpPr/>
      </dsp:nvSpPr>
      <dsp:spPr>
        <a:xfrm>
          <a:off x="257174" y="568380"/>
          <a:ext cx="2314575" cy="14697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Most people fall in the </a:t>
          </a:r>
          <a:r>
            <a:rPr lang="en-US" sz="1200" b="1" i="0" kern="1200" baseline="0"/>
            <a:t>₹5,000–₹10,000</a:t>
          </a:r>
          <a:r>
            <a:rPr lang="en-US" sz="1200" b="0" i="0" kern="1200" baseline="0"/>
            <a:t> medical charge range, making it the most common bracket in the dataset.</a:t>
          </a:r>
          <a:endParaRPr lang="en-US" sz="1200" kern="1200"/>
        </a:p>
      </dsp:txBody>
      <dsp:txXfrm>
        <a:off x="300222" y="611428"/>
        <a:ext cx="2228479" cy="1383659"/>
      </dsp:txXfrm>
    </dsp:sp>
    <dsp:sp modelId="{E95902ED-5C70-4560-BAE4-E860C7858B21}">
      <dsp:nvSpPr>
        <dsp:cNvPr id="0" name=""/>
        <dsp:cNvSpPr/>
      </dsp:nvSpPr>
      <dsp:spPr>
        <a:xfrm>
          <a:off x="2828924" y="324064"/>
          <a:ext cx="2314575" cy="1469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AEACD7-FF08-4953-8346-544E3A056952}">
      <dsp:nvSpPr>
        <dsp:cNvPr id="0" name=""/>
        <dsp:cNvSpPr/>
      </dsp:nvSpPr>
      <dsp:spPr>
        <a:xfrm>
          <a:off x="3086099" y="568380"/>
          <a:ext cx="2314575" cy="14697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As the cost increases, the number of beneficiaries drops sharply. Charges above </a:t>
          </a:r>
          <a:r>
            <a:rPr lang="en-US" sz="1200" b="1" i="0" kern="1200" baseline="0"/>
            <a:t>₹30,000 are quite rare</a:t>
          </a:r>
          <a:r>
            <a:rPr lang="en-US" sz="1200" b="0" i="0" kern="1200" baseline="0"/>
            <a:t>, and only a small handful reach the very high-cost levels.</a:t>
          </a:r>
          <a:endParaRPr lang="en-US" sz="1200" kern="1200"/>
        </a:p>
      </dsp:txBody>
      <dsp:txXfrm>
        <a:off x="3129147" y="611428"/>
        <a:ext cx="2228479" cy="1383659"/>
      </dsp:txXfrm>
    </dsp:sp>
    <dsp:sp modelId="{5B8618C2-0EA9-43CC-9BFD-6FF2F5648792}">
      <dsp:nvSpPr>
        <dsp:cNvPr id="0" name=""/>
        <dsp:cNvSpPr/>
      </dsp:nvSpPr>
      <dsp:spPr>
        <a:xfrm>
          <a:off x="5657850" y="324064"/>
          <a:ext cx="2314575" cy="1469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0A2429-F407-4304-B494-888D5DA1E958}">
      <dsp:nvSpPr>
        <dsp:cNvPr id="0" name=""/>
        <dsp:cNvSpPr/>
      </dsp:nvSpPr>
      <dsp:spPr>
        <a:xfrm>
          <a:off x="5915024" y="568380"/>
          <a:ext cx="2314575" cy="146975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baseline="0"/>
            <a:t>The shape of the distribution shows that the data is </a:t>
          </a:r>
          <a:r>
            <a:rPr lang="en-US" sz="1200" b="1" i="0" kern="1200" baseline="0"/>
            <a:t>right-skewed</a:t>
          </a:r>
          <a:r>
            <a:rPr lang="en-US" sz="1200" b="0" i="0" kern="1200" baseline="0"/>
            <a:t> — meaning a majority of people have relatively lower medical expenses, while a few individuals have very high costs that stretch the tail of the graph.</a:t>
          </a:r>
          <a:endParaRPr lang="en-US" sz="1200" kern="1200"/>
        </a:p>
      </dsp:txBody>
      <dsp:txXfrm>
        <a:off x="5958072" y="611428"/>
        <a:ext cx="2228479" cy="13836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C7D59-D9E5-4695-8053-B6B97AF0BBD0}">
      <dsp:nvSpPr>
        <dsp:cNvPr id="0" name=""/>
        <dsp:cNvSpPr/>
      </dsp:nvSpPr>
      <dsp:spPr>
        <a:xfrm>
          <a:off x="0" y="1153"/>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2FFB12-579B-4BA9-97C3-360606BE36B4}">
      <dsp:nvSpPr>
        <dsp:cNvPr id="0" name=""/>
        <dsp:cNvSpPr/>
      </dsp:nvSpPr>
      <dsp:spPr>
        <a:xfrm>
          <a:off x="0" y="1153"/>
          <a:ext cx="8229600" cy="786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baseline="0"/>
            <a:t>The correlation between BMI and medical charges is </a:t>
          </a:r>
          <a:r>
            <a:rPr lang="en-US" sz="1500" b="1" i="0" kern="1200" baseline="0"/>
            <a:t>around 0.20</a:t>
          </a:r>
          <a:r>
            <a:rPr lang="en-US" sz="1500" b="0" i="0" kern="1200" baseline="0"/>
            <a:t>, which indicates a </a:t>
          </a:r>
          <a:r>
            <a:rPr lang="en-US" sz="1500" b="1" i="0" kern="1200" baseline="0"/>
            <a:t>weak positive relationship</a:t>
          </a:r>
          <a:r>
            <a:rPr lang="en-US" sz="1500" b="0" i="0" kern="1200" baseline="0"/>
            <a:t>. In simple terms, higher BMI is linked to higher medical costs, but the connection isn’t very strong.</a:t>
          </a:r>
          <a:endParaRPr lang="en-US" sz="1500" kern="1200"/>
        </a:p>
      </dsp:txBody>
      <dsp:txXfrm>
        <a:off x="0" y="1153"/>
        <a:ext cx="8229600" cy="786631"/>
      </dsp:txXfrm>
    </dsp:sp>
    <dsp:sp modelId="{8DD4ECC6-8E62-4031-BCAE-9F4CDE4419B2}">
      <dsp:nvSpPr>
        <dsp:cNvPr id="0" name=""/>
        <dsp:cNvSpPr/>
      </dsp:nvSpPr>
      <dsp:spPr>
        <a:xfrm>
          <a:off x="0" y="787784"/>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D53E87-D4E3-46F6-A96F-5835213AD570}">
      <dsp:nvSpPr>
        <dsp:cNvPr id="0" name=""/>
        <dsp:cNvSpPr/>
      </dsp:nvSpPr>
      <dsp:spPr>
        <a:xfrm>
          <a:off x="0" y="787784"/>
          <a:ext cx="8229600" cy="786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baseline="0"/>
            <a:t>The scatter plot shows a lot of spread, meaning people with similar BMI values can still have very different medical expenses. This suggests that </a:t>
          </a:r>
          <a:r>
            <a:rPr lang="en-US" sz="1500" b="1" i="0" kern="1200" baseline="0"/>
            <a:t>BMI alone doesn’t fully explain the variations in medical costs</a:t>
          </a:r>
          <a:r>
            <a:rPr lang="en-US" sz="1500" b="0" i="0" kern="1200" baseline="0"/>
            <a:t>.</a:t>
          </a:r>
          <a:endParaRPr lang="en-US" sz="1500" kern="1200"/>
        </a:p>
      </dsp:txBody>
      <dsp:txXfrm>
        <a:off x="0" y="787784"/>
        <a:ext cx="8229600" cy="786631"/>
      </dsp:txXfrm>
    </dsp:sp>
    <dsp:sp modelId="{727B1695-6A2F-452B-86A3-726CEA6F138D}">
      <dsp:nvSpPr>
        <dsp:cNvPr id="0" name=""/>
        <dsp:cNvSpPr/>
      </dsp:nvSpPr>
      <dsp:spPr>
        <a:xfrm>
          <a:off x="0" y="1574415"/>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CE2600-C9D5-4FD1-98E5-496397328CB1}">
      <dsp:nvSpPr>
        <dsp:cNvPr id="0" name=""/>
        <dsp:cNvSpPr/>
      </dsp:nvSpPr>
      <dsp:spPr>
        <a:xfrm>
          <a:off x="0" y="1574415"/>
          <a:ext cx="8229600" cy="786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baseline="0"/>
            <a:t>Other factors—especially </a:t>
          </a:r>
          <a:r>
            <a:rPr lang="en-US" sz="1500" b="1" i="0" kern="1200" baseline="0"/>
            <a:t>smoking status</a:t>
          </a:r>
          <a:r>
            <a:rPr lang="en-US" sz="1500" b="0" i="0" kern="1200" baseline="0"/>
            <a:t> and in some cases </a:t>
          </a:r>
          <a:r>
            <a:rPr lang="en-US" sz="1500" b="1" i="0" kern="1200" baseline="0"/>
            <a:t>regional differences</a:t>
          </a:r>
          <a:r>
            <a:rPr lang="en-US" sz="1500" b="0" i="0" kern="1200" baseline="0"/>
            <a:t>—seem to have a much stronger influence on healthcare spending than BMI does.</a:t>
          </a:r>
          <a:endParaRPr lang="en-US" sz="1500" kern="1200"/>
        </a:p>
      </dsp:txBody>
      <dsp:txXfrm>
        <a:off x="0" y="1574415"/>
        <a:ext cx="8229600" cy="78663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D0424B-AF75-4B0E-A55D-CC0154497662}">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E5FF3A-FE7A-492B-85A1-AB340D90A524}">
      <dsp:nvSpPr>
        <dsp:cNvPr id="0" name=""/>
        <dsp:cNvSpPr/>
      </dsp:nvSpPr>
      <dsp:spPr>
        <a:xfrm>
          <a:off x="0" y="0"/>
          <a:ext cx="8229600" cy="55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i="0" kern="1200" baseline="0"/>
            <a:t>Across every region, </a:t>
          </a:r>
          <a:r>
            <a:rPr lang="en-US" sz="1400" b="1" i="0" kern="1200" baseline="0"/>
            <a:t>smokers consistently have much higher medical charges</a:t>
          </a:r>
          <a:r>
            <a:rPr lang="en-US" sz="1400" b="0" i="0" kern="1200" baseline="0"/>
            <a:t> compared to non-smokers. The pattern is strong and very clear in the chart.</a:t>
          </a:r>
          <a:endParaRPr lang="en-US" sz="1400" kern="1200"/>
        </a:p>
      </dsp:txBody>
      <dsp:txXfrm>
        <a:off x="0" y="0"/>
        <a:ext cx="8229600" cy="558006"/>
      </dsp:txXfrm>
    </dsp:sp>
    <dsp:sp modelId="{CC8759E0-F441-4B02-8B35-CD9B3FC27E86}">
      <dsp:nvSpPr>
        <dsp:cNvPr id="0" name=""/>
        <dsp:cNvSpPr/>
      </dsp:nvSpPr>
      <dsp:spPr>
        <a:xfrm>
          <a:off x="0" y="558006"/>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4C88E9-41AF-42EC-988E-70112D635EE9}">
      <dsp:nvSpPr>
        <dsp:cNvPr id="0" name=""/>
        <dsp:cNvSpPr/>
      </dsp:nvSpPr>
      <dsp:spPr>
        <a:xfrm>
          <a:off x="0" y="558006"/>
          <a:ext cx="8229600" cy="55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i="0" kern="1200" baseline="0"/>
            <a:t>Among all regions, the </a:t>
          </a:r>
          <a:r>
            <a:rPr lang="en-US" sz="1400" b="1" i="0" kern="1200" baseline="0"/>
            <a:t>Southeast shows the highest average medical cost for smokers</a:t>
          </a:r>
          <a:r>
            <a:rPr lang="en-US" sz="1400" b="0" i="0" kern="1200" baseline="0"/>
            <a:t>, at around </a:t>
          </a:r>
          <a:r>
            <a:rPr lang="en-US" sz="1400" b="1" i="0" kern="1200" baseline="0"/>
            <a:t>₹34,845</a:t>
          </a:r>
          <a:r>
            <a:rPr lang="en-US" sz="1400" b="0" i="0" kern="1200" baseline="0"/>
            <a:t>. This suggests that smoking-related health issues may be more severe or more expensive to treat in this region.</a:t>
          </a:r>
          <a:endParaRPr lang="en-US" sz="1400" kern="1200"/>
        </a:p>
      </dsp:txBody>
      <dsp:txXfrm>
        <a:off x="0" y="558006"/>
        <a:ext cx="8229600" cy="558006"/>
      </dsp:txXfrm>
    </dsp:sp>
    <dsp:sp modelId="{B8490006-4C40-44EF-8ABB-2AF32FFC343F}">
      <dsp:nvSpPr>
        <dsp:cNvPr id="0" name=""/>
        <dsp:cNvSpPr/>
      </dsp:nvSpPr>
      <dsp:spPr>
        <a:xfrm>
          <a:off x="0" y="1116012"/>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923A53-5F28-4F5D-8152-B18F02E20A5E}">
      <dsp:nvSpPr>
        <dsp:cNvPr id="0" name=""/>
        <dsp:cNvSpPr/>
      </dsp:nvSpPr>
      <dsp:spPr>
        <a:xfrm>
          <a:off x="0" y="1116012"/>
          <a:ext cx="8229600" cy="55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i="0" kern="1200" baseline="0"/>
            <a:t>Non-smokers, on the other hand, show </a:t>
          </a:r>
          <a:r>
            <a:rPr lang="en-US" sz="1400" b="1" i="0" kern="1200" baseline="0"/>
            <a:t>lower and fairly stable costs</a:t>
          </a:r>
          <a:r>
            <a:rPr lang="en-US" sz="1400" b="0" i="0" kern="1200" baseline="0"/>
            <a:t> across all regions, with only small differences between them.</a:t>
          </a:r>
          <a:endParaRPr lang="en-US" sz="1400" kern="1200"/>
        </a:p>
      </dsp:txBody>
      <dsp:txXfrm>
        <a:off x="0" y="1116012"/>
        <a:ext cx="8229600" cy="558006"/>
      </dsp:txXfrm>
    </dsp:sp>
    <dsp:sp modelId="{9C76DB30-7F00-4578-A7DB-36D3245BE51D}">
      <dsp:nvSpPr>
        <dsp:cNvPr id="0" name=""/>
        <dsp:cNvSpPr/>
      </dsp:nvSpPr>
      <dsp:spPr>
        <a:xfrm>
          <a:off x="0" y="1674018"/>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DCAE25-742C-4F7A-AF91-AA5FB1E15D96}">
      <dsp:nvSpPr>
        <dsp:cNvPr id="0" name=""/>
        <dsp:cNvSpPr/>
      </dsp:nvSpPr>
      <dsp:spPr>
        <a:xfrm>
          <a:off x="0" y="1674018"/>
          <a:ext cx="8229600" cy="558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i="0" kern="1200" baseline="0"/>
            <a:t>Overall, the chart highlights that </a:t>
          </a:r>
          <a:r>
            <a:rPr lang="en-US" sz="1400" b="1" i="0" kern="1200" baseline="0"/>
            <a:t>smoking dramatically increases medical expenses</a:t>
          </a:r>
          <a:r>
            <a:rPr lang="en-US" sz="1400" b="0" i="0" kern="1200" baseline="0"/>
            <a:t>, and the effect becomes even more pronounced in certain regions—especially the Southeast.</a:t>
          </a:r>
          <a:endParaRPr lang="en-US" sz="1400" kern="1200"/>
        </a:p>
      </dsp:txBody>
      <dsp:txXfrm>
        <a:off x="0" y="1674018"/>
        <a:ext cx="8229600" cy="55800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CF2B7E-19D4-4777-8D22-FD84259FE5EE}">
      <dsp:nvSpPr>
        <dsp:cNvPr id="0" name=""/>
        <dsp:cNvSpPr/>
      </dsp:nvSpPr>
      <dsp:spPr>
        <a:xfrm>
          <a:off x="0" y="903737"/>
          <a:ext cx="2760345" cy="1656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The dashboard highlights three key metrics upfront:</a:t>
          </a:r>
          <a:br>
            <a:rPr lang="en-US" sz="1400" kern="1200"/>
          </a:br>
          <a:r>
            <a:rPr lang="en-US" sz="1400" b="1" kern="1200"/>
            <a:t>Average medical charges are ₹13,270</a:t>
          </a:r>
          <a:r>
            <a:rPr lang="en-US" sz="1400" kern="1200"/>
            <a:t>, the </a:t>
          </a:r>
          <a:r>
            <a:rPr lang="en-US" sz="1400" b="1" kern="1200"/>
            <a:t>average BMI is 30.66</a:t>
          </a:r>
          <a:r>
            <a:rPr lang="en-US" sz="1400" kern="1200"/>
            <a:t>, and </a:t>
          </a:r>
          <a:r>
            <a:rPr lang="en-US" sz="1400" b="1" kern="1200"/>
            <a:t>around 20% of the population are smokers</a:t>
          </a:r>
          <a:r>
            <a:rPr lang="en-US" sz="1400" kern="1200"/>
            <a:t>. These values help set the overall context of the dataset.</a:t>
          </a:r>
        </a:p>
      </dsp:txBody>
      <dsp:txXfrm>
        <a:off x="0" y="903737"/>
        <a:ext cx="2760345" cy="1656207"/>
      </dsp:txXfrm>
    </dsp:sp>
    <dsp:sp modelId="{44BE2894-2D98-4A35-957B-8EA9F70E08C9}">
      <dsp:nvSpPr>
        <dsp:cNvPr id="0" name=""/>
        <dsp:cNvSpPr/>
      </dsp:nvSpPr>
      <dsp:spPr>
        <a:xfrm>
          <a:off x="3036379" y="903737"/>
          <a:ext cx="2760345" cy="1656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One of the biggest insights is that </a:t>
          </a:r>
          <a:r>
            <a:rPr lang="en-US" sz="1400" b="1" kern="1200"/>
            <a:t>smokers incur far higher medical expenses</a:t>
          </a:r>
          <a:r>
            <a:rPr lang="en-US" sz="1400" kern="1200"/>
            <a:t>. On average, smokers pay </a:t>
          </a:r>
          <a:r>
            <a:rPr lang="en-US" sz="1400" b="1" kern="1200"/>
            <a:t>₹32,050</a:t>
          </a:r>
          <a:r>
            <a:rPr lang="en-US" sz="1400" kern="1200"/>
            <a:t>, whereas non-smokers pay only </a:t>
          </a:r>
          <a:r>
            <a:rPr lang="en-US" sz="1400" b="1" kern="1200"/>
            <a:t>₹8,434</a:t>
          </a:r>
          <a:r>
            <a:rPr lang="en-US" sz="1400" kern="1200"/>
            <a:t> — roughly </a:t>
          </a:r>
          <a:r>
            <a:rPr lang="en-US" sz="1400" b="1" kern="1200"/>
            <a:t>4× difference</a:t>
          </a:r>
          <a:r>
            <a:rPr lang="en-US" sz="1400" kern="1200"/>
            <a:t>, making smoking the strongest driver of medical costs.</a:t>
          </a:r>
        </a:p>
      </dsp:txBody>
      <dsp:txXfrm>
        <a:off x="3036379" y="903737"/>
        <a:ext cx="2760345" cy="1656207"/>
      </dsp:txXfrm>
    </dsp:sp>
    <dsp:sp modelId="{8611D89B-6439-46ED-8C90-F91E5AE171E2}">
      <dsp:nvSpPr>
        <dsp:cNvPr id="0" name=""/>
        <dsp:cNvSpPr/>
      </dsp:nvSpPr>
      <dsp:spPr>
        <a:xfrm>
          <a:off x="6072759" y="903737"/>
          <a:ext cx="2760345" cy="1656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Regional filters show that the </a:t>
          </a:r>
          <a:r>
            <a:rPr lang="en-US" sz="1400" b="1" kern="1200"/>
            <a:t>Southeast region records the highest medical charges</a:t>
          </a:r>
          <a:r>
            <a:rPr lang="en-US" sz="1400" kern="1200"/>
            <a:t>, with an average of </a:t>
          </a:r>
          <a:r>
            <a:rPr lang="en-US" sz="1400" b="1" kern="1200"/>
            <a:t>₹14,735</a:t>
          </a:r>
          <a:r>
            <a:rPr lang="en-US" sz="1400" kern="1200"/>
            <a:t>, along with the </a:t>
          </a:r>
          <a:r>
            <a:rPr lang="en-US" sz="1400" b="1" kern="1200"/>
            <a:t>highest BMI (33.36)</a:t>
          </a:r>
          <a:r>
            <a:rPr lang="en-US" sz="1400" kern="1200"/>
            <a:t>. This indicates that this region faces more health risks than others.</a:t>
          </a:r>
        </a:p>
      </dsp:txBody>
      <dsp:txXfrm>
        <a:off x="6072759" y="903737"/>
        <a:ext cx="2760345" cy="1656207"/>
      </dsp:txXfrm>
    </dsp:sp>
    <dsp:sp modelId="{33595F2A-F8A7-4CDD-BD16-004FEE484707}">
      <dsp:nvSpPr>
        <dsp:cNvPr id="0" name=""/>
        <dsp:cNvSpPr/>
      </dsp:nvSpPr>
      <dsp:spPr>
        <a:xfrm>
          <a:off x="0" y="2835978"/>
          <a:ext cx="2760345" cy="1656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Looking at BMI categories, </a:t>
          </a:r>
          <a:r>
            <a:rPr lang="en-US" sz="1400" b="1" kern="1200"/>
            <a:t>53% of individuals fall into the obese group</a:t>
          </a:r>
          <a:r>
            <a:rPr lang="en-US" sz="1400" kern="1200"/>
            <a:t>, followed by </a:t>
          </a:r>
          <a:r>
            <a:rPr lang="en-US" sz="1400" b="1" kern="1200"/>
            <a:t>29% overweight</a:t>
          </a:r>
          <a:r>
            <a:rPr lang="en-US" sz="1400" kern="1200"/>
            <a:t>. This means more than </a:t>
          </a:r>
          <a:r>
            <a:rPr lang="en-US" sz="1400" b="1" kern="1200"/>
            <a:t>80% of the population is above the normal BMI range</a:t>
          </a:r>
          <a:r>
            <a:rPr lang="en-US" sz="1400" kern="1200"/>
            <a:t>, which directly connects to higher medical spending.</a:t>
          </a:r>
        </a:p>
      </dsp:txBody>
      <dsp:txXfrm>
        <a:off x="0" y="2835978"/>
        <a:ext cx="2760345" cy="1656207"/>
      </dsp:txXfrm>
    </dsp:sp>
    <dsp:sp modelId="{4FD77A53-91B3-4138-AB6D-5D81A7E2717E}">
      <dsp:nvSpPr>
        <dsp:cNvPr id="0" name=""/>
        <dsp:cNvSpPr/>
      </dsp:nvSpPr>
      <dsp:spPr>
        <a:xfrm>
          <a:off x="3036379" y="2835978"/>
          <a:ext cx="2760345" cy="1656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Gender filters reveal that </a:t>
          </a:r>
          <a:r>
            <a:rPr lang="en-US" sz="1400" b="1" kern="1200"/>
            <a:t>males have slightly higher medical charges</a:t>
          </a:r>
          <a:r>
            <a:rPr lang="en-US" sz="1400" kern="1200"/>
            <a:t> (₹13,956) than females (₹12,569), and they also show a slightly higher average BMI (30.94 vs. 30.38).</a:t>
          </a:r>
        </a:p>
      </dsp:txBody>
      <dsp:txXfrm>
        <a:off x="3036379" y="2835978"/>
        <a:ext cx="2760345" cy="1656207"/>
      </dsp:txXfrm>
    </dsp:sp>
    <dsp:sp modelId="{2112D012-A55A-45D4-BB38-E2EEB4D5C2BF}">
      <dsp:nvSpPr>
        <dsp:cNvPr id="0" name=""/>
        <dsp:cNvSpPr/>
      </dsp:nvSpPr>
      <dsp:spPr>
        <a:xfrm>
          <a:off x="6072759" y="2835978"/>
          <a:ext cx="2760345" cy="1656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Overall, the dashboard gives a clear picture of the major cost-driving patterns:</a:t>
          </a:r>
          <a:br>
            <a:rPr lang="en-US" sz="1400" kern="1200"/>
          </a:br>
          <a:r>
            <a:rPr lang="en-US" sz="1400" b="1" kern="1200"/>
            <a:t>smokers pay the most, the Southeast has the highest risk profile, and obese individuals form the most expensive BMI segment.</a:t>
          </a:r>
          <a:endParaRPr lang="en-US" sz="1400" kern="1200"/>
        </a:p>
      </dsp:txBody>
      <dsp:txXfrm>
        <a:off x="6072759" y="2835978"/>
        <a:ext cx="2760345" cy="165620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2" Type="http://schemas.openxmlformats.org/officeDocument/2006/relationships/hyperlink" Target="https://youtu.be/9wKx0TRduLo?si=3ARPhrtEfG3wytm0"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942996" y="4267832"/>
            <a:ext cx="3604497" cy="1297115"/>
          </a:xfrm>
        </p:spPr>
        <p:txBody>
          <a:bodyPr anchor="t">
            <a:normAutofit/>
          </a:bodyPr>
          <a:lstStyle/>
          <a:p>
            <a:pPr algn="l"/>
            <a:r>
              <a:rPr lang="en-US" sz="3200">
                <a:solidFill>
                  <a:schemeClr val="tx2"/>
                </a:solidFill>
              </a:rPr>
              <a:t>Medical Cost Analysis using Excel</a:t>
            </a:r>
          </a:p>
        </p:txBody>
      </p:sp>
      <p:sp>
        <p:nvSpPr>
          <p:cNvPr id="3" name="Subtitle 2"/>
          <p:cNvSpPr>
            <a:spLocks noGrp="1"/>
          </p:cNvSpPr>
          <p:nvPr>
            <p:ph type="subTitle" idx="1"/>
          </p:nvPr>
        </p:nvSpPr>
        <p:spPr>
          <a:xfrm>
            <a:off x="4943224" y="3428999"/>
            <a:ext cx="3604268" cy="838831"/>
          </a:xfrm>
        </p:spPr>
        <p:txBody>
          <a:bodyPr anchor="b">
            <a:normAutofit/>
          </a:bodyPr>
          <a:lstStyle/>
          <a:p>
            <a:pPr algn="l"/>
            <a:r>
              <a:rPr lang="en-US" sz="1700">
                <a:solidFill>
                  <a:schemeClr val="tx2"/>
                </a:solidFill>
              </a:rPr>
              <a:t>Data Analytics Project</a:t>
            </a:r>
          </a:p>
          <a:p>
            <a:pPr algn="l"/>
            <a:r>
              <a:rPr lang="en-US" sz="1700">
                <a:solidFill>
                  <a:schemeClr val="tx2"/>
                </a:solidFill>
              </a:rPr>
              <a:t>By: Muneeza</a:t>
            </a:r>
          </a:p>
        </p:txBody>
      </p:sp>
      <p:pic>
        <p:nvPicPr>
          <p:cNvPr id="7" name="Graphic 6" descr="Stethoscope">
            <a:extLst>
              <a:ext uri="{FF2B5EF4-FFF2-40B4-BE49-F238E27FC236}">
                <a16:creationId xmlns:a16="http://schemas.microsoft.com/office/drawing/2014/main" id="{EA863D67-63B1-513A-7DC6-4FF3EEBB76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Project Overview</a:t>
            </a:r>
          </a:p>
        </p:txBody>
      </p:sp>
      <p:graphicFrame>
        <p:nvGraphicFramePr>
          <p:cNvPr id="6" name="Rectangle 1">
            <a:extLst>
              <a:ext uri="{FF2B5EF4-FFF2-40B4-BE49-F238E27FC236}">
                <a16:creationId xmlns:a16="http://schemas.microsoft.com/office/drawing/2014/main" id="{DEB70F68-958C-235A-3EFC-E54F912330A6}"/>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a:normAutofit/>
          </a:bodyPr>
          <a:lstStyle/>
          <a:p>
            <a:r>
              <a:rPr lang="en-IN" b="1"/>
              <a:t>Basic Statistics Summary</a:t>
            </a:r>
          </a:p>
        </p:txBody>
      </p:sp>
      <p:sp>
        <p:nvSpPr>
          <p:cNvPr id="3" name="Content Placeholder 2"/>
          <p:cNvSpPr>
            <a:spLocks noGrp="1"/>
          </p:cNvSpPr>
          <p:nvPr>
            <p:ph idx="1"/>
          </p:nvPr>
        </p:nvSpPr>
        <p:spPr>
          <a:xfrm>
            <a:off x="852775" y="2198362"/>
            <a:ext cx="3719225" cy="3917773"/>
          </a:xfrm>
        </p:spPr>
        <p:txBody>
          <a:bodyPr>
            <a:normAutofit/>
          </a:bodyPr>
          <a:lstStyle/>
          <a:p>
            <a:pPr>
              <a:lnSpc>
                <a:spcPct val="90000"/>
              </a:lnSpc>
            </a:pPr>
            <a:r>
              <a:rPr lang="en-US" sz="1700"/>
              <a:t>The </a:t>
            </a:r>
            <a:r>
              <a:rPr lang="en-US" sz="1700" b="1"/>
              <a:t>average age is around 39</a:t>
            </a:r>
            <a:r>
              <a:rPr lang="en-US" sz="1700"/>
              <a:t>, which means most people in this dataset fall into the middle-aged group.</a:t>
            </a:r>
          </a:p>
          <a:p>
            <a:pPr>
              <a:lnSpc>
                <a:spcPct val="90000"/>
              </a:lnSpc>
            </a:pPr>
            <a:r>
              <a:rPr lang="en-US" sz="1700"/>
              <a:t>The </a:t>
            </a:r>
            <a:r>
              <a:rPr lang="en-US" sz="1700" b="1"/>
              <a:t>average BMI is roughly 30.7</a:t>
            </a:r>
            <a:r>
              <a:rPr lang="en-US" sz="1700"/>
              <a:t>, suggesting that many individuals are in the overweight range.</a:t>
            </a:r>
          </a:p>
          <a:p>
            <a:pPr>
              <a:lnSpc>
                <a:spcPct val="90000"/>
              </a:lnSpc>
            </a:pPr>
            <a:r>
              <a:rPr lang="en-US" sz="1700"/>
              <a:t>The </a:t>
            </a:r>
            <a:r>
              <a:rPr lang="en-US" sz="1700" b="1"/>
              <a:t>average medical charges come out to about ₹13,270</a:t>
            </a:r>
            <a:r>
              <a:rPr lang="en-US" sz="1700"/>
              <a:t>, but there is a lot of variation from person to person.</a:t>
            </a:r>
          </a:p>
          <a:p>
            <a:pPr>
              <a:lnSpc>
                <a:spcPct val="90000"/>
              </a:lnSpc>
            </a:pPr>
            <a:r>
              <a:rPr lang="en-US" sz="1700"/>
              <a:t>Since the </a:t>
            </a:r>
            <a:r>
              <a:rPr lang="en-US" sz="1700" b="1"/>
              <a:t>median charges are lower than the average</a:t>
            </a:r>
            <a:r>
              <a:rPr lang="en-US" sz="1700"/>
              <a:t>, it shows that a few people have very high medical bills, which pushes the average up.</a:t>
            </a:r>
          </a:p>
          <a:p>
            <a:pPr marL="0" indent="0">
              <a:lnSpc>
                <a:spcPct val="90000"/>
              </a:lnSpc>
              <a:buNone/>
            </a:pPr>
            <a:endParaRPr lang="en-US" sz="1700"/>
          </a:p>
        </p:txBody>
      </p:sp>
      <p:sp>
        <p:nvSpPr>
          <p:cNvPr id="17" name="Freeform: Shape 16">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Table 3">
            <a:extLst>
              <a:ext uri="{FF2B5EF4-FFF2-40B4-BE49-F238E27FC236}">
                <a16:creationId xmlns:a16="http://schemas.microsoft.com/office/drawing/2014/main" id="{737028DF-0FC9-0C46-2B75-5618838C259B}"/>
              </a:ext>
            </a:extLst>
          </p:cNvPr>
          <p:cNvGraphicFramePr>
            <a:graphicFrameLocks noGrp="1"/>
          </p:cNvGraphicFramePr>
          <p:nvPr>
            <p:extLst>
              <p:ext uri="{D42A27DB-BD31-4B8C-83A1-F6EECF244321}">
                <p14:modId xmlns:p14="http://schemas.microsoft.com/office/powerpoint/2010/main" val="303442525"/>
              </p:ext>
            </p:extLst>
          </p:nvPr>
        </p:nvGraphicFramePr>
        <p:xfrm>
          <a:off x="5039525" y="2320862"/>
          <a:ext cx="3591379" cy="3484030"/>
        </p:xfrm>
        <a:graphic>
          <a:graphicData uri="http://schemas.openxmlformats.org/drawingml/2006/table">
            <a:tbl>
              <a:tblPr firstRow="1" bandRow="1">
                <a:tableStyleId>{69012ECD-51FC-41F1-AA8D-1B2483CD663E}</a:tableStyleId>
              </a:tblPr>
              <a:tblGrid>
                <a:gridCol w="1941433">
                  <a:extLst>
                    <a:ext uri="{9D8B030D-6E8A-4147-A177-3AD203B41FA5}">
                      <a16:colId xmlns:a16="http://schemas.microsoft.com/office/drawing/2014/main" val="1652767293"/>
                    </a:ext>
                  </a:extLst>
                </a:gridCol>
                <a:gridCol w="1649946">
                  <a:extLst>
                    <a:ext uri="{9D8B030D-6E8A-4147-A177-3AD203B41FA5}">
                      <a16:colId xmlns:a16="http://schemas.microsoft.com/office/drawing/2014/main" val="1937479873"/>
                    </a:ext>
                  </a:extLst>
                </a:gridCol>
              </a:tblGrid>
              <a:tr h="316730">
                <a:tc gridSpan="2">
                  <a:txBody>
                    <a:bodyPr/>
                    <a:lstStyle/>
                    <a:p>
                      <a:pPr algn="ctr" fontAlgn="ctr">
                        <a:buNone/>
                      </a:pPr>
                      <a:r>
                        <a:rPr lang="en-IN" sz="1700" u="none" strike="noStrike" dirty="0">
                          <a:effectLst/>
                        </a:rPr>
                        <a:t>Basic Statistics Summary</a:t>
                      </a:r>
                      <a:endParaRPr lang="en-IN" sz="1700" b="1" i="0" u="none" strike="noStrike" dirty="0">
                        <a:solidFill>
                          <a:srgbClr val="000000"/>
                        </a:solidFill>
                        <a:effectLst/>
                        <a:latin typeface="Aptos Narrow" panose="020B0004020202020204" pitchFamily="34" charset="0"/>
                      </a:endParaRPr>
                    </a:p>
                  </a:txBody>
                  <a:tcPr marL="9552" marR="9552" marT="9552" marB="0" anchor="ctr"/>
                </a:tc>
                <a:tc hMerge="1">
                  <a:txBody>
                    <a:bodyPr/>
                    <a:lstStyle/>
                    <a:p>
                      <a:endParaRPr lang="en-IN"/>
                    </a:p>
                  </a:txBody>
                  <a:tcPr/>
                </a:tc>
                <a:extLst>
                  <a:ext uri="{0D108BD9-81ED-4DB2-BD59-A6C34878D82A}">
                    <a16:rowId xmlns:a16="http://schemas.microsoft.com/office/drawing/2014/main" val="4088072239"/>
                  </a:ext>
                </a:extLst>
              </a:tr>
              <a:tr h="316730">
                <a:tc>
                  <a:txBody>
                    <a:bodyPr/>
                    <a:lstStyle/>
                    <a:p>
                      <a:pPr algn="l" fontAlgn="b">
                        <a:buNone/>
                      </a:pPr>
                      <a:r>
                        <a:rPr lang="en-IN" sz="1700" u="none" strike="noStrike">
                          <a:effectLst/>
                        </a:rPr>
                        <a:t>Metric</a:t>
                      </a:r>
                      <a:endParaRPr lang="en-IN" sz="1700" b="1"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Value</a:t>
                      </a:r>
                      <a:endParaRPr lang="en-IN" sz="1700" b="1"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2668490872"/>
                  </a:ext>
                </a:extLst>
              </a:tr>
              <a:tr h="316730">
                <a:tc>
                  <a:txBody>
                    <a:bodyPr/>
                    <a:lstStyle/>
                    <a:p>
                      <a:pPr algn="l" fontAlgn="b">
                        <a:buNone/>
                      </a:pPr>
                      <a:r>
                        <a:rPr lang="en-IN" sz="1700" u="none" strike="noStrike">
                          <a:effectLst/>
                        </a:rPr>
                        <a:t>Average Age</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39.21</a:t>
                      </a:r>
                      <a:endParaRPr lang="en-IN" sz="1700" b="0"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1642751975"/>
                  </a:ext>
                </a:extLst>
              </a:tr>
              <a:tr h="316730">
                <a:tc>
                  <a:txBody>
                    <a:bodyPr/>
                    <a:lstStyle/>
                    <a:p>
                      <a:pPr algn="l" fontAlgn="b">
                        <a:buNone/>
                      </a:pPr>
                      <a:r>
                        <a:rPr lang="en-IN" sz="1700" u="none" strike="noStrike">
                          <a:effectLst/>
                        </a:rPr>
                        <a:t>Median Age</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39.00</a:t>
                      </a:r>
                      <a:endParaRPr lang="en-IN" sz="1700" b="0"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3898178823"/>
                  </a:ext>
                </a:extLst>
              </a:tr>
              <a:tr h="316730">
                <a:tc>
                  <a:txBody>
                    <a:bodyPr/>
                    <a:lstStyle/>
                    <a:p>
                      <a:pPr algn="l" fontAlgn="b">
                        <a:buNone/>
                      </a:pPr>
                      <a:r>
                        <a:rPr lang="en-IN" sz="1700" u="none" strike="noStrike">
                          <a:effectLst/>
                        </a:rPr>
                        <a:t>StdDev Age</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14.05</a:t>
                      </a:r>
                      <a:endParaRPr lang="en-IN" sz="1700" b="0"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3912703225"/>
                  </a:ext>
                </a:extLst>
              </a:tr>
              <a:tr h="316730">
                <a:tc>
                  <a:txBody>
                    <a:bodyPr/>
                    <a:lstStyle/>
                    <a:p>
                      <a:pPr algn="l" fontAlgn="b">
                        <a:buNone/>
                      </a:pPr>
                      <a:r>
                        <a:rPr lang="en-IN" sz="1700" u="none" strike="noStrike">
                          <a:effectLst/>
                        </a:rPr>
                        <a:t>Average BMI</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30.66</a:t>
                      </a:r>
                      <a:endParaRPr lang="en-IN" sz="1700" b="0"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1131802162"/>
                  </a:ext>
                </a:extLst>
              </a:tr>
              <a:tr h="316730">
                <a:tc>
                  <a:txBody>
                    <a:bodyPr/>
                    <a:lstStyle/>
                    <a:p>
                      <a:pPr algn="l" fontAlgn="b">
                        <a:buNone/>
                      </a:pPr>
                      <a:r>
                        <a:rPr lang="en-IN" sz="1700" u="none" strike="noStrike">
                          <a:effectLst/>
                        </a:rPr>
                        <a:t>Median BMI</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30.40</a:t>
                      </a:r>
                      <a:endParaRPr lang="en-IN" sz="1700" b="0"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2464914205"/>
                  </a:ext>
                </a:extLst>
              </a:tr>
              <a:tr h="316730">
                <a:tc>
                  <a:txBody>
                    <a:bodyPr/>
                    <a:lstStyle/>
                    <a:p>
                      <a:pPr algn="l" fontAlgn="b">
                        <a:buNone/>
                      </a:pPr>
                      <a:r>
                        <a:rPr lang="en-IN" sz="1700" u="none" strike="noStrike">
                          <a:effectLst/>
                        </a:rPr>
                        <a:t>StdDev BMI</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6.10</a:t>
                      </a:r>
                      <a:endParaRPr lang="en-IN" sz="1700" b="0"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2553941616"/>
                  </a:ext>
                </a:extLst>
              </a:tr>
              <a:tr h="316730">
                <a:tc>
                  <a:txBody>
                    <a:bodyPr/>
                    <a:lstStyle/>
                    <a:p>
                      <a:pPr algn="l" fontAlgn="b">
                        <a:buNone/>
                      </a:pPr>
                      <a:r>
                        <a:rPr lang="en-IN" sz="1700" u="none" strike="noStrike">
                          <a:effectLst/>
                        </a:rPr>
                        <a:t>Average Charges</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13270.42</a:t>
                      </a:r>
                      <a:endParaRPr lang="en-IN" sz="1700" b="0"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1058220091"/>
                  </a:ext>
                </a:extLst>
              </a:tr>
              <a:tr h="316730">
                <a:tc>
                  <a:txBody>
                    <a:bodyPr/>
                    <a:lstStyle/>
                    <a:p>
                      <a:pPr algn="l" fontAlgn="b">
                        <a:buNone/>
                      </a:pPr>
                      <a:r>
                        <a:rPr lang="en-IN" sz="1700" u="none" strike="noStrike">
                          <a:effectLst/>
                        </a:rPr>
                        <a:t>Median Charges</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a:effectLst/>
                        </a:rPr>
                        <a:t>9382.03</a:t>
                      </a:r>
                      <a:endParaRPr lang="en-IN" sz="1700" b="0" i="0" u="none" strike="noStrike">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3399270898"/>
                  </a:ext>
                </a:extLst>
              </a:tr>
              <a:tr h="316730">
                <a:tc>
                  <a:txBody>
                    <a:bodyPr/>
                    <a:lstStyle/>
                    <a:p>
                      <a:pPr algn="l" fontAlgn="b">
                        <a:buNone/>
                      </a:pPr>
                      <a:r>
                        <a:rPr lang="en-IN" sz="1700" u="none" strike="noStrike">
                          <a:effectLst/>
                        </a:rPr>
                        <a:t>StdDev Charges</a:t>
                      </a:r>
                      <a:endParaRPr lang="en-IN" sz="1700" b="0" i="0" u="none" strike="noStrike">
                        <a:solidFill>
                          <a:srgbClr val="000000"/>
                        </a:solidFill>
                        <a:effectLst/>
                        <a:latin typeface="Aptos Narrow" panose="020B0004020202020204" pitchFamily="34" charset="0"/>
                      </a:endParaRPr>
                    </a:p>
                  </a:txBody>
                  <a:tcPr marL="9552" marR="9552" marT="9552" marB="0" anchor="b"/>
                </a:tc>
                <a:tc>
                  <a:txBody>
                    <a:bodyPr/>
                    <a:lstStyle/>
                    <a:p>
                      <a:pPr algn="ctr" fontAlgn="b">
                        <a:buNone/>
                      </a:pPr>
                      <a:r>
                        <a:rPr lang="en-IN" sz="1700" u="none" strike="noStrike" dirty="0">
                          <a:effectLst/>
                        </a:rPr>
                        <a:t>12110.01</a:t>
                      </a:r>
                      <a:endParaRPr lang="en-IN" sz="1700" b="0" i="0" u="none" strike="noStrike" dirty="0">
                        <a:solidFill>
                          <a:srgbClr val="000000"/>
                        </a:solidFill>
                        <a:effectLst/>
                        <a:latin typeface="Aptos Narrow" panose="020B0004020202020204" pitchFamily="34" charset="0"/>
                      </a:endParaRPr>
                    </a:p>
                  </a:txBody>
                  <a:tcPr marL="9552" marR="9552" marT="9552" marB="0" anchor="b"/>
                </a:tc>
                <a:extLst>
                  <a:ext uri="{0D108BD9-81ED-4DB2-BD59-A6C34878D82A}">
                    <a16:rowId xmlns:a16="http://schemas.microsoft.com/office/drawing/2014/main" val="116108668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031"/>
            <a:ext cx="8229600" cy="576943"/>
          </a:xfrm>
        </p:spPr>
        <p:txBody>
          <a:bodyPr>
            <a:normAutofit fontScale="90000"/>
          </a:bodyPr>
          <a:lstStyle/>
          <a:p>
            <a:r>
              <a:rPr lang="en-IN" b="1">
                <a:solidFill>
                  <a:schemeClr val="tx2"/>
                </a:solidFill>
              </a:rPr>
              <a:t>Gender Analysis</a:t>
            </a:r>
            <a:endParaRPr lang="en-IN" b="1" dirty="0">
              <a:solidFill>
                <a:schemeClr val="tx2"/>
              </a:solidFill>
            </a:endParaRPr>
          </a:p>
        </p:txBody>
      </p:sp>
      <p:pic>
        <p:nvPicPr>
          <p:cNvPr id="6" name="Picture 5">
            <a:extLst>
              <a:ext uri="{FF2B5EF4-FFF2-40B4-BE49-F238E27FC236}">
                <a16:creationId xmlns:a16="http://schemas.microsoft.com/office/drawing/2014/main" id="{C539C6DC-942D-532D-46FF-8F7B3557D4D3}"/>
              </a:ext>
            </a:extLst>
          </p:cNvPr>
          <p:cNvPicPr>
            <a:picLocks noChangeAspect="1"/>
          </p:cNvPicPr>
          <p:nvPr/>
        </p:nvPicPr>
        <p:blipFill>
          <a:blip r:embed="rId2"/>
          <a:stretch>
            <a:fillRect/>
          </a:stretch>
        </p:blipFill>
        <p:spPr>
          <a:xfrm>
            <a:off x="1317170" y="794657"/>
            <a:ext cx="6531429" cy="2924202"/>
          </a:xfrm>
          <a:prstGeom prst="rect">
            <a:avLst/>
          </a:prstGeom>
        </p:spPr>
      </p:pic>
      <p:graphicFrame>
        <p:nvGraphicFramePr>
          <p:cNvPr id="10" name="Rectangle 2">
            <a:extLst>
              <a:ext uri="{FF2B5EF4-FFF2-40B4-BE49-F238E27FC236}">
                <a16:creationId xmlns:a16="http://schemas.microsoft.com/office/drawing/2014/main" id="{56F959CE-522B-B2EC-0951-750D6F402B17}"/>
              </a:ext>
            </a:extLst>
          </p:cNvPr>
          <p:cNvGraphicFramePr>
            <a:graphicFrameLocks noGrp="1"/>
          </p:cNvGraphicFramePr>
          <p:nvPr>
            <p:ph idx="1"/>
          </p:nvPr>
        </p:nvGraphicFramePr>
        <p:xfrm>
          <a:off x="457200" y="3852863"/>
          <a:ext cx="8229600"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IN" sz="4000" b="1">
                <a:solidFill>
                  <a:schemeClr val="tx2"/>
                </a:solidFill>
              </a:rPr>
              <a:t>Smoking Impact</a:t>
            </a:r>
            <a:endParaRPr lang="en-IN" sz="4000" b="1" dirty="0">
              <a:solidFill>
                <a:schemeClr val="tx2"/>
              </a:solidFill>
            </a:endParaRPr>
          </a:p>
        </p:txBody>
      </p:sp>
      <p:pic>
        <p:nvPicPr>
          <p:cNvPr id="10" name="Picture 9">
            <a:extLst>
              <a:ext uri="{FF2B5EF4-FFF2-40B4-BE49-F238E27FC236}">
                <a16:creationId xmlns:a16="http://schemas.microsoft.com/office/drawing/2014/main" id="{476564CE-7430-8700-70C0-5BF4A78F4673}"/>
              </a:ext>
            </a:extLst>
          </p:cNvPr>
          <p:cNvPicPr>
            <a:picLocks noChangeAspect="1"/>
          </p:cNvPicPr>
          <p:nvPr/>
        </p:nvPicPr>
        <p:blipFill>
          <a:blip r:embed="rId2"/>
          <a:stretch>
            <a:fillRect/>
          </a:stretch>
        </p:blipFill>
        <p:spPr>
          <a:xfrm>
            <a:off x="1262743" y="762000"/>
            <a:ext cx="6193971" cy="2993571"/>
          </a:xfrm>
          <a:prstGeom prst="rect">
            <a:avLst/>
          </a:prstGeom>
        </p:spPr>
      </p:pic>
      <p:graphicFrame>
        <p:nvGraphicFramePr>
          <p:cNvPr id="14" name="Rectangle 1">
            <a:extLst>
              <a:ext uri="{FF2B5EF4-FFF2-40B4-BE49-F238E27FC236}">
                <a16:creationId xmlns:a16="http://schemas.microsoft.com/office/drawing/2014/main" id="{42EECAE3-2BB7-DC97-853D-C8BA0D9EAD6E}"/>
              </a:ext>
            </a:extLst>
          </p:cNvPr>
          <p:cNvGraphicFramePr>
            <a:graphicFrameLocks noGrp="1"/>
          </p:cNvGraphicFramePr>
          <p:nvPr>
            <p:ph idx="1"/>
          </p:nvPr>
        </p:nvGraphicFramePr>
        <p:xfrm>
          <a:off x="457200" y="3840163"/>
          <a:ext cx="8229600" cy="260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1"/>
          </a:xfrm>
        </p:spPr>
        <p:txBody>
          <a:bodyPr>
            <a:normAutofit/>
          </a:bodyPr>
          <a:lstStyle/>
          <a:p>
            <a:r>
              <a:rPr lang="en-IN" sz="4000" b="1">
                <a:solidFill>
                  <a:schemeClr val="tx2"/>
                </a:solidFill>
              </a:rPr>
              <a:t>Dependents vs Charges</a:t>
            </a:r>
            <a:endParaRPr lang="en-IN" sz="4000" b="1" dirty="0">
              <a:solidFill>
                <a:schemeClr val="tx2"/>
              </a:solidFill>
            </a:endParaRPr>
          </a:p>
        </p:txBody>
      </p:sp>
      <p:pic>
        <p:nvPicPr>
          <p:cNvPr id="7" name="Picture 6">
            <a:extLst>
              <a:ext uri="{FF2B5EF4-FFF2-40B4-BE49-F238E27FC236}">
                <a16:creationId xmlns:a16="http://schemas.microsoft.com/office/drawing/2014/main" id="{534C0FD7-8ED5-0487-0FC1-4416A9B0ECB3}"/>
              </a:ext>
            </a:extLst>
          </p:cNvPr>
          <p:cNvPicPr>
            <a:picLocks noChangeAspect="1"/>
          </p:cNvPicPr>
          <p:nvPr/>
        </p:nvPicPr>
        <p:blipFill>
          <a:blip r:embed="rId2"/>
          <a:stretch>
            <a:fillRect/>
          </a:stretch>
        </p:blipFill>
        <p:spPr>
          <a:xfrm>
            <a:off x="990601" y="762001"/>
            <a:ext cx="6651170" cy="3467624"/>
          </a:xfrm>
          <a:prstGeom prst="rect">
            <a:avLst/>
          </a:prstGeom>
        </p:spPr>
      </p:pic>
      <p:graphicFrame>
        <p:nvGraphicFramePr>
          <p:cNvPr id="11" name="Rectangle 1">
            <a:extLst>
              <a:ext uri="{FF2B5EF4-FFF2-40B4-BE49-F238E27FC236}">
                <a16:creationId xmlns:a16="http://schemas.microsoft.com/office/drawing/2014/main" id="{0433FC09-231F-5742-7622-A148A3942B23}"/>
              </a:ext>
            </a:extLst>
          </p:cNvPr>
          <p:cNvGraphicFramePr>
            <a:graphicFrameLocks noGrp="1"/>
          </p:cNvGraphicFramePr>
          <p:nvPr>
            <p:ph idx="1"/>
            <p:extLst>
              <p:ext uri="{D42A27DB-BD31-4B8C-83A1-F6EECF244321}">
                <p14:modId xmlns:p14="http://schemas.microsoft.com/office/powerpoint/2010/main" val="3475997837"/>
              </p:ext>
            </p:extLst>
          </p:nvPr>
        </p:nvGraphicFramePr>
        <p:xfrm>
          <a:off x="457200" y="4338638"/>
          <a:ext cx="8229600" cy="22367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56029"/>
          </a:xfrm>
        </p:spPr>
        <p:txBody>
          <a:bodyPr>
            <a:normAutofit/>
          </a:bodyPr>
          <a:lstStyle/>
          <a:p>
            <a:r>
              <a:rPr sz="4000" b="1" dirty="0">
                <a:solidFill>
                  <a:schemeClr val="tx2"/>
                </a:solidFill>
              </a:rPr>
              <a:t>Regional Analysis</a:t>
            </a:r>
          </a:p>
        </p:txBody>
      </p:sp>
      <p:pic>
        <p:nvPicPr>
          <p:cNvPr id="5" name="Picture 4">
            <a:extLst>
              <a:ext uri="{FF2B5EF4-FFF2-40B4-BE49-F238E27FC236}">
                <a16:creationId xmlns:a16="http://schemas.microsoft.com/office/drawing/2014/main" id="{DA745B9A-C6E8-94D4-8C1D-8E14C3062253}"/>
              </a:ext>
            </a:extLst>
          </p:cNvPr>
          <p:cNvPicPr>
            <a:picLocks noChangeAspect="1"/>
          </p:cNvPicPr>
          <p:nvPr/>
        </p:nvPicPr>
        <p:blipFill>
          <a:blip r:embed="rId2"/>
          <a:stretch>
            <a:fillRect/>
          </a:stretch>
        </p:blipFill>
        <p:spPr>
          <a:xfrm>
            <a:off x="1469572" y="849086"/>
            <a:ext cx="6052458" cy="3331028"/>
          </a:xfrm>
          <a:prstGeom prst="rect">
            <a:avLst/>
          </a:prstGeom>
        </p:spPr>
      </p:pic>
      <p:graphicFrame>
        <p:nvGraphicFramePr>
          <p:cNvPr id="9" name="Rectangle 1">
            <a:extLst>
              <a:ext uri="{FF2B5EF4-FFF2-40B4-BE49-F238E27FC236}">
                <a16:creationId xmlns:a16="http://schemas.microsoft.com/office/drawing/2014/main" id="{23897D90-30F3-C38D-5D98-CB294E4DCB23}"/>
              </a:ext>
            </a:extLst>
          </p:cNvPr>
          <p:cNvGraphicFramePr>
            <a:graphicFrameLocks noGrp="1"/>
          </p:cNvGraphicFramePr>
          <p:nvPr>
            <p:ph idx="1"/>
          </p:nvPr>
        </p:nvGraphicFramePr>
        <p:xfrm>
          <a:off x="457200" y="4430713"/>
          <a:ext cx="8229600" cy="2339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72886"/>
          </a:xfrm>
        </p:spPr>
        <p:txBody>
          <a:bodyPr>
            <a:normAutofit/>
          </a:bodyPr>
          <a:lstStyle/>
          <a:p>
            <a:r>
              <a:rPr sz="4000" b="1" dirty="0">
                <a:solidFill>
                  <a:schemeClr val="tx2"/>
                </a:solidFill>
              </a:rPr>
              <a:t>Cost Distribution</a:t>
            </a:r>
          </a:p>
        </p:txBody>
      </p:sp>
      <p:pic>
        <p:nvPicPr>
          <p:cNvPr id="7" name="Picture 6">
            <a:extLst>
              <a:ext uri="{FF2B5EF4-FFF2-40B4-BE49-F238E27FC236}">
                <a16:creationId xmlns:a16="http://schemas.microsoft.com/office/drawing/2014/main" id="{5E3B0DB7-7670-8F4A-2F6E-5B76F9EB9EAA}"/>
              </a:ext>
            </a:extLst>
          </p:cNvPr>
          <p:cNvPicPr>
            <a:picLocks noChangeAspect="1"/>
          </p:cNvPicPr>
          <p:nvPr/>
        </p:nvPicPr>
        <p:blipFill>
          <a:blip r:embed="rId2"/>
          <a:stretch>
            <a:fillRect/>
          </a:stretch>
        </p:blipFill>
        <p:spPr>
          <a:xfrm>
            <a:off x="1148443" y="772886"/>
            <a:ext cx="6847114" cy="3494314"/>
          </a:xfrm>
          <a:prstGeom prst="rect">
            <a:avLst/>
          </a:prstGeom>
        </p:spPr>
      </p:pic>
      <p:graphicFrame>
        <p:nvGraphicFramePr>
          <p:cNvPr id="9" name="Rectangle 1">
            <a:extLst>
              <a:ext uri="{FF2B5EF4-FFF2-40B4-BE49-F238E27FC236}">
                <a16:creationId xmlns:a16="http://schemas.microsoft.com/office/drawing/2014/main" id="{B959C754-674B-0014-7169-E9996A6B1935}"/>
              </a:ext>
            </a:extLst>
          </p:cNvPr>
          <p:cNvGraphicFramePr>
            <a:graphicFrameLocks noGrp="1"/>
          </p:cNvGraphicFramePr>
          <p:nvPr>
            <p:ph idx="1"/>
          </p:nvPr>
        </p:nvGraphicFramePr>
        <p:xfrm>
          <a:off x="457200" y="4495800"/>
          <a:ext cx="8229600" cy="2362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a:normAutofit/>
          </a:bodyPr>
          <a:lstStyle/>
          <a:p>
            <a:r>
              <a:rPr lang="en-IN" b="1" dirty="0">
                <a:solidFill>
                  <a:schemeClr val="tx2"/>
                </a:solidFill>
              </a:rPr>
              <a:t>BMI Classification</a:t>
            </a:r>
            <a:endParaRPr lang="en-IN" b="1" dirty="0"/>
          </a:p>
        </p:txBody>
      </p:sp>
      <p:sp>
        <p:nvSpPr>
          <p:cNvPr id="4" name="Rectangle 1">
            <a:extLst>
              <a:ext uri="{FF2B5EF4-FFF2-40B4-BE49-F238E27FC236}">
                <a16:creationId xmlns:a16="http://schemas.microsoft.com/office/drawing/2014/main" id="{B89BF119-4392-F287-F1EB-6FCD7ADF8D58}"/>
              </a:ext>
            </a:extLst>
          </p:cNvPr>
          <p:cNvSpPr>
            <a:spLocks noGrp="1" noChangeArrowheads="1"/>
          </p:cNvSpPr>
          <p:nvPr>
            <p:ph idx="1"/>
          </p:nvPr>
        </p:nvSpPr>
        <p:spPr bwMode="auto">
          <a:xfrm>
            <a:off x="852775" y="2198362"/>
            <a:ext cx="3719225"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600" b="0" i="0" u="none" strike="noStrike" cap="none" normalizeH="0" baseline="0">
                <a:ln>
                  <a:noFill/>
                </a:ln>
                <a:effectLst/>
                <a:latin typeface="Arial" panose="020B0604020202020204" pitchFamily="34" charset="0"/>
              </a:rPr>
              <a:t>A large portion of the population falls under the </a:t>
            </a:r>
            <a:r>
              <a:rPr kumimoji="0" lang="en-US" altLang="en-US" sz="1600" b="1" i="0" u="none" strike="noStrike" cap="none" normalizeH="0" baseline="0">
                <a:ln>
                  <a:noFill/>
                </a:ln>
                <a:effectLst/>
                <a:latin typeface="Arial" panose="020B0604020202020204" pitchFamily="34" charset="0"/>
              </a:rPr>
              <a:t>Obese category (53%)</a:t>
            </a:r>
            <a:r>
              <a:rPr kumimoji="0" lang="en-US" altLang="en-US" sz="1600" b="0" i="0" u="none" strike="noStrike" cap="none" normalizeH="0" baseline="0">
                <a:ln>
                  <a:noFill/>
                </a:ln>
                <a:effectLst/>
                <a:latin typeface="Arial" panose="020B0604020202020204" pitchFamily="34" charset="0"/>
              </a:rPr>
              <a:t>, making it the biggest BMI group in the dataset.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600" b="0" i="0" u="none" strike="noStrike" cap="none" normalizeH="0" baseline="0">
                <a:ln>
                  <a:noFill/>
                </a:ln>
                <a:effectLst/>
                <a:latin typeface="Arial" panose="020B0604020202020204" pitchFamily="34" charset="0"/>
              </a:rPr>
              <a:t>The next major segment is </a:t>
            </a:r>
            <a:r>
              <a:rPr kumimoji="0" lang="en-US" altLang="en-US" sz="1600" b="1" i="0" u="none" strike="noStrike" cap="none" normalizeH="0" baseline="0">
                <a:ln>
                  <a:noFill/>
                </a:ln>
                <a:effectLst/>
                <a:latin typeface="Arial" panose="020B0604020202020204" pitchFamily="34" charset="0"/>
              </a:rPr>
              <a:t>Overweight individuals (29%)</a:t>
            </a:r>
            <a:r>
              <a:rPr kumimoji="0" lang="en-US" altLang="en-US" sz="1600" b="0" i="0" u="none" strike="noStrike" cap="none" normalizeH="0" baseline="0">
                <a:ln>
                  <a:noFill/>
                </a:ln>
                <a:effectLst/>
                <a:latin typeface="Arial" panose="020B0604020202020204" pitchFamily="34" charset="0"/>
              </a:rPr>
              <a:t>, followed by those with </a:t>
            </a:r>
            <a:r>
              <a:rPr kumimoji="0" lang="en-US" altLang="en-US" sz="1600" b="1" i="0" u="none" strike="noStrike" cap="none" normalizeH="0" baseline="0">
                <a:ln>
                  <a:noFill/>
                </a:ln>
                <a:effectLst/>
                <a:latin typeface="Arial" panose="020B0604020202020204" pitchFamily="34" charset="0"/>
              </a:rPr>
              <a:t>Normal BMI (17%)</a:t>
            </a:r>
            <a:r>
              <a:rPr kumimoji="0" lang="en-US" altLang="en-US" sz="1600" b="0" i="0" u="none" strike="noStrike" cap="none" normalizeH="0" baseline="0">
                <a:ln>
                  <a:noFill/>
                </a:ln>
                <a:effectLst/>
                <a:latin typeface="Arial" panose="020B0604020202020204" pitchFamily="34" charset="0"/>
              </a:rPr>
              <a: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600" b="0" i="0" u="none" strike="noStrike" cap="none" normalizeH="0" baseline="0">
                <a:ln>
                  <a:noFill/>
                </a:ln>
                <a:effectLst/>
                <a:latin typeface="Arial" panose="020B0604020202020204" pitchFamily="34" charset="0"/>
              </a:rPr>
              <a:t>Only a very small group (</a:t>
            </a:r>
            <a:r>
              <a:rPr kumimoji="0" lang="en-US" altLang="en-US" sz="1600" b="1" i="0" u="none" strike="noStrike" cap="none" normalizeH="0" baseline="0">
                <a:ln>
                  <a:noFill/>
                </a:ln>
                <a:effectLst/>
                <a:latin typeface="Arial" panose="020B0604020202020204" pitchFamily="34" charset="0"/>
              </a:rPr>
              <a:t>1%</a:t>
            </a:r>
            <a:r>
              <a:rPr kumimoji="0" lang="en-US" altLang="en-US" sz="1600" b="0" i="0" u="none" strike="noStrike" cap="none" normalizeH="0" baseline="0">
                <a:ln>
                  <a:noFill/>
                </a:ln>
                <a:effectLst/>
                <a:latin typeface="Arial" panose="020B0604020202020204" pitchFamily="34" charset="0"/>
              </a:rPr>
              <a:t>) is classified as </a:t>
            </a:r>
            <a:r>
              <a:rPr kumimoji="0" lang="en-US" altLang="en-US" sz="1600" b="1" i="0" u="none" strike="noStrike" cap="none" normalizeH="0" baseline="0">
                <a:ln>
                  <a:noFill/>
                </a:ln>
                <a:effectLst/>
                <a:latin typeface="Arial" panose="020B0604020202020204" pitchFamily="34" charset="0"/>
              </a:rPr>
              <a:t>Underweight</a:t>
            </a:r>
            <a:r>
              <a:rPr kumimoji="0" lang="en-US" altLang="en-US" sz="1600" b="0" i="0" u="none" strike="noStrike" cap="none" normalizeH="0" baseline="0">
                <a:ln>
                  <a:noFill/>
                </a:ln>
                <a:effectLst/>
                <a:latin typeface="Arial" panose="020B0604020202020204" pitchFamily="34" charset="0"/>
              </a:rPr>
              <a: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600" b="0" i="0" u="none" strike="noStrike" cap="none" normalizeH="0" baseline="0">
                <a:ln>
                  <a:noFill/>
                </a:ln>
                <a:effectLst/>
                <a:latin typeface="Arial" panose="020B0604020202020204" pitchFamily="34" charset="0"/>
              </a:rPr>
              <a:t>Overall, the fact that </a:t>
            </a:r>
            <a:r>
              <a:rPr kumimoji="0" lang="en-US" altLang="en-US" sz="1600" b="1" i="0" u="none" strike="noStrike" cap="none" normalizeH="0" baseline="0">
                <a:ln>
                  <a:noFill/>
                </a:ln>
                <a:effectLst/>
                <a:latin typeface="Arial" panose="020B0604020202020204" pitchFamily="34" charset="0"/>
              </a:rPr>
              <a:t>more than 80% of the people are either overweight or obese</a:t>
            </a:r>
            <a:r>
              <a:rPr kumimoji="0" lang="en-US" altLang="en-US" sz="1600" b="0" i="0" u="none" strike="noStrike" cap="none" normalizeH="0" baseline="0">
                <a:ln>
                  <a:noFill/>
                </a:ln>
                <a:effectLst/>
                <a:latin typeface="Arial" panose="020B0604020202020204" pitchFamily="34" charset="0"/>
              </a:rPr>
              <a:t> highlights a significant health-risk pattern in the dataset. This could also explain higher medical expenses in certain groups.</a:t>
            </a:r>
          </a:p>
        </p:txBody>
      </p:sp>
      <p:pic>
        <p:nvPicPr>
          <p:cNvPr id="5" name="Picture 4">
            <a:extLst>
              <a:ext uri="{FF2B5EF4-FFF2-40B4-BE49-F238E27FC236}">
                <a16:creationId xmlns:a16="http://schemas.microsoft.com/office/drawing/2014/main" id="{050071B7-30C5-DE63-CB9F-B190945BAA29}"/>
              </a:ext>
            </a:extLst>
          </p:cNvPr>
          <p:cNvPicPr>
            <a:picLocks noChangeAspect="1"/>
          </p:cNvPicPr>
          <p:nvPr/>
        </p:nvPicPr>
        <p:blipFill>
          <a:blip r:embed="rId2"/>
          <a:stretch>
            <a:fillRect/>
          </a:stretch>
        </p:blipFill>
        <p:spPr>
          <a:xfrm>
            <a:off x="5039525" y="2798867"/>
            <a:ext cx="3591379" cy="2528009"/>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3514"/>
          </a:xfrm>
        </p:spPr>
        <p:txBody>
          <a:bodyPr>
            <a:normAutofit/>
          </a:bodyPr>
          <a:lstStyle/>
          <a:p>
            <a:r>
              <a:rPr sz="4000" b="1" dirty="0">
                <a:solidFill>
                  <a:schemeClr val="tx2"/>
                </a:solidFill>
              </a:rPr>
              <a:t>BMI vs Charges Correlation</a:t>
            </a:r>
          </a:p>
        </p:txBody>
      </p:sp>
      <p:pic>
        <p:nvPicPr>
          <p:cNvPr id="5" name="Picture 4">
            <a:extLst>
              <a:ext uri="{FF2B5EF4-FFF2-40B4-BE49-F238E27FC236}">
                <a16:creationId xmlns:a16="http://schemas.microsoft.com/office/drawing/2014/main" id="{B3C1048E-CEB1-407B-8D61-B8544F0A5353}"/>
              </a:ext>
            </a:extLst>
          </p:cNvPr>
          <p:cNvPicPr>
            <a:picLocks noChangeAspect="1"/>
          </p:cNvPicPr>
          <p:nvPr/>
        </p:nvPicPr>
        <p:blipFill>
          <a:blip r:embed="rId2"/>
          <a:stretch>
            <a:fillRect/>
          </a:stretch>
        </p:blipFill>
        <p:spPr>
          <a:xfrm>
            <a:off x="1578429" y="1023258"/>
            <a:ext cx="5595257" cy="3363686"/>
          </a:xfrm>
          <a:prstGeom prst="rect">
            <a:avLst/>
          </a:prstGeom>
        </p:spPr>
      </p:pic>
      <p:graphicFrame>
        <p:nvGraphicFramePr>
          <p:cNvPr id="11" name="Rectangle 3">
            <a:extLst>
              <a:ext uri="{FF2B5EF4-FFF2-40B4-BE49-F238E27FC236}">
                <a16:creationId xmlns:a16="http://schemas.microsoft.com/office/drawing/2014/main" id="{C67EF69E-966D-FAC2-4684-F1C0A3831961}"/>
              </a:ext>
            </a:extLst>
          </p:cNvPr>
          <p:cNvGraphicFramePr>
            <a:graphicFrameLocks noGrp="1"/>
          </p:cNvGraphicFramePr>
          <p:nvPr>
            <p:ph idx="1"/>
          </p:nvPr>
        </p:nvGraphicFramePr>
        <p:xfrm>
          <a:off x="457200" y="4495800"/>
          <a:ext cx="8229600" cy="2362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1127"/>
          </a:xfrm>
        </p:spPr>
        <p:txBody>
          <a:bodyPr>
            <a:normAutofit/>
          </a:bodyPr>
          <a:lstStyle/>
          <a:p>
            <a:r>
              <a:rPr sz="4000" b="1" dirty="0">
                <a:solidFill>
                  <a:schemeClr val="tx2"/>
                </a:solidFill>
              </a:rPr>
              <a:t>Smoking × Region</a:t>
            </a:r>
          </a:p>
        </p:txBody>
      </p:sp>
      <p:pic>
        <p:nvPicPr>
          <p:cNvPr id="5" name="Picture 4">
            <a:extLst>
              <a:ext uri="{FF2B5EF4-FFF2-40B4-BE49-F238E27FC236}">
                <a16:creationId xmlns:a16="http://schemas.microsoft.com/office/drawing/2014/main" id="{78766EA3-3767-2CC0-5F34-0AE1F9841467}"/>
              </a:ext>
            </a:extLst>
          </p:cNvPr>
          <p:cNvPicPr>
            <a:picLocks noChangeAspect="1"/>
          </p:cNvPicPr>
          <p:nvPr/>
        </p:nvPicPr>
        <p:blipFill>
          <a:blip r:embed="rId2"/>
          <a:stretch>
            <a:fillRect/>
          </a:stretch>
        </p:blipFill>
        <p:spPr>
          <a:xfrm>
            <a:off x="1415143" y="892630"/>
            <a:ext cx="6313714" cy="3439884"/>
          </a:xfrm>
          <a:prstGeom prst="rect">
            <a:avLst/>
          </a:prstGeom>
        </p:spPr>
      </p:pic>
      <p:graphicFrame>
        <p:nvGraphicFramePr>
          <p:cNvPr id="7" name="Rectangle 1">
            <a:extLst>
              <a:ext uri="{FF2B5EF4-FFF2-40B4-BE49-F238E27FC236}">
                <a16:creationId xmlns:a16="http://schemas.microsoft.com/office/drawing/2014/main" id="{24AF2A4D-362B-A5FB-B051-81B528CA22E4}"/>
              </a:ext>
            </a:extLst>
          </p:cNvPr>
          <p:cNvGraphicFramePr>
            <a:graphicFrameLocks noGrp="1"/>
          </p:cNvGraphicFramePr>
          <p:nvPr>
            <p:ph idx="1"/>
          </p:nvPr>
        </p:nvGraphicFramePr>
        <p:xfrm>
          <a:off x="457200" y="4625975"/>
          <a:ext cx="8229600" cy="2232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11342"/>
            <a:ext cx="8229600" cy="620486"/>
          </a:xfrm>
        </p:spPr>
        <p:txBody>
          <a:bodyPr>
            <a:noAutofit/>
          </a:bodyPr>
          <a:lstStyle/>
          <a:p>
            <a:r>
              <a:rPr sz="4000" b="1" dirty="0">
                <a:solidFill>
                  <a:schemeClr val="tx2"/>
                </a:solidFill>
              </a:rPr>
              <a:t>Dashboard Overview</a:t>
            </a:r>
          </a:p>
        </p:txBody>
      </p:sp>
      <p:pic>
        <p:nvPicPr>
          <p:cNvPr id="4" name="Picture 3">
            <a:extLst>
              <a:ext uri="{FF2B5EF4-FFF2-40B4-BE49-F238E27FC236}">
                <a16:creationId xmlns:a16="http://schemas.microsoft.com/office/drawing/2014/main" id="{194B91B4-8D8D-93A0-6010-25560F6186A7}"/>
              </a:ext>
            </a:extLst>
          </p:cNvPr>
          <p:cNvPicPr>
            <a:picLocks noChangeAspect="1"/>
          </p:cNvPicPr>
          <p:nvPr/>
        </p:nvPicPr>
        <p:blipFill>
          <a:blip r:embed="rId2"/>
          <a:stretch>
            <a:fillRect/>
          </a:stretch>
        </p:blipFill>
        <p:spPr>
          <a:xfrm>
            <a:off x="393538" y="1760912"/>
            <a:ext cx="8356921" cy="38180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9867E-E5FC-F603-12A2-C1DDC1919A37}"/>
              </a:ext>
            </a:extLst>
          </p:cNvPr>
          <p:cNvSpPr>
            <a:spLocks noGrp="1"/>
          </p:cNvSpPr>
          <p:nvPr>
            <p:ph type="title"/>
          </p:nvPr>
        </p:nvSpPr>
        <p:spPr/>
        <p:txBody>
          <a:bodyPr/>
          <a:lstStyle/>
          <a:p>
            <a:r>
              <a:rPr lang="en-IN" b="1" dirty="0">
                <a:solidFill>
                  <a:schemeClr val="tx2"/>
                </a:solidFill>
              </a:rPr>
              <a:t>Summary &amp; Key Insights</a:t>
            </a:r>
            <a:endParaRPr lang="en-IN" dirty="0"/>
          </a:p>
        </p:txBody>
      </p:sp>
      <p:graphicFrame>
        <p:nvGraphicFramePr>
          <p:cNvPr id="5" name="Content Placeholder 2">
            <a:extLst>
              <a:ext uri="{FF2B5EF4-FFF2-40B4-BE49-F238E27FC236}">
                <a16:creationId xmlns:a16="http://schemas.microsoft.com/office/drawing/2014/main" id="{778B6E06-5300-C7FF-913E-E6BC2A1BCA1A}"/>
              </a:ext>
            </a:extLst>
          </p:cNvPr>
          <p:cNvGraphicFramePr>
            <a:graphicFrameLocks noGrp="1"/>
          </p:cNvGraphicFramePr>
          <p:nvPr>
            <p:ph idx="1"/>
            <p:extLst>
              <p:ext uri="{D42A27DB-BD31-4B8C-83A1-F6EECF244321}">
                <p14:modId xmlns:p14="http://schemas.microsoft.com/office/powerpoint/2010/main" val="349549749"/>
              </p:ext>
            </p:extLst>
          </p:nvPr>
        </p:nvGraphicFramePr>
        <p:xfrm>
          <a:off x="109728" y="1078028"/>
          <a:ext cx="8833104" cy="53959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9885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9486"/>
            <a:ext cx="8229600" cy="1088570"/>
          </a:xfrm>
        </p:spPr>
        <p:txBody>
          <a:bodyPr>
            <a:normAutofit/>
          </a:bodyPr>
          <a:lstStyle/>
          <a:p>
            <a:r>
              <a:rPr sz="4000" b="1" dirty="0">
                <a:solidFill>
                  <a:schemeClr val="tx2"/>
                </a:solidFill>
              </a:rPr>
              <a:t>YouTube Video Link</a:t>
            </a:r>
          </a:p>
        </p:txBody>
      </p:sp>
      <p:sp>
        <p:nvSpPr>
          <p:cNvPr id="3" name="Content Placeholder 2"/>
          <p:cNvSpPr>
            <a:spLocks noGrp="1"/>
          </p:cNvSpPr>
          <p:nvPr>
            <p:ph idx="1"/>
          </p:nvPr>
        </p:nvSpPr>
        <p:spPr/>
        <p:txBody>
          <a:bodyPr/>
          <a:lstStyle/>
          <a:p>
            <a:r>
              <a:rPr dirty="0"/>
              <a:t>🎬 Watch Full Explanation</a:t>
            </a:r>
            <a:endParaRPr lang="en-US" dirty="0"/>
          </a:p>
          <a:p>
            <a:r>
              <a:rPr lang="en-US" dirty="0"/>
              <a:t>Click here to open video</a:t>
            </a:r>
          </a:p>
          <a:p>
            <a:r>
              <a:rPr lang="en-US" dirty="0">
                <a:hlinkClick r:id="rId2"/>
              </a:rPr>
              <a:t>https://youtu.be/9wKx0TRduLo?si=3ARPhrtEfG3wytm0</a:t>
            </a:r>
            <a:r>
              <a:rPr lang="en-US"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chemeClr val="tx2"/>
                </a:solidFill>
              </a:rPr>
              <a:t>Thank You</a:t>
            </a:r>
          </a:p>
        </p:txBody>
      </p:sp>
      <p:sp>
        <p:nvSpPr>
          <p:cNvPr id="3" name="Content Placeholder 2"/>
          <p:cNvSpPr>
            <a:spLocks noGrp="1"/>
          </p:cNvSpPr>
          <p:nvPr>
            <p:ph idx="1"/>
          </p:nvPr>
        </p:nvSpPr>
        <p:spPr/>
        <p:txBody>
          <a:bodyPr/>
          <a:lstStyle/>
          <a:p>
            <a:r>
              <a:t>Presented by: Muneeza</a:t>
            </a:r>
          </a:p>
          <a:p>
            <a:r>
              <a:t>Tool Used: Microsoft Excel</a:t>
            </a:r>
          </a:p>
          <a:p>
            <a:r>
              <a:t>Project: Medical Cost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309</TotalTime>
  <Words>1364</Words>
  <Application>Microsoft Office PowerPoint</Application>
  <PresentationFormat>On-screen Show (4:3)</PresentationFormat>
  <Paragraphs>85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 Narrow</vt:lpstr>
      <vt:lpstr>Arial</vt:lpstr>
      <vt:lpstr>Calibri</vt:lpstr>
      <vt:lpstr>Office Theme</vt:lpstr>
      <vt:lpstr>Medical Cost Analysis using Excel</vt:lpstr>
      <vt:lpstr>Project Overview</vt:lpstr>
      <vt:lpstr>Basic Statistics Summary</vt:lpstr>
      <vt:lpstr>Gender Analysis</vt:lpstr>
      <vt:lpstr>Smoking Impact</vt:lpstr>
      <vt:lpstr>Dependents vs Charges</vt:lpstr>
      <vt:lpstr>Regional Analysis</vt:lpstr>
      <vt:lpstr>Cost Distribution</vt:lpstr>
      <vt:lpstr>BMI Classification</vt:lpstr>
      <vt:lpstr>BMI vs Charges Correlation</vt:lpstr>
      <vt:lpstr>Smoking × Region</vt:lpstr>
      <vt:lpstr>Dashboard Overview</vt:lpstr>
      <vt:lpstr>Summary &amp; Key Insights</vt:lpstr>
      <vt:lpstr>YouTube Video Link</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Muneeza Ali</dc:creator>
  <cp:keywords/>
  <dc:description>generated using python-pptx</dc:description>
  <cp:lastModifiedBy>Muneeza Ali</cp:lastModifiedBy>
  <cp:revision>9</cp:revision>
  <dcterms:created xsi:type="dcterms:W3CDTF">2013-01-27T09:14:16Z</dcterms:created>
  <dcterms:modified xsi:type="dcterms:W3CDTF">2025-12-29T14:43:18Z</dcterms:modified>
  <cp:category/>
</cp:coreProperties>
</file>