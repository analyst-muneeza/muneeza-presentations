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sldIdLst>
    <p:sldId id="256" r:id="rId2"/>
    <p:sldId id="257" r:id="rId3"/>
    <p:sldId id="258" r:id="rId4"/>
    <p:sldId id="259" r:id="rId5"/>
    <p:sldId id="260" r:id="rId6"/>
    <p:sldId id="261" r:id="rId7"/>
    <p:sldId id="265" r:id="rId8"/>
    <p:sldId id="262" r:id="rId9"/>
    <p:sldId id="264" r:id="rId10"/>
    <p:sldId id="263"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DB82A0-003D-4125-B85D-C6FB22AF94B4}" v="3" dt="2025-12-27T15:55:51.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eeza Ali" userId="5e67a7e5bc87a74e" providerId="LiveId" clId="{9C15D5FB-2155-4960-AC09-F730F044251C}"/>
    <pc:docChg chg="modSld">
      <pc:chgData name="Muneeza Ali" userId="5e67a7e5bc87a74e" providerId="LiveId" clId="{9C15D5FB-2155-4960-AC09-F730F044251C}" dt="2025-12-27T15:55:40.479" v="2" actId="20577"/>
      <pc:docMkLst>
        <pc:docMk/>
      </pc:docMkLst>
      <pc:sldChg chg="addSp delSp modSp modTransition modAnim">
        <pc:chgData name="Muneeza Ali" userId="5e67a7e5bc87a74e" providerId="LiveId" clId="{9C15D5FB-2155-4960-AC09-F730F044251C}" dt="2025-12-27T15:55:25.014" v="1"/>
        <pc:sldMkLst>
          <pc:docMk/>
          <pc:sldMk cId="0" sldId="256"/>
        </pc:sldMkLst>
        <pc:picChg chg="add del mod">
          <ac:chgData name="Muneeza Ali" userId="5e67a7e5bc87a74e" providerId="LiveId" clId="{9C15D5FB-2155-4960-AC09-F730F044251C}" dt="2025-12-27T15:55:25.014" v="1"/>
          <ac:picMkLst>
            <pc:docMk/>
            <pc:sldMk cId="0" sldId="256"/>
            <ac:picMk id="7" creationId="{765D29B8-B371-4D6C-B6F4-34DB90DD96E7}"/>
          </ac:picMkLst>
        </pc:picChg>
      </pc:sldChg>
      <pc:sldChg chg="modTransition">
        <pc:chgData name="Muneeza Ali" userId="5e67a7e5bc87a74e" providerId="LiveId" clId="{9C15D5FB-2155-4960-AC09-F730F044251C}" dt="2025-12-27T15:55:25.014" v="1"/>
        <pc:sldMkLst>
          <pc:docMk/>
          <pc:sldMk cId="0" sldId="257"/>
        </pc:sldMkLst>
      </pc:sldChg>
      <pc:sldChg chg="modTransition">
        <pc:chgData name="Muneeza Ali" userId="5e67a7e5bc87a74e" providerId="LiveId" clId="{9C15D5FB-2155-4960-AC09-F730F044251C}" dt="2025-12-27T15:55:25.014" v="1"/>
        <pc:sldMkLst>
          <pc:docMk/>
          <pc:sldMk cId="0" sldId="258"/>
        </pc:sldMkLst>
      </pc:sldChg>
      <pc:sldChg chg="modTransition">
        <pc:chgData name="Muneeza Ali" userId="5e67a7e5bc87a74e" providerId="LiveId" clId="{9C15D5FB-2155-4960-AC09-F730F044251C}" dt="2025-12-27T15:55:25.014" v="1"/>
        <pc:sldMkLst>
          <pc:docMk/>
          <pc:sldMk cId="0" sldId="259"/>
        </pc:sldMkLst>
      </pc:sldChg>
      <pc:sldChg chg="modTransition">
        <pc:chgData name="Muneeza Ali" userId="5e67a7e5bc87a74e" providerId="LiveId" clId="{9C15D5FB-2155-4960-AC09-F730F044251C}" dt="2025-12-27T15:55:25.014" v="1"/>
        <pc:sldMkLst>
          <pc:docMk/>
          <pc:sldMk cId="0" sldId="260"/>
        </pc:sldMkLst>
      </pc:sldChg>
      <pc:sldChg chg="modTransition">
        <pc:chgData name="Muneeza Ali" userId="5e67a7e5bc87a74e" providerId="LiveId" clId="{9C15D5FB-2155-4960-AC09-F730F044251C}" dt="2025-12-27T15:55:25.014" v="1"/>
        <pc:sldMkLst>
          <pc:docMk/>
          <pc:sldMk cId="0" sldId="261"/>
        </pc:sldMkLst>
      </pc:sldChg>
      <pc:sldChg chg="modTransition">
        <pc:chgData name="Muneeza Ali" userId="5e67a7e5bc87a74e" providerId="LiveId" clId="{9C15D5FB-2155-4960-AC09-F730F044251C}" dt="2025-12-27T15:55:25.014" v="1"/>
        <pc:sldMkLst>
          <pc:docMk/>
          <pc:sldMk cId="0" sldId="262"/>
        </pc:sldMkLst>
      </pc:sldChg>
      <pc:sldChg chg="modTransition">
        <pc:chgData name="Muneeza Ali" userId="5e67a7e5bc87a74e" providerId="LiveId" clId="{9C15D5FB-2155-4960-AC09-F730F044251C}" dt="2025-12-27T15:55:25.014" v="1"/>
        <pc:sldMkLst>
          <pc:docMk/>
          <pc:sldMk cId="0" sldId="263"/>
        </pc:sldMkLst>
      </pc:sldChg>
      <pc:sldChg chg="modSp mod modTransition">
        <pc:chgData name="Muneeza Ali" userId="5e67a7e5bc87a74e" providerId="LiveId" clId="{9C15D5FB-2155-4960-AC09-F730F044251C}" dt="2025-12-27T15:55:40.479" v="2" actId="20577"/>
        <pc:sldMkLst>
          <pc:docMk/>
          <pc:sldMk cId="4208661643" sldId="264"/>
        </pc:sldMkLst>
        <pc:spChg chg="mod">
          <ac:chgData name="Muneeza Ali" userId="5e67a7e5bc87a74e" providerId="LiveId" clId="{9C15D5FB-2155-4960-AC09-F730F044251C}" dt="2025-12-27T15:55:40.479" v="2" actId="20577"/>
          <ac:spMkLst>
            <pc:docMk/>
            <pc:sldMk cId="4208661643" sldId="264"/>
            <ac:spMk id="2" creationId="{D5F09EBE-3147-13F6-30A2-1A1D0597BCA7}"/>
          </ac:spMkLst>
        </pc:spChg>
      </pc:sldChg>
      <pc:sldChg chg="modTransition">
        <pc:chgData name="Muneeza Ali" userId="5e67a7e5bc87a74e" providerId="LiveId" clId="{9C15D5FB-2155-4960-AC09-F730F044251C}" dt="2025-12-27T15:55:25.014" v="1"/>
        <pc:sldMkLst>
          <pc:docMk/>
          <pc:sldMk cId="585550586" sldId="265"/>
        </pc:sldMkLst>
      </pc:sldChg>
    </pc:docChg>
  </pc:docChgLst>
  <pc:docChgLst>
    <pc:chgData name="Muneeza Ali" userId="5e67a7e5bc87a74e" providerId="LiveId" clId="{4982DE76-B299-4CA6-95AD-094EBBAC7AFC}"/>
    <pc:docChg chg="modSld">
      <pc:chgData name="Muneeza Ali" userId="5e67a7e5bc87a74e" providerId="LiveId" clId="{4982DE76-B299-4CA6-95AD-094EBBAC7AFC}" dt="2025-12-17T18:21:23.888" v="0" actId="20577"/>
      <pc:docMkLst>
        <pc:docMk/>
      </pc:docMkLst>
      <pc:sldChg chg="modSp mod">
        <pc:chgData name="Muneeza Ali" userId="5e67a7e5bc87a74e" providerId="LiveId" clId="{4982DE76-B299-4CA6-95AD-094EBBAC7AFC}" dt="2025-12-17T18:21:23.888" v="0" actId="20577"/>
        <pc:sldMkLst>
          <pc:docMk/>
          <pc:sldMk cId="4208661643" sldId="264"/>
        </pc:sldMkLst>
        <pc:spChg chg="mod">
          <ac:chgData name="Muneeza Ali" userId="5e67a7e5bc87a74e" providerId="LiveId" clId="{4982DE76-B299-4CA6-95AD-094EBBAC7AFC}" dt="2025-12-17T18:21:23.888" v="0" actId="20577"/>
          <ac:spMkLst>
            <pc:docMk/>
            <pc:sldMk cId="4208661643" sldId="264"/>
            <ac:spMk id="2" creationId="{D5F09EBE-3147-13F6-30A2-1A1D0597BCA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281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7691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1427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867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6037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833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6191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5894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5413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7875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0877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253667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50858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119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37470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2957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786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12/27/2025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7889645"/>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hyperlink" Target="https://youtu.be/MvVBwHTf5j0"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5686" y="1447802"/>
            <a:ext cx="8643257" cy="1676398"/>
          </a:xfrm>
        </p:spPr>
        <p:txBody>
          <a:bodyPr/>
          <a:lstStyle/>
          <a:p>
            <a:r>
              <a:rPr sz="5400" b="1" dirty="0"/>
              <a:t>Madrid Analysis Project</a:t>
            </a:r>
          </a:p>
        </p:txBody>
      </p:sp>
      <p:sp>
        <p:nvSpPr>
          <p:cNvPr id="3" name="Subtitle 2"/>
          <p:cNvSpPr>
            <a:spLocks noGrp="1"/>
          </p:cNvSpPr>
          <p:nvPr>
            <p:ph type="subTitle" idx="1"/>
          </p:nvPr>
        </p:nvSpPr>
        <p:spPr>
          <a:xfrm>
            <a:off x="957943" y="3886200"/>
            <a:ext cx="7043057" cy="1752600"/>
          </a:xfrm>
        </p:spPr>
        <p:txBody>
          <a:bodyPr>
            <a:normAutofit/>
          </a:bodyPr>
          <a:lstStyle/>
          <a:p>
            <a:r>
              <a:rPr dirty="0"/>
              <a:t>Interactive Power BI Insights &amp; Dashboard</a:t>
            </a:r>
            <a:r>
              <a:rPr lang="en-US" dirty="0"/>
              <a:t> </a:t>
            </a:r>
          </a:p>
          <a:p>
            <a:r>
              <a:rPr lang="en-US" dirty="0"/>
              <a:t>Data Analytics Project</a:t>
            </a:r>
          </a:p>
          <a:p>
            <a:r>
              <a:rPr lang="en-US" dirty="0"/>
              <a:t>By: Muneeza</a:t>
            </a:r>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486697" y="629267"/>
            <a:ext cx="6939116" cy="1016654"/>
          </a:xfrm>
        </p:spPr>
        <p:txBody>
          <a:bodyPr>
            <a:normAutofit/>
          </a:bodyPr>
          <a:lstStyle/>
          <a:p>
            <a:pPr>
              <a:lnSpc>
                <a:spcPct val="90000"/>
              </a:lnSpc>
            </a:pPr>
            <a:r>
              <a:rPr lang="en-IN" sz="3300" b="1">
                <a:solidFill>
                  <a:srgbClr val="EBEBEB"/>
                </a:solidFill>
              </a:rPr>
              <a:t>Price Analysis – Pool Availability</a:t>
            </a:r>
          </a:p>
        </p:txBody>
      </p:sp>
      <p:sp useBgFill="1">
        <p:nvSpPr>
          <p:cNvPr id="16" name="Freeform: Shape 15">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4" name="Rectangle 1">
            <a:extLst>
              <a:ext uri="{FF2B5EF4-FFF2-40B4-BE49-F238E27FC236}">
                <a16:creationId xmlns:a16="http://schemas.microsoft.com/office/drawing/2014/main" id="{3D314F24-223A-E039-287A-8593634B4883}"/>
              </a:ext>
            </a:extLst>
          </p:cNvPr>
          <p:cNvSpPr>
            <a:spLocks noGrp="1" noChangeArrowheads="1"/>
          </p:cNvSpPr>
          <p:nvPr>
            <p:ph idx="1"/>
          </p:nvPr>
        </p:nvSpPr>
        <p:spPr bwMode="auto">
          <a:xfrm>
            <a:off x="239932" y="2356701"/>
            <a:ext cx="4088720" cy="437403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lnSpcReduction="10000"/>
          </a:bodyPr>
          <a:lstStyle/>
          <a:p>
            <a:pPr marR="0" lvl="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Arial" panose="020B0604020202020204" pitchFamily="34" charset="0"/>
              </a:rPr>
              <a:t>Properties that have a swimming pool are priced </a:t>
            </a:r>
            <a:r>
              <a:rPr kumimoji="0" lang="en-US" altLang="en-US" sz="1600" b="1" i="0" u="none" strike="noStrike" cap="none" normalizeH="0" baseline="0" dirty="0">
                <a:ln>
                  <a:noFill/>
                </a:ln>
                <a:effectLst/>
                <a:latin typeface="Arial" panose="020B0604020202020204" pitchFamily="34" charset="0"/>
              </a:rPr>
              <a:t>much higher on average</a:t>
            </a:r>
            <a:r>
              <a:rPr kumimoji="0" lang="en-US" altLang="en-US" sz="1600" b="0" i="0" u="none" strike="noStrike" cap="none" normalizeH="0" baseline="0" dirty="0">
                <a:ln>
                  <a:noFill/>
                </a:ln>
                <a:effectLst/>
                <a:latin typeface="Arial" panose="020B0604020202020204" pitchFamily="34" charset="0"/>
              </a:rPr>
              <a:t> compared to properties without a pool.</a:t>
            </a:r>
          </a:p>
          <a:p>
            <a:pPr marR="0" lvl="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Arial" panose="020B0604020202020204" pitchFamily="34" charset="0"/>
              </a:rPr>
              <a:t>This clearly shows that a pool is treated as a </a:t>
            </a:r>
            <a:r>
              <a:rPr kumimoji="0" lang="en-US" altLang="en-US" sz="1600" b="1" i="0" u="none" strike="noStrike" cap="none" normalizeH="0" baseline="0" dirty="0">
                <a:ln>
                  <a:noFill/>
                </a:ln>
                <a:effectLst/>
                <a:latin typeface="Arial" panose="020B0604020202020204" pitchFamily="34" charset="0"/>
              </a:rPr>
              <a:t>premium feature</a:t>
            </a:r>
            <a:r>
              <a:rPr kumimoji="0" lang="en-US" altLang="en-US" sz="1600" b="0" i="0" u="none" strike="noStrike" cap="none" normalizeH="0" baseline="0" dirty="0">
                <a:ln>
                  <a:noFill/>
                </a:ln>
                <a:effectLst/>
                <a:latin typeface="Arial" panose="020B0604020202020204" pitchFamily="34" charset="0"/>
              </a:rPr>
              <a:t> and adds strong perceived value in the housing market.</a:t>
            </a:r>
          </a:p>
          <a:p>
            <a:pPr marR="0" lvl="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Arial" panose="020B0604020202020204" pitchFamily="34" charset="0"/>
              </a:rPr>
              <a:t>Buyers seem willing to pay a significant premium for </a:t>
            </a:r>
            <a:r>
              <a:rPr kumimoji="0" lang="en-US" altLang="en-US" sz="1600" b="1" i="0" u="none" strike="noStrike" cap="none" normalizeH="0" baseline="0" dirty="0">
                <a:ln>
                  <a:noFill/>
                </a:ln>
                <a:effectLst/>
                <a:latin typeface="Arial" panose="020B0604020202020204" pitchFamily="34" charset="0"/>
              </a:rPr>
              <a:t>luxury and lifestyle amenities</a:t>
            </a:r>
            <a:r>
              <a:rPr kumimoji="0" lang="en-US" altLang="en-US" sz="1600" b="0" i="0" u="none" strike="noStrike" cap="none" normalizeH="0" baseline="0" dirty="0">
                <a:ln>
                  <a:noFill/>
                </a:ln>
                <a:effectLst/>
                <a:latin typeface="Arial" panose="020B0604020202020204" pitchFamily="34" charset="0"/>
              </a:rPr>
              <a:t>, not just basic living space.</a:t>
            </a:r>
          </a:p>
          <a:p>
            <a:pPr marR="0" lvl="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Arial" panose="020B0604020202020204" pitchFamily="34" charset="0"/>
              </a:rPr>
              <a:t>The price gap between properties with and without a pool is substantial, indicating that pool availability can </a:t>
            </a:r>
            <a:r>
              <a:rPr kumimoji="0" lang="en-US" altLang="en-US" sz="1600" b="1" i="0" u="none" strike="noStrike" cap="none" normalizeH="0" baseline="0" dirty="0">
                <a:ln>
                  <a:noFill/>
                </a:ln>
                <a:effectLst/>
                <a:latin typeface="Arial" panose="020B0604020202020204" pitchFamily="34" charset="0"/>
              </a:rPr>
              <a:t>almost double the property value</a:t>
            </a:r>
            <a:r>
              <a:rPr kumimoji="0" lang="en-US" altLang="en-US" sz="1600" b="0" i="0" u="none" strike="noStrike" cap="none" normalizeH="0" baseline="0" dirty="0">
                <a:ln>
                  <a:noFill/>
                </a:ln>
                <a:effectLst/>
                <a:latin typeface="Arial" panose="020B0604020202020204" pitchFamily="34" charset="0"/>
              </a:rPr>
              <a:t> in certain markets.</a:t>
            </a:r>
          </a:p>
          <a:p>
            <a:pPr marR="0" lvl="0" defTabSz="914400" rtl="0" eaLnBrk="0" fontAlgn="base" latinLnBrk="0" hangingPunct="0">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latin typeface="Arial" panose="020B0604020202020204" pitchFamily="34" charset="0"/>
              </a:rPr>
              <a:t>From a seller’s perspective, adding or highlighting pool availability can be a </a:t>
            </a:r>
            <a:r>
              <a:rPr kumimoji="0" lang="en-US" altLang="en-US" sz="1600" b="1" i="0" u="none" strike="noStrike" cap="none" normalizeH="0" baseline="0" dirty="0">
                <a:ln>
                  <a:noFill/>
                </a:ln>
                <a:effectLst/>
                <a:latin typeface="Arial" panose="020B0604020202020204" pitchFamily="34" charset="0"/>
              </a:rPr>
              <a:t>strong pricing and marketing advantage</a:t>
            </a:r>
            <a:r>
              <a:rPr kumimoji="0" lang="en-US" altLang="en-US" sz="1600" b="0" i="0" u="none" strike="noStrike" cap="none" normalizeH="0" baseline="0" dirty="0">
                <a:ln>
                  <a:noFill/>
                </a:ln>
                <a:effectLst/>
                <a:latin typeface="Arial" panose="020B0604020202020204" pitchFamily="34" charset="0"/>
              </a:rPr>
              <a:t>.</a:t>
            </a:r>
          </a:p>
        </p:txBody>
      </p:sp>
      <p:pic>
        <p:nvPicPr>
          <p:cNvPr id="5" name="Picture 4">
            <a:extLst>
              <a:ext uri="{FF2B5EF4-FFF2-40B4-BE49-F238E27FC236}">
                <a16:creationId xmlns:a16="http://schemas.microsoft.com/office/drawing/2014/main" id="{80670B4C-6146-D77C-A028-5F4884C26DDF}"/>
              </a:ext>
            </a:extLst>
          </p:cNvPr>
          <p:cNvPicPr>
            <a:picLocks noChangeAspect="1"/>
          </p:cNvPicPr>
          <p:nvPr/>
        </p:nvPicPr>
        <p:blipFill>
          <a:blip r:embed="rId2"/>
          <a:stretch>
            <a:fillRect/>
          </a:stretch>
        </p:blipFill>
        <p:spPr>
          <a:xfrm>
            <a:off x="4568937" y="2607868"/>
            <a:ext cx="4088720" cy="3542843"/>
          </a:xfrm>
          <a:prstGeom prst="rect">
            <a:avLst/>
          </a:prstGeom>
          <a:effectLst/>
        </p:spPr>
      </p:pic>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7" y="629266"/>
            <a:ext cx="4641143" cy="1622321"/>
          </a:xfrm>
        </p:spPr>
        <p:txBody>
          <a:bodyPr>
            <a:normAutofit/>
          </a:bodyPr>
          <a:lstStyle/>
          <a:p>
            <a:pPr>
              <a:lnSpc>
                <a:spcPct val="90000"/>
              </a:lnSpc>
            </a:pPr>
            <a:r>
              <a:rPr lang="en-IN" sz="3600" b="1">
                <a:solidFill>
                  <a:srgbClr val="EBEBEB"/>
                </a:solidFill>
              </a:rPr>
              <a:t>Price Analysis – Garden Availability</a:t>
            </a:r>
          </a:p>
        </p:txBody>
      </p:sp>
      <p:sp>
        <p:nvSpPr>
          <p:cNvPr id="2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AC3BF0FA-36FA-4CE9-840E-F7C3A8F16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854097" y="1567784"/>
            <a:ext cx="6858001" cy="3722434"/>
          </a:xfrm>
          <a:custGeom>
            <a:avLst/>
            <a:gdLst>
              <a:gd name="connsiteX0" fmla="*/ 6858001 w 6858001"/>
              <a:gd name="connsiteY0" fmla="*/ 1177 h 4963245"/>
              <a:gd name="connsiteX1" fmla="*/ 6858001 w 6858001"/>
              <a:gd name="connsiteY1" fmla="*/ 1344715 h 4963245"/>
              <a:gd name="connsiteX2" fmla="*/ 6858000 w 6858001"/>
              <a:gd name="connsiteY2" fmla="*/ 1344715 h 4963245"/>
              <a:gd name="connsiteX3" fmla="*/ 6858000 w 6858001"/>
              <a:gd name="connsiteY3" fmla="*/ 4963245 h 4963245"/>
              <a:gd name="connsiteX4" fmla="*/ 0 w 6858001"/>
              <a:gd name="connsiteY4" fmla="*/ 4963244 h 4963245"/>
              <a:gd name="connsiteX5" fmla="*/ 0 w 6858001"/>
              <a:gd name="connsiteY5" fmla="*/ 900697 h 4963245"/>
              <a:gd name="connsiteX6" fmla="*/ 1 w 6858001"/>
              <a:gd name="connsiteY6" fmla="*/ 900697 h 4963245"/>
              <a:gd name="connsiteX7" fmla="*/ 1 w 6858001"/>
              <a:gd name="connsiteY7" fmla="*/ 0 h 4963245"/>
              <a:gd name="connsiteX8" fmla="*/ 40463 w 6858001"/>
              <a:gd name="connsiteY8" fmla="*/ 5883 h 4963245"/>
              <a:gd name="connsiteX9" fmla="*/ 159107 w 6858001"/>
              <a:gd name="connsiteY9" fmla="*/ 23196 h 4963245"/>
              <a:gd name="connsiteX10" fmla="*/ 245518 w 6858001"/>
              <a:gd name="connsiteY10" fmla="*/ 35299 h 4963245"/>
              <a:gd name="connsiteX11" fmla="*/ 348388 w 6858001"/>
              <a:gd name="connsiteY11" fmla="*/ 48073 h 4963245"/>
              <a:gd name="connsiteX12" fmla="*/ 470460 w 6858001"/>
              <a:gd name="connsiteY12" fmla="*/ 63369 h 4963245"/>
              <a:gd name="connsiteX13" fmla="*/ 605563 w 6858001"/>
              <a:gd name="connsiteY13" fmla="*/ 79506 h 4963245"/>
              <a:gd name="connsiteX14" fmla="*/ 757810 w 6858001"/>
              <a:gd name="connsiteY14" fmla="*/ 96483 h 4963245"/>
              <a:gd name="connsiteX15" fmla="*/ 923774 w 6858001"/>
              <a:gd name="connsiteY15" fmla="*/ 114469 h 4963245"/>
              <a:gd name="connsiteX16" fmla="*/ 1104139 w 6858001"/>
              <a:gd name="connsiteY16" fmla="*/ 132454 h 4963245"/>
              <a:gd name="connsiteX17" fmla="*/ 1296163 w 6858001"/>
              <a:gd name="connsiteY17" fmla="*/ 150776 h 4963245"/>
              <a:gd name="connsiteX18" fmla="*/ 1503275 w 6858001"/>
              <a:gd name="connsiteY18" fmla="*/ 167753 h 4963245"/>
              <a:gd name="connsiteX19" fmla="*/ 1719988 w 6858001"/>
              <a:gd name="connsiteY19" fmla="*/ 184058 h 4963245"/>
              <a:gd name="connsiteX20" fmla="*/ 1949045 w 6858001"/>
              <a:gd name="connsiteY20" fmla="*/ 198849 h 4963245"/>
              <a:gd name="connsiteX21" fmla="*/ 2187703 w 6858001"/>
              <a:gd name="connsiteY21" fmla="*/ 212969 h 4963245"/>
              <a:gd name="connsiteX22" fmla="*/ 2436649 w 6858001"/>
              <a:gd name="connsiteY22" fmla="*/ 226248 h 4963245"/>
              <a:gd name="connsiteX23" fmla="*/ 2564208 w 6858001"/>
              <a:gd name="connsiteY23" fmla="*/ 230955 h 4963245"/>
              <a:gd name="connsiteX24" fmla="*/ 2694509 w 6858001"/>
              <a:gd name="connsiteY24" fmla="*/ 236165 h 4963245"/>
              <a:gd name="connsiteX25" fmla="*/ 2826868 w 6858001"/>
              <a:gd name="connsiteY25" fmla="*/ 241040 h 4963245"/>
              <a:gd name="connsiteX26" fmla="*/ 2959914 w 6858001"/>
              <a:gd name="connsiteY26" fmla="*/ 244234 h 4963245"/>
              <a:gd name="connsiteX27" fmla="*/ 3095702 w 6858001"/>
              <a:gd name="connsiteY27" fmla="*/ 247091 h 4963245"/>
              <a:gd name="connsiteX28" fmla="*/ 3232862 w 6858001"/>
              <a:gd name="connsiteY28" fmla="*/ 250117 h 4963245"/>
              <a:gd name="connsiteX29" fmla="*/ 3372765 w 6858001"/>
              <a:gd name="connsiteY29" fmla="*/ 252134 h 4963245"/>
              <a:gd name="connsiteX30" fmla="*/ 3514040 w 6858001"/>
              <a:gd name="connsiteY30" fmla="*/ 252134 h 4963245"/>
              <a:gd name="connsiteX31" fmla="*/ 3656686 w 6858001"/>
              <a:gd name="connsiteY31" fmla="*/ 253142 h 4963245"/>
              <a:gd name="connsiteX32" fmla="*/ 3800704 w 6858001"/>
              <a:gd name="connsiteY32" fmla="*/ 252134 h 4963245"/>
              <a:gd name="connsiteX33" fmla="*/ 3946780 w 6858001"/>
              <a:gd name="connsiteY33" fmla="*/ 250117 h 4963245"/>
              <a:gd name="connsiteX34" fmla="*/ 4092855 w 6858001"/>
              <a:gd name="connsiteY34" fmla="*/ 248268 h 4963245"/>
              <a:gd name="connsiteX35" fmla="*/ 4240988 w 6858001"/>
              <a:gd name="connsiteY35" fmla="*/ 244234 h 4963245"/>
              <a:gd name="connsiteX36" fmla="*/ 4390492 w 6858001"/>
              <a:gd name="connsiteY36" fmla="*/ 240032 h 4963245"/>
              <a:gd name="connsiteX37" fmla="*/ 4539997 w 6858001"/>
              <a:gd name="connsiteY37" fmla="*/ 235157 h 4963245"/>
              <a:gd name="connsiteX38" fmla="*/ 4690873 w 6858001"/>
              <a:gd name="connsiteY38" fmla="*/ 228266 h 4963245"/>
              <a:gd name="connsiteX39" fmla="*/ 4843120 w 6858001"/>
              <a:gd name="connsiteY39" fmla="*/ 220029 h 4963245"/>
              <a:gd name="connsiteX40" fmla="*/ 4996054 w 6858001"/>
              <a:gd name="connsiteY40" fmla="*/ 212129 h 4963245"/>
              <a:gd name="connsiteX41" fmla="*/ 5148987 w 6858001"/>
              <a:gd name="connsiteY41" fmla="*/ 202044 h 4963245"/>
              <a:gd name="connsiteX42" fmla="*/ 5303978 w 6858001"/>
              <a:gd name="connsiteY42" fmla="*/ 189941 h 4963245"/>
              <a:gd name="connsiteX43" fmla="*/ 5456911 w 6858001"/>
              <a:gd name="connsiteY43" fmla="*/ 177839 h 4963245"/>
              <a:gd name="connsiteX44" fmla="*/ 5612588 w 6858001"/>
              <a:gd name="connsiteY44" fmla="*/ 163887 h 4963245"/>
              <a:gd name="connsiteX45" fmla="*/ 5768950 w 6858001"/>
              <a:gd name="connsiteY45" fmla="*/ 148591 h 4963245"/>
              <a:gd name="connsiteX46" fmla="*/ 5923255 w 6858001"/>
              <a:gd name="connsiteY46" fmla="*/ 132455 h 4963245"/>
              <a:gd name="connsiteX47" fmla="*/ 6079618 w 6858001"/>
              <a:gd name="connsiteY47" fmla="*/ 113629 h 4963245"/>
              <a:gd name="connsiteX48" fmla="*/ 6235294 w 6858001"/>
              <a:gd name="connsiteY48" fmla="*/ 93458 h 4963245"/>
              <a:gd name="connsiteX49" fmla="*/ 6391657 w 6858001"/>
              <a:gd name="connsiteY49" fmla="*/ 73455 h 4963245"/>
              <a:gd name="connsiteX50" fmla="*/ 6547333 w 6858001"/>
              <a:gd name="connsiteY50" fmla="*/ 50091 h 4963245"/>
              <a:gd name="connsiteX51" fmla="*/ 6702324 w 6858001"/>
              <a:gd name="connsiteY51" fmla="*/ 26222 h 496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4963245">
                <a:moveTo>
                  <a:pt x="6858001" y="1177"/>
                </a:moveTo>
                <a:lnTo>
                  <a:pt x="6858001" y="1344715"/>
                </a:lnTo>
                <a:lnTo>
                  <a:pt x="6858000" y="1344715"/>
                </a:lnTo>
                <a:lnTo>
                  <a:pt x="6858000" y="4963245"/>
                </a:lnTo>
                <a:lnTo>
                  <a:pt x="0" y="4963244"/>
                </a:lnTo>
                <a:lnTo>
                  <a:pt x="0" y="900697"/>
                </a:lnTo>
                <a:lnTo>
                  <a:pt x="1" y="900697"/>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pic>
        <p:nvPicPr>
          <p:cNvPr id="5" name="Picture 4">
            <a:extLst>
              <a:ext uri="{FF2B5EF4-FFF2-40B4-BE49-F238E27FC236}">
                <a16:creationId xmlns:a16="http://schemas.microsoft.com/office/drawing/2014/main" id="{FCB86AFC-EEF1-6C48-1B47-7D7B4BEDB623}"/>
              </a:ext>
            </a:extLst>
          </p:cNvPr>
          <p:cNvPicPr>
            <a:picLocks noChangeAspect="1"/>
          </p:cNvPicPr>
          <p:nvPr/>
        </p:nvPicPr>
        <p:blipFill>
          <a:blip r:embed="rId2"/>
          <a:stretch>
            <a:fillRect/>
          </a:stretch>
        </p:blipFill>
        <p:spPr>
          <a:xfrm>
            <a:off x="5815724" y="2193147"/>
            <a:ext cx="3099078" cy="2991595"/>
          </a:xfrm>
          <a:prstGeom prst="rect">
            <a:avLst/>
          </a:prstGeom>
          <a:effectLst/>
        </p:spPr>
      </p:pic>
      <p:sp>
        <p:nvSpPr>
          <p:cNvPr id="27" name="Rectangle 26">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486697" y="2438400"/>
            <a:ext cx="4641142" cy="3785419"/>
          </a:xfrm>
        </p:spPr>
        <p:txBody>
          <a:bodyPr>
            <a:normAutofit/>
          </a:bodyPr>
          <a:lstStyle/>
          <a:p>
            <a:pPr>
              <a:lnSpc>
                <a:spcPct val="90000"/>
              </a:lnSpc>
            </a:pPr>
            <a:r>
              <a:rPr lang="en-US" sz="1400" dirty="0">
                <a:solidFill>
                  <a:srgbClr val="FFFFFF"/>
                </a:solidFill>
              </a:rPr>
              <a:t>Properties with a garden are priced </a:t>
            </a:r>
            <a:r>
              <a:rPr lang="en-US" sz="1400" b="1" dirty="0">
                <a:solidFill>
                  <a:srgbClr val="FFFFFF"/>
                </a:solidFill>
              </a:rPr>
              <a:t>significantly higher on average</a:t>
            </a:r>
            <a:r>
              <a:rPr lang="en-US" sz="1400" dirty="0">
                <a:solidFill>
                  <a:srgbClr val="FFFFFF"/>
                </a:solidFill>
              </a:rPr>
              <a:t> compared to homes without a garden.</a:t>
            </a:r>
          </a:p>
          <a:p>
            <a:pPr>
              <a:lnSpc>
                <a:spcPct val="90000"/>
              </a:lnSpc>
            </a:pPr>
            <a:r>
              <a:rPr lang="en-US" sz="1400" dirty="0">
                <a:solidFill>
                  <a:srgbClr val="FFFFFF"/>
                </a:solidFill>
              </a:rPr>
              <a:t>This indicates that buyers place strong value on </a:t>
            </a:r>
            <a:r>
              <a:rPr lang="en-US" sz="1400" b="1" dirty="0">
                <a:solidFill>
                  <a:srgbClr val="FFFFFF"/>
                </a:solidFill>
              </a:rPr>
              <a:t>open and green spaces</a:t>
            </a:r>
            <a:r>
              <a:rPr lang="en-US" sz="1400" dirty="0">
                <a:solidFill>
                  <a:srgbClr val="FFFFFF"/>
                </a:solidFill>
              </a:rPr>
              <a:t>, especially for relaxation, family use, and lifestyle comfort.</a:t>
            </a:r>
          </a:p>
          <a:p>
            <a:pPr>
              <a:lnSpc>
                <a:spcPct val="90000"/>
              </a:lnSpc>
            </a:pPr>
            <a:r>
              <a:rPr lang="en-US" sz="1400" dirty="0">
                <a:solidFill>
                  <a:srgbClr val="FFFFFF"/>
                </a:solidFill>
              </a:rPr>
              <a:t>Garden availability increases a buyer’s </a:t>
            </a:r>
            <a:r>
              <a:rPr lang="en-US" sz="1400" b="1" dirty="0">
                <a:solidFill>
                  <a:srgbClr val="FFFFFF"/>
                </a:solidFill>
              </a:rPr>
              <a:t>willingness to pay</a:t>
            </a:r>
            <a:r>
              <a:rPr lang="en-US" sz="1400" dirty="0">
                <a:solidFill>
                  <a:srgbClr val="FFFFFF"/>
                </a:solidFill>
              </a:rPr>
              <a:t>, even when other property features remain similar.</a:t>
            </a:r>
          </a:p>
          <a:p>
            <a:pPr>
              <a:lnSpc>
                <a:spcPct val="90000"/>
              </a:lnSpc>
            </a:pPr>
            <a:r>
              <a:rPr lang="en-US" sz="1400" dirty="0">
                <a:solidFill>
                  <a:srgbClr val="FFFFFF"/>
                </a:solidFill>
              </a:rPr>
              <a:t>The large price difference suggests that gardens are seen as a </a:t>
            </a:r>
            <a:r>
              <a:rPr lang="en-US" sz="1400" b="1" dirty="0">
                <a:solidFill>
                  <a:srgbClr val="FFFFFF"/>
                </a:solidFill>
              </a:rPr>
              <a:t>premium amenity</a:t>
            </a:r>
            <a:r>
              <a:rPr lang="en-US" sz="1400" dirty="0">
                <a:solidFill>
                  <a:srgbClr val="FFFFFF"/>
                </a:solidFill>
              </a:rPr>
              <a:t>, not just an optional add-on.</a:t>
            </a:r>
          </a:p>
          <a:p>
            <a:pPr>
              <a:lnSpc>
                <a:spcPct val="90000"/>
              </a:lnSpc>
            </a:pPr>
            <a:r>
              <a:rPr lang="en-US" sz="1400" dirty="0">
                <a:solidFill>
                  <a:srgbClr val="FFFFFF"/>
                </a:solidFill>
              </a:rPr>
              <a:t>From a market perspective, properties with gardens tend to attract </a:t>
            </a:r>
            <a:r>
              <a:rPr lang="en-US" sz="1400" b="1" dirty="0">
                <a:solidFill>
                  <a:srgbClr val="FFFFFF"/>
                </a:solidFill>
              </a:rPr>
              <a:t>higher-income or lifestyle-focused buyers</a:t>
            </a:r>
            <a:r>
              <a:rPr lang="en-US" sz="1400" dirty="0">
                <a:solidFill>
                  <a:srgbClr val="FFFFFF"/>
                </a:solidFill>
              </a:rPr>
              <a:t>, leading to better pricing outcomes.</a:t>
            </a:r>
          </a:p>
          <a:p>
            <a:pPr>
              <a:lnSpc>
                <a:spcPct val="90000"/>
              </a:lnSpc>
            </a:pPr>
            <a:endParaRPr lang="en-US" sz="1400" dirty="0">
              <a:solidFill>
                <a:srgbClr val="FFFFFF"/>
              </a:solidFill>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7" y="629266"/>
            <a:ext cx="4641143" cy="1622321"/>
          </a:xfrm>
        </p:spPr>
        <p:txBody>
          <a:bodyPr>
            <a:normAutofit/>
          </a:bodyPr>
          <a:lstStyle/>
          <a:p>
            <a:r>
              <a:rPr lang="en-IN" b="1">
                <a:solidFill>
                  <a:srgbClr val="EBEBEB"/>
                </a:solidFill>
              </a:rPr>
              <a:t>New vs Old Developments</a:t>
            </a:r>
          </a:p>
        </p:txBody>
      </p:sp>
      <p:sp>
        <p:nvSpPr>
          <p:cNvPr id="1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4" name="Freeform: Shape 13">
            <a:extLst>
              <a:ext uri="{FF2B5EF4-FFF2-40B4-BE49-F238E27FC236}">
                <a16:creationId xmlns:a16="http://schemas.microsoft.com/office/drawing/2014/main" id="{AC3BF0FA-36FA-4CE9-840E-F7C3A8F16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854097" y="1567784"/>
            <a:ext cx="6858001" cy="3722434"/>
          </a:xfrm>
          <a:custGeom>
            <a:avLst/>
            <a:gdLst>
              <a:gd name="connsiteX0" fmla="*/ 6858001 w 6858001"/>
              <a:gd name="connsiteY0" fmla="*/ 1177 h 4963245"/>
              <a:gd name="connsiteX1" fmla="*/ 6858001 w 6858001"/>
              <a:gd name="connsiteY1" fmla="*/ 1344715 h 4963245"/>
              <a:gd name="connsiteX2" fmla="*/ 6858000 w 6858001"/>
              <a:gd name="connsiteY2" fmla="*/ 1344715 h 4963245"/>
              <a:gd name="connsiteX3" fmla="*/ 6858000 w 6858001"/>
              <a:gd name="connsiteY3" fmla="*/ 4963245 h 4963245"/>
              <a:gd name="connsiteX4" fmla="*/ 0 w 6858001"/>
              <a:gd name="connsiteY4" fmla="*/ 4963244 h 4963245"/>
              <a:gd name="connsiteX5" fmla="*/ 0 w 6858001"/>
              <a:gd name="connsiteY5" fmla="*/ 900697 h 4963245"/>
              <a:gd name="connsiteX6" fmla="*/ 1 w 6858001"/>
              <a:gd name="connsiteY6" fmla="*/ 900697 h 4963245"/>
              <a:gd name="connsiteX7" fmla="*/ 1 w 6858001"/>
              <a:gd name="connsiteY7" fmla="*/ 0 h 4963245"/>
              <a:gd name="connsiteX8" fmla="*/ 40463 w 6858001"/>
              <a:gd name="connsiteY8" fmla="*/ 5883 h 4963245"/>
              <a:gd name="connsiteX9" fmla="*/ 159107 w 6858001"/>
              <a:gd name="connsiteY9" fmla="*/ 23196 h 4963245"/>
              <a:gd name="connsiteX10" fmla="*/ 245518 w 6858001"/>
              <a:gd name="connsiteY10" fmla="*/ 35299 h 4963245"/>
              <a:gd name="connsiteX11" fmla="*/ 348388 w 6858001"/>
              <a:gd name="connsiteY11" fmla="*/ 48073 h 4963245"/>
              <a:gd name="connsiteX12" fmla="*/ 470460 w 6858001"/>
              <a:gd name="connsiteY12" fmla="*/ 63369 h 4963245"/>
              <a:gd name="connsiteX13" fmla="*/ 605563 w 6858001"/>
              <a:gd name="connsiteY13" fmla="*/ 79506 h 4963245"/>
              <a:gd name="connsiteX14" fmla="*/ 757810 w 6858001"/>
              <a:gd name="connsiteY14" fmla="*/ 96483 h 4963245"/>
              <a:gd name="connsiteX15" fmla="*/ 923774 w 6858001"/>
              <a:gd name="connsiteY15" fmla="*/ 114469 h 4963245"/>
              <a:gd name="connsiteX16" fmla="*/ 1104139 w 6858001"/>
              <a:gd name="connsiteY16" fmla="*/ 132454 h 4963245"/>
              <a:gd name="connsiteX17" fmla="*/ 1296163 w 6858001"/>
              <a:gd name="connsiteY17" fmla="*/ 150776 h 4963245"/>
              <a:gd name="connsiteX18" fmla="*/ 1503275 w 6858001"/>
              <a:gd name="connsiteY18" fmla="*/ 167753 h 4963245"/>
              <a:gd name="connsiteX19" fmla="*/ 1719988 w 6858001"/>
              <a:gd name="connsiteY19" fmla="*/ 184058 h 4963245"/>
              <a:gd name="connsiteX20" fmla="*/ 1949045 w 6858001"/>
              <a:gd name="connsiteY20" fmla="*/ 198849 h 4963245"/>
              <a:gd name="connsiteX21" fmla="*/ 2187703 w 6858001"/>
              <a:gd name="connsiteY21" fmla="*/ 212969 h 4963245"/>
              <a:gd name="connsiteX22" fmla="*/ 2436649 w 6858001"/>
              <a:gd name="connsiteY22" fmla="*/ 226248 h 4963245"/>
              <a:gd name="connsiteX23" fmla="*/ 2564208 w 6858001"/>
              <a:gd name="connsiteY23" fmla="*/ 230955 h 4963245"/>
              <a:gd name="connsiteX24" fmla="*/ 2694509 w 6858001"/>
              <a:gd name="connsiteY24" fmla="*/ 236165 h 4963245"/>
              <a:gd name="connsiteX25" fmla="*/ 2826868 w 6858001"/>
              <a:gd name="connsiteY25" fmla="*/ 241040 h 4963245"/>
              <a:gd name="connsiteX26" fmla="*/ 2959914 w 6858001"/>
              <a:gd name="connsiteY26" fmla="*/ 244234 h 4963245"/>
              <a:gd name="connsiteX27" fmla="*/ 3095702 w 6858001"/>
              <a:gd name="connsiteY27" fmla="*/ 247091 h 4963245"/>
              <a:gd name="connsiteX28" fmla="*/ 3232862 w 6858001"/>
              <a:gd name="connsiteY28" fmla="*/ 250117 h 4963245"/>
              <a:gd name="connsiteX29" fmla="*/ 3372765 w 6858001"/>
              <a:gd name="connsiteY29" fmla="*/ 252134 h 4963245"/>
              <a:gd name="connsiteX30" fmla="*/ 3514040 w 6858001"/>
              <a:gd name="connsiteY30" fmla="*/ 252134 h 4963245"/>
              <a:gd name="connsiteX31" fmla="*/ 3656686 w 6858001"/>
              <a:gd name="connsiteY31" fmla="*/ 253142 h 4963245"/>
              <a:gd name="connsiteX32" fmla="*/ 3800704 w 6858001"/>
              <a:gd name="connsiteY32" fmla="*/ 252134 h 4963245"/>
              <a:gd name="connsiteX33" fmla="*/ 3946780 w 6858001"/>
              <a:gd name="connsiteY33" fmla="*/ 250117 h 4963245"/>
              <a:gd name="connsiteX34" fmla="*/ 4092855 w 6858001"/>
              <a:gd name="connsiteY34" fmla="*/ 248268 h 4963245"/>
              <a:gd name="connsiteX35" fmla="*/ 4240988 w 6858001"/>
              <a:gd name="connsiteY35" fmla="*/ 244234 h 4963245"/>
              <a:gd name="connsiteX36" fmla="*/ 4390492 w 6858001"/>
              <a:gd name="connsiteY36" fmla="*/ 240032 h 4963245"/>
              <a:gd name="connsiteX37" fmla="*/ 4539997 w 6858001"/>
              <a:gd name="connsiteY37" fmla="*/ 235157 h 4963245"/>
              <a:gd name="connsiteX38" fmla="*/ 4690873 w 6858001"/>
              <a:gd name="connsiteY38" fmla="*/ 228266 h 4963245"/>
              <a:gd name="connsiteX39" fmla="*/ 4843120 w 6858001"/>
              <a:gd name="connsiteY39" fmla="*/ 220029 h 4963245"/>
              <a:gd name="connsiteX40" fmla="*/ 4996054 w 6858001"/>
              <a:gd name="connsiteY40" fmla="*/ 212129 h 4963245"/>
              <a:gd name="connsiteX41" fmla="*/ 5148987 w 6858001"/>
              <a:gd name="connsiteY41" fmla="*/ 202044 h 4963245"/>
              <a:gd name="connsiteX42" fmla="*/ 5303978 w 6858001"/>
              <a:gd name="connsiteY42" fmla="*/ 189941 h 4963245"/>
              <a:gd name="connsiteX43" fmla="*/ 5456911 w 6858001"/>
              <a:gd name="connsiteY43" fmla="*/ 177839 h 4963245"/>
              <a:gd name="connsiteX44" fmla="*/ 5612588 w 6858001"/>
              <a:gd name="connsiteY44" fmla="*/ 163887 h 4963245"/>
              <a:gd name="connsiteX45" fmla="*/ 5768950 w 6858001"/>
              <a:gd name="connsiteY45" fmla="*/ 148591 h 4963245"/>
              <a:gd name="connsiteX46" fmla="*/ 5923255 w 6858001"/>
              <a:gd name="connsiteY46" fmla="*/ 132455 h 4963245"/>
              <a:gd name="connsiteX47" fmla="*/ 6079618 w 6858001"/>
              <a:gd name="connsiteY47" fmla="*/ 113629 h 4963245"/>
              <a:gd name="connsiteX48" fmla="*/ 6235294 w 6858001"/>
              <a:gd name="connsiteY48" fmla="*/ 93458 h 4963245"/>
              <a:gd name="connsiteX49" fmla="*/ 6391657 w 6858001"/>
              <a:gd name="connsiteY49" fmla="*/ 73455 h 4963245"/>
              <a:gd name="connsiteX50" fmla="*/ 6547333 w 6858001"/>
              <a:gd name="connsiteY50" fmla="*/ 50091 h 4963245"/>
              <a:gd name="connsiteX51" fmla="*/ 6702324 w 6858001"/>
              <a:gd name="connsiteY51" fmla="*/ 26222 h 4963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4963245">
                <a:moveTo>
                  <a:pt x="6858001" y="1177"/>
                </a:moveTo>
                <a:lnTo>
                  <a:pt x="6858001" y="1344715"/>
                </a:lnTo>
                <a:lnTo>
                  <a:pt x="6858000" y="1344715"/>
                </a:lnTo>
                <a:lnTo>
                  <a:pt x="6858000" y="4963245"/>
                </a:lnTo>
                <a:lnTo>
                  <a:pt x="0" y="4963244"/>
                </a:lnTo>
                <a:lnTo>
                  <a:pt x="0" y="900697"/>
                </a:lnTo>
                <a:lnTo>
                  <a:pt x="1" y="900697"/>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pic>
        <p:nvPicPr>
          <p:cNvPr id="5" name="Picture 4">
            <a:extLst>
              <a:ext uri="{FF2B5EF4-FFF2-40B4-BE49-F238E27FC236}">
                <a16:creationId xmlns:a16="http://schemas.microsoft.com/office/drawing/2014/main" id="{E202FE9E-E17F-55F8-C286-90F0B31929CF}"/>
              </a:ext>
            </a:extLst>
          </p:cNvPr>
          <p:cNvPicPr>
            <a:picLocks noChangeAspect="1"/>
          </p:cNvPicPr>
          <p:nvPr/>
        </p:nvPicPr>
        <p:blipFill>
          <a:blip r:embed="rId2"/>
          <a:stretch>
            <a:fillRect/>
          </a:stretch>
        </p:blipFill>
        <p:spPr>
          <a:xfrm>
            <a:off x="5815725" y="2203301"/>
            <a:ext cx="2969046" cy="2934756"/>
          </a:xfrm>
          <a:prstGeom prst="rect">
            <a:avLst/>
          </a:prstGeom>
          <a:effectLst/>
        </p:spPr>
      </p:pic>
      <p:sp>
        <p:nvSpPr>
          <p:cNvPr id="16" name="Rectangle 15">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486697" y="2438400"/>
            <a:ext cx="4641142" cy="3785419"/>
          </a:xfrm>
        </p:spPr>
        <p:txBody>
          <a:bodyPr>
            <a:normAutofit/>
          </a:bodyPr>
          <a:lstStyle/>
          <a:p>
            <a:pPr>
              <a:lnSpc>
                <a:spcPct val="90000"/>
              </a:lnSpc>
            </a:pPr>
            <a:r>
              <a:rPr lang="en-US" sz="1300" dirty="0">
                <a:solidFill>
                  <a:srgbClr val="FFFFFF"/>
                </a:solidFill>
              </a:rPr>
              <a:t>New developments show a </a:t>
            </a:r>
            <a:r>
              <a:rPr lang="en-US" sz="1300" b="1" dirty="0">
                <a:solidFill>
                  <a:srgbClr val="FFFFFF"/>
                </a:solidFill>
              </a:rPr>
              <a:t>higher average property price</a:t>
            </a:r>
            <a:r>
              <a:rPr lang="en-US" sz="1300" dirty="0">
                <a:solidFill>
                  <a:srgbClr val="FFFFFF"/>
                </a:solidFill>
              </a:rPr>
              <a:t> compared to older constructions, indicating a clear market premium for newer projects.</a:t>
            </a:r>
          </a:p>
          <a:p>
            <a:pPr>
              <a:lnSpc>
                <a:spcPct val="90000"/>
              </a:lnSpc>
            </a:pPr>
            <a:r>
              <a:rPr lang="en-US" sz="1300" dirty="0">
                <a:solidFill>
                  <a:srgbClr val="FFFFFF"/>
                </a:solidFill>
              </a:rPr>
              <a:t>Buyers are willing to pay more for </a:t>
            </a:r>
            <a:r>
              <a:rPr lang="en-US" sz="1300" b="1" dirty="0">
                <a:solidFill>
                  <a:srgbClr val="FFFFFF"/>
                </a:solidFill>
              </a:rPr>
              <a:t>modern architecture, better layouts, updated amenities, and improved infrastructure</a:t>
            </a:r>
            <a:r>
              <a:rPr lang="en-US" sz="1300" dirty="0">
                <a:solidFill>
                  <a:srgbClr val="FFFFFF"/>
                </a:solidFill>
              </a:rPr>
              <a:t> commonly associated with new developments.</a:t>
            </a:r>
          </a:p>
          <a:p>
            <a:pPr>
              <a:lnSpc>
                <a:spcPct val="90000"/>
              </a:lnSpc>
            </a:pPr>
            <a:r>
              <a:rPr lang="en-US" sz="1300" dirty="0">
                <a:solidFill>
                  <a:srgbClr val="FFFFFF"/>
                </a:solidFill>
              </a:rPr>
              <a:t>This trend reflects a </a:t>
            </a:r>
            <a:r>
              <a:rPr lang="en-US" sz="1300" b="1" dirty="0">
                <a:solidFill>
                  <a:srgbClr val="FFFFFF"/>
                </a:solidFill>
              </a:rPr>
              <a:t>shift in buyer preference toward newly constructed properties</a:t>
            </a:r>
            <a:r>
              <a:rPr lang="en-US" sz="1300" dirty="0">
                <a:solidFill>
                  <a:srgbClr val="FFFFFF"/>
                </a:solidFill>
              </a:rPr>
              <a:t>, driven by lower maintenance costs and better long-term value.</a:t>
            </a:r>
          </a:p>
          <a:p>
            <a:pPr>
              <a:lnSpc>
                <a:spcPct val="90000"/>
              </a:lnSpc>
            </a:pPr>
            <a:r>
              <a:rPr lang="en-US" sz="1300" dirty="0">
                <a:solidFill>
                  <a:srgbClr val="FFFFFF"/>
                </a:solidFill>
              </a:rPr>
              <a:t>Older developments, while still relevant, tend to be priced lower due to </a:t>
            </a:r>
            <a:r>
              <a:rPr lang="en-US" sz="1300" b="1" dirty="0">
                <a:solidFill>
                  <a:srgbClr val="FFFFFF"/>
                </a:solidFill>
              </a:rPr>
              <a:t>age, higher upkeep, and limited modern facilities</a:t>
            </a:r>
            <a:r>
              <a:rPr lang="en-US" sz="1300" dirty="0">
                <a:solidFill>
                  <a:srgbClr val="FFFFFF"/>
                </a:solidFill>
              </a:rPr>
              <a:t>.</a:t>
            </a:r>
          </a:p>
          <a:p>
            <a:pPr>
              <a:lnSpc>
                <a:spcPct val="90000"/>
              </a:lnSpc>
            </a:pPr>
            <a:r>
              <a:rPr lang="en-US" sz="1300" dirty="0">
                <a:solidFill>
                  <a:srgbClr val="FFFFFF"/>
                </a:solidFill>
              </a:rPr>
              <a:t>Overall, the data suggests that </a:t>
            </a:r>
            <a:r>
              <a:rPr lang="en-US" sz="1300" b="1" dirty="0">
                <a:solidFill>
                  <a:srgbClr val="FFFFFF"/>
                </a:solidFill>
              </a:rPr>
              <a:t>new developments attract demand from premium and future-oriented buyers</a:t>
            </a:r>
            <a:r>
              <a:rPr lang="en-US" sz="1300" dirty="0">
                <a:solidFill>
                  <a:srgbClr val="FFFFFF"/>
                </a:solidFill>
              </a:rPr>
              <a:t>, positively impacting pricing.</a:t>
            </a:r>
          </a:p>
          <a:p>
            <a:pPr>
              <a:lnSpc>
                <a:spcPct val="90000"/>
              </a:lnSpc>
            </a:pPr>
            <a:endParaRPr lang="en-US" sz="1300" dirty="0">
              <a:solidFill>
                <a:srgbClr val="FFFFFF"/>
              </a:solidFill>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22A9ABA3-4638-4EE6-9FFD-E7965000A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solidFill>
            <a:srgbClr val="FFFFFF"/>
          </a:solidFill>
          <a:ln>
            <a:noFill/>
          </a:ln>
        </p:spPr>
        <p:txBody>
          <a:bodyPr/>
          <a:lstStyle/>
          <a:p>
            <a:endParaRPr lang="en-IN"/>
          </a:p>
        </p:txBody>
      </p:sp>
      <p:sp>
        <p:nvSpPr>
          <p:cNvPr id="24" name="Freeform 7">
            <a:extLst>
              <a:ext uri="{FF2B5EF4-FFF2-40B4-BE49-F238E27FC236}">
                <a16:creationId xmlns:a16="http://schemas.microsoft.com/office/drawing/2014/main" id="{CAD3F096-96F8-44BB-941A-E3FE62E5D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484583" y="452718"/>
            <a:ext cx="7053542" cy="1180711"/>
          </a:xfrm>
        </p:spPr>
        <p:txBody>
          <a:bodyPr>
            <a:normAutofit/>
          </a:bodyPr>
          <a:lstStyle/>
          <a:p>
            <a:pPr>
              <a:lnSpc>
                <a:spcPct val="90000"/>
              </a:lnSpc>
            </a:pPr>
            <a:r>
              <a:rPr lang="en-US" sz="3900" b="1"/>
              <a:t>Segmentation &amp; Top 5 Investment Opportunities</a:t>
            </a:r>
          </a:p>
        </p:txBody>
      </p:sp>
      <p:pic>
        <p:nvPicPr>
          <p:cNvPr id="5" name="Picture 4">
            <a:extLst>
              <a:ext uri="{FF2B5EF4-FFF2-40B4-BE49-F238E27FC236}">
                <a16:creationId xmlns:a16="http://schemas.microsoft.com/office/drawing/2014/main" id="{6ECDBC7B-135A-C09F-AB94-997A64C75C46}"/>
              </a:ext>
            </a:extLst>
          </p:cNvPr>
          <p:cNvPicPr>
            <a:picLocks noChangeAspect="1"/>
          </p:cNvPicPr>
          <p:nvPr/>
        </p:nvPicPr>
        <p:blipFill>
          <a:blip r:embed="rId3"/>
          <a:stretch>
            <a:fillRect/>
          </a:stretch>
        </p:blipFill>
        <p:spPr>
          <a:xfrm>
            <a:off x="-1" y="2575057"/>
            <a:ext cx="2594667" cy="1798164"/>
          </a:xfrm>
          <a:prstGeom prst="rect">
            <a:avLst/>
          </a:prstGeom>
          <a:effectLst/>
        </p:spPr>
      </p:pic>
      <p:pic>
        <p:nvPicPr>
          <p:cNvPr id="11" name="Picture 10">
            <a:extLst>
              <a:ext uri="{FF2B5EF4-FFF2-40B4-BE49-F238E27FC236}">
                <a16:creationId xmlns:a16="http://schemas.microsoft.com/office/drawing/2014/main" id="{C3BE209A-E7DE-2BAF-7C81-1A35511BBDA6}"/>
              </a:ext>
            </a:extLst>
          </p:cNvPr>
          <p:cNvPicPr>
            <a:picLocks noChangeAspect="1"/>
          </p:cNvPicPr>
          <p:nvPr/>
        </p:nvPicPr>
        <p:blipFill>
          <a:blip r:embed="rId4"/>
          <a:stretch>
            <a:fillRect/>
          </a:stretch>
        </p:blipFill>
        <p:spPr>
          <a:xfrm>
            <a:off x="2594666" y="2614495"/>
            <a:ext cx="2352752" cy="1702440"/>
          </a:xfrm>
          <a:prstGeom prst="rect">
            <a:avLst/>
          </a:prstGeom>
          <a:effectLst/>
        </p:spPr>
      </p:pic>
      <p:pic>
        <p:nvPicPr>
          <p:cNvPr id="7" name="Picture 6">
            <a:extLst>
              <a:ext uri="{FF2B5EF4-FFF2-40B4-BE49-F238E27FC236}">
                <a16:creationId xmlns:a16="http://schemas.microsoft.com/office/drawing/2014/main" id="{C71F9625-5F66-900E-6BB3-F44E95EC835B}"/>
              </a:ext>
            </a:extLst>
          </p:cNvPr>
          <p:cNvPicPr>
            <a:picLocks noChangeAspect="1"/>
          </p:cNvPicPr>
          <p:nvPr/>
        </p:nvPicPr>
        <p:blipFill>
          <a:blip r:embed="rId5"/>
          <a:stretch>
            <a:fillRect/>
          </a:stretch>
        </p:blipFill>
        <p:spPr>
          <a:xfrm>
            <a:off x="-1" y="4513386"/>
            <a:ext cx="2594667" cy="1929057"/>
          </a:xfrm>
          <a:prstGeom prst="rect">
            <a:avLst/>
          </a:prstGeom>
          <a:effectLst/>
        </p:spPr>
      </p:pic>
      <p:pic>
        <p:nvPicPr>
          <p:cNvPr id="13" name="Picture 12">
            <a:extLst>
              <a:ext uri="{FF2B5EF4-FFF2-40B4-BE49-F238E27FC236}">
                <a16:creationId xmlns:a16="http://schemas.microsoft.com/office/drawing/2014/main" id="{854473AB-D026-1530-52A6-A9CB0902D3F1}"/>
              </a:ext>
            </a:extLst>
          </p:cNvPr>
          <p:cNvPicPr>
            <a:picLocks noChangeAspect="1"/>
          </p:cNvPicPr>
          <p:nvPr/>
        </p:nvPicPr>
        <p:blipFill>
          <a:blip r:embed="rId6"/>
          <a:stretch>
            <a:fillRect/>
          </a:stretch>
        </p:blipFill>
        <p:spPr>
          <a:xfrm>
            <a:off x="2594666" y="4487266"/>
            <a:ext cx="2352752" cy="1784847"/>
          </a:xfrm>
          <a:prstGeom prst="rect">
            <a:avLst/>
          </a:prstGeom>
          <a:effectLst/>
        </p:spPr>
      </p:pic>
      <p:sp>
        <p:nvSpPr>
          <p:cNvPr id="3" name="Content Placeholder 2"/>
          <p:cNvSpPr>
            <a:spLocks noGrp="1"/>
          </p:cNvSpPr>
          <p:nvPr>
            <p:ph idx="1"/>
          </p:nvPr>
        </p:nvSpPr>
        <p:spPr>
          <a:xfrm>
            <a:off x="4820643" y="2414801"/>
            <a:ext cx="4191381" cy="4443200"/>
          </a:xfrm>
        </p:spPr>
        <p:txBody>
          <a:bodyPr>
            <a:normAutofit/>
          </a:bodyPr>
          <a:lstStyle/>
          <a:p>
            <a:pPr>
              <a:lnSpc>
                <a:spcPct val="90000"/>
              </a:lnSpc>
            </a:pPr>
            <a:r>
              <a:rPr lang="en-US" sz="1000" dirty="0">
                <a:solidFill>
                  <a:schemeClr val="bg1"/>
                </a:solidFill>
              </a:rPr>
              <a:t>When we segment the data by </a:t>
            </a:r>
            <a:r>
              <a:rPr lang="en-US" sz="1000" b="1" dirty="0">
                <a:solidFill>
                  <a:schemeClr val="bg1"/>
                </a:solidFill>
              </a:rPr>
              <a:t>house type</a:t>
            </a:r>
            <a:r>
              <a:rPr lang="en-US" sz="1000" dirty="0">
                <a:solidFill>
                  <a:schemeClr val="bg1"/>
                </a:solidFill>
              </a:rPr>
              <a:t>, we can clearly see differences in pricing efficiency and investment potential.</a:t>
            </a:r>
          </a:p>
          <a:p>
            <a:pPr>
              <a:lnSpc>
                <a:spcPct val="90000"/>
              </a:lnSpc>
            </a:pPr>
            <a:r>
              <a:rPr lang="en-US" sz="1000" b="1" dirty="0">
                <a:solidFill>
                  <a:schemeClr val="bg1"/>
                </a:solidFill>
              </a:rPr>
              <a:t>House Type 2 (Casa o chalet)</a:t>
            </a:r>
            <a:r>
              <a:rPr lang="en-US" sz="1000" dirty="0">
                <a:solidFill>
                  <a:schemeClr val="bg1"/>
                </a:solidFill>
              </a:rPr>
              <a:t> and </a:t>
            </a:r>
            <a:r>
              <a:rPr lang="en-US" sz="1000" b="1" dirty="0">
                <a:solidFill>
                  <a:schemeClr val="bg1"/>
                </a:solidFill>
              </a:rPr>
              <a:t>House Type 5 (</a:t>
            </a:r>
            <a:r>
              <a:rPr lang="en-US" sz="1000" b="1" dirty="0" err="1">
                <a:solidFill>
                  <a:schemeClr val="bg1"/>
                </a:solidFill>
              </a:rPr>
              <a:t>Áticos</a:t>
            </a:r>
            <a:r>
              <a:rPr lang="en-US" sz="1000" b="1" dirty="0">
                <a:solidFill>
                  <a:schemeClr val="bg1"/>
                </a:solidFill>
              </a:rPr>
              <a:t>)</a:t>
            </a:r>
            <a:r>
              <a:rPr lang="en-US" sz="1000" dirty="0">
                <a:solidFill>
                  <a:schemeClr val="bg1"/>
                </a:solidFill>
              </a:rPr>
              <a:t> stand out with the </a:t>
            </a:r>
            <a:r>
              <a:rPr lang="en-US" sz="1000" b="1" dirty="0">
                <a:solidFill>
                  <a:schemeClr val="bg1"/>
                </a:solidFill>
              </a:rPr>
              <a:t>strongest overall market performance</a:t>
            </a:r>
            <a:r>
              <a:rPr lang="en-US" sz="1000" dirty="0">
                <a:solidFill>
                  <a:schemeClr val="bg1"/>
                </a:solidFill>
              </a:rPr>
              <a:t>, driven by a good balance of price per square meter and demand.</a:t>
            </a:r>
          </a:p>
          <a:p>
            <a:pPr>
              <a:lnSpc>
                <a:spcPct val="90000"/>
              </a:lnSpc>
            </a:pPr>
            <a:r>
              <a:rPr lang="en-US" sz="1000" dirty="0" err="1">
                <a:solidFill>
                  <a:schemeClr val="bg1"/>
                </a:solidFill>
              </a:rPr>
              <a:t>Áticos</a:t>
            </a:r>
            <a:r>
              <a:rPr lang="en-US" sz="1000" dirty="0">
                <a:solidFill>
                  <a:schemeClr val="bg1"/>
                </a:solidFill>
              </a:rPr>
              <a:t> show the </a:t>
            </a:r>
            <a:r>
              <a:rPr lang="en-US" sz="1000" b="1" dirty="0">
                <a:solidFill>
                  <a:schemeClr val="bg1"/>
                </a:solidFill>
              </a:rPr>
              <a:t>highest average price per sq. meter</a:t>
            </a:r>
            <a:r>
              <a:rPr lang="en-US" sz="1000" dirty="0">
                <a:solidFill>
                  <a:schemeClr val="bg1"/>
                </a:solidFill>
              </a:rPr>
              <a:t>, which indicates premium positioning and strong buyer willingness to pay for exclusivity and location advantages.</a:t>
            </a:r>
          </a:p>
          <a:p>
            <a:pPr>
              <a:lnSpc>
                <a:spcPct val="90000"/>
              </a:lnSpc>
            </a:pPr>
            <a:r>
              <a:rPr lang="en-US" sz="1000" dirty="0">
                <a:solidFill>
                  <a:schemeClr val="bg1"/>
                </a:solidFill>
              </a:rPr>
              <a:t>Casa o chalet dominates the </a:t>
            </a:r>
            <a:r>
              <a:rPr lang="en-US" sz="1000" b="1" dirty="0">
                <a:solidFill>
                  <a:schemeClr val="bg1"/>
                </a:solidFill>
              </a:rPr>
              <a:t>Top 5 investment opportunities</a:t>
            </a:r>
            <a:r>
              <a:rPr lang="en-US" sz="1000" dirty="0">
                <a:solidFill>
                  <a:schemeClr val="bg1"/>
                </a:solidFill>
              </a:rPr>
              <a:t>, suggesting that this category offers the </a:t>
            </a:r>
            <a:r>
              <a:rPr lang="en-US" sz="1000" b="1" dirty="0">
                <a:solidFill>
                  <a:schemeClr val="bg1"/>
                </a:solidFill>
              </a:rPr>
              <a:t>best combination of built-up area, pricing, and interest rate stability</a:t>
            </a:r>
            <a:r>
              <a:rPr lang="en-US" sz="1000" dirty="0">
                <a:solidFill>
                  <a:schemeClr val="bg1"/>
                </a:solidFill>
              </a:rPr>
              <a:t>.</a:t>
            </a:r>
          </a:p>
          <a:p>
            <a:pPr>
              <a:lnSpc>
                <a:spcPct val="90000"/>
              </a:lnSpc>
            </a:pPr>
            <a:r>
              <a:rPr lang="en-US" sz="1000" dirty="0">
                <a:solidFill>
                  <a:schemeClr val="bg1"/>
                </a:solidFill>
              </a:rPr>
              <a:t>The investment opportunity analysis shows that </a:t>
            </a:r>
            <a:r>
              <a:rPr lang="en-US" sz="1000" b="1" dirty="0">
                <a:solidFill>
                  <a:schemeClr val="bg1"/>
                </a:solidFill>
              </a:rPr>
              <a:t>larger built areas paired with moderate loan interest rates</a:t>
            </a:r>
            <a:r>
              <a:rPr lang="en-US" sz="1000" dirty="0">
                <a:solidFill>
                  <a:schemeClr val="bg1"/>
                </a:solidFill>
              </a:rPr>
              <a:t> generate higher opportunity scores, making them more attractive for long-term returns.</a:t>
            </a:r>
          </a:p>
          <a:p>
            <a:pPr>
              <a:lnSpc>
                <a:spcPct val="90000"/>
              </a:lnSpc>
            </a:pPr>
            <a:r>
              <a:rPr lang="en-US" sz="1000" dirty="0">
                <a:solidFill>
                  <a:schemeClr val="bg1"/>
                </a:solidFill>
              </a:rPr>
              <a:t>Rather than extremely low or high interest rates, properties with </a:t>
            </a:r>
            <a:r>
              <a:rPr lang="en-US" sz="1000" b="1" dirty="0">
                <a:solidFill>
                  <a:schemeClr val="bg1"/>
                </a:solidFill>
              </a:rPr>
              <a:t>stable, mid-range rates</a:t>
            </a:r>
            <a:r>
              <a:rPr lang="en-US" sz="1000" dirty="0">
                <a:solidFill>
                  <a:schemeClr val="bg1"/>
                </a:solidFill>
              </a:rPr>
              <a:t> appear to deliver better ROI when combined with spacious layouts.</a:t>
            </a:r>
          </a:p>
          <a:p>
            <a:pPr>
              <a:lnSpc>
                <a:spcPct val="90000"/>
              </a:lnSpc>
            </a:pPr>
            <a:r>
              <a:rPr lang="en-US" sz="1000" dirty="0">
                <a:solidFill>
                  <a:schemeClr val="bg1"/>
                </a:solidFill>
              </a:rPr>
              <a:t>Overall, the data highlights that </a:t>
            </a:r>
            <a:r>
              <a:rPr lang="en-US" sz="1000" b="1" dirty="0">
                <a:solidFill>
                  <a:schemeClr val="bg1"/>
                </a:solidFill>
              </a:rPr>
              <a:t>property size and financing structure play a more critical role in returns than price alone</a:t>
            </a:r>
            <a:r>
              <a:rPr lang="en-US" sz="1000" dirty="0">
                <a:solidFill>
                  <a:schemeClr val="bg1"/>
                </a:solidFill>
              </a:rPr>
              <a:t>, especially for investor-focused segments.</a:t>
            </a:r>
          </a:p>
          <a:p>
            <a:pPr>
              <a:lnSpc>
                <a:spcPct val="90000"/>
              </a:lnSpc>
            </a:pPr>
            <a:endParaRPr lang="en-US" sz="1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697" y="629266"/>
            <a:ext cx="6939116" cy="1223983"/>
          </a:xfrm>
        </p:spPr>
        <p:txBody>
          <a:bodyPr>
            <a:normAutofit/>
          </a:bodyPr>
          <a:lstStyle/>
          <a:p>
            <a:pPr>
              <a:lnSpc>
                <a:spcPct val="90000"/>
              </a:lnSpc>
            </a:pPr>
            <a:r>
              <a:rPr lang="en-IN" sz="3900" b="1" dirty="0"/>
              <a:t>Interactive Dashboard Overview</a:t>
            </a:r>
          </a:p>
        </p:txBody>
      </p:sp>
      <p:pic>
        <p:nvPicPr>
          <p:cNvPr id="5" name="Picture 4">
            <a:extLst>
              <a:ext uri="{FF2B5EF4-FFF2-40B4-BE49-F238E27FC236}">
                <a16:creationId xmlns:a16="http://schemas.microsoft.com/office/drawing/2014/main" id="{EBAE41C1-5251-0E0E-5623-8F0DE3F7CE30}"/>
              </a:ext>
            </a:extLst>
          </p:cNvPr>
          <p:cNvPicPr>
            <a:picLocks noChangeAspect="1"/>
          </p:cNvPicPr>
          <p:nvPr/>
        </p:nvPicPr>
        <p:blipFill>
          <a:blip r:embed="rId3"/>
          <a:stretch>
            <a:fillRect/>
          </a:stretch>
        </p:blipFill>
        <p:spPr>
          <a:xfrm>
            <a:off x="123483" y="2223039"/>
            <a:ext cx="5118849" cy="2866554"/>
          </a:xfrm>
          <a:prstGeom prst="rect">
            <a:avLst/>
          </a:prstGeom>
          <a:effectLst>
            <a:outerShdw blurRad="50800" dist="38100" dir="5400000" algn="t" rotWithShape="0">
              <a:prstClr val="black">
                <a:alpha val="43000"/>
              </a:prstClr>
            </a:outerShdw>
          </a:effectLst>
        </p:spPr>
      </p:pic>
      <p:sp>
        <p:nvSpPr>
          <p:cNvPr id="3" name="Content Placeholder 2"/>
          <p:cNvSpPr>
            <a:spLocks noGrp="1"/>
          </p:cNvSpPr>
          <p:nvPr>
            <p:ph idx="1"/>
          </p:nvPr>
        </p:nvSpPr>
        <p:spPr>
          <a:xfrm>
            <a:off x="5242332" y="1473382"/>
            <a:ext cx="3778183" cy="5153661"/>
          </a:xfrm>
        </p:spPr>
        <p:txBody>
          <a:bodyPr anchor="ctr">
            <a:normAutofit/>
          </a:bodyPr>
          <a:lstStyle/>
          <a:p>
            <a:pPr>
              <a:lnSpc>
                <a:spcPct val="90000"/>
              </a:lnSpc>
            </a:pPr>
            <a:r>
              <a:rPr lang="en-US" sz="1100" dirty="0"/>
              <a:t>This dashboard brings together all the key insights of the Madrid property market in one single, interactive view. Instead of looking at multiple static reports, stakeholders can explore the data dynamically and focus only on what matters to them.</a:t>
            </a:r>
          </a:p>
          <a:p>
            <a:pPr>
              <a:lnSpc>
                <a:spcPct val="90000"/>
              </a:lnSpc>
            </a:pPr>
            <a:r>
              <a:rPr lang="en-US" sz="1100" dirty="0"/>
              <a:t>At the top, the </a:t>
            </a:r>
            <a:r>
              <a:rPr lang="en-US" sz="1100" b="1" dirty="0"/>
              <a:t>KPI cards</a:t>
            </a:r>
            <a:r>
              <a:rPr lang="en-US" sz="1100" dirty="0"/>
              <a:t> provide an instant snapshot of the market. We can quickly see that the </a:t>
            </a:r>
            <a:r>
              <a:rPr lang="en-US" sz="1100" b="1" dirty="0"/>
              <a:t>average price is around €653K</a:t>
            </a:r>
            <a:r>
              <a:rPr lang="en-US" sz="1100" dirty="0"/>
              <a:t>, the </a:t>
            </a:r>
            <a:r>
              <a:rPr lang="en-US" sz="1100" b="1" dirty="0"/>
              <a:t>average price per square meter is about €4.02K</a:t>
            </a:r>
            <a:r>
              <a:rPr lang="en-US" sz="1100" dirty="0"/>
              <a:t>, there are </a:t>
            </a:r>
            <a:r>
              <a:rPr lang="en-US" sz="1100" b="1" dirty="0"/>
              <a:t>22,000 active listings</a:t>
            </a:r>
            <a:r>
              <a:rPr lang="en-US" sz="1100" dirty="0"/>
              <a:t>, and the </a:t>
            </a:r>
            <a:r>
              <a:rPr lang="en-US" sz="1100" b="1" dirty="0"/>
              <a:t>average loan interest rate stands close to 11%</a:t>
            </a:r>
            <a:r>
              <a:rPr lang="en-US" sz="1100" dirty="0"/>
              <a:t>. These KPIs act as a health check for the market and immediately set the context before going into deeper analysis.</a:t>
            </a:r>
          </a:p>
          <a:p>
            <a:pPr>
              <a:lnSpc>
                <a:spcPct val="90000"/>
              </a:lnSpc>
            </a:pPr>
            <a:r>
              <a:rPr lang="en-US" sz="1100" dirty="0"/>
              <a:t>The dashboard is fully </a:t>
            </a:r>
            <a:r>
              <a:rPr lang="en-US" sz="1100" b="1" dirty="0"/>
              <a:t>filter-driven</a:t>
            </a:r>
            <a:r>
              <a:rPr lang="en-US" sz="1100" dirty="0"/>
              <a:t>, with slicers for </a:t>
            </a:r>
            <a:r>
              <a:rPr lang="en-US" sz="1100" b="1" dirty="0"/>
              <a:t>Property Type, Pool availability, Garden availability, and New Development status</a:t>
            </a:r>
            <a:r>
              <a:rPr lang="en-US" sz="1100" dirty="0"/>
              <a:t>. As soon as a user changes any of these filters, all charts and KPIs update instantly. This makes it very easy to compare scenarios, such as properties with a pool versus without a pool, or new developments versus older constructions.</a:t>
            </a:r>
          </a:p>
          <a:p>
            <a:pPr>
              <a:lnSpc>
                <a:spcPct val="90000"/>
              </a:lnSpc>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8F58AA-C204-9DF0-73DC-C3287BC39A66}"/>
              </a:ext>
            </a:extLst>
          </p:cNvPr>
          <p:cNvSpPr>
            <a:spLocks noGrp="1"/>
          </p:cNvSpPr>
          <p:nvPr>
            <p:ph idx="1"/>
          </p:nvPr>
        </p:nvSpPr>
        <p:spPr>
          <a:xfrm>
            <a:off x="146115" y="4411979"/>
            <a:ext cx="8851769" cy="4537018"/>
          </a:xfrm>
        </p:spPr>
        <p:txBody>
          <a:bodyPr>
            <a:normAutofit/>
          </a:bodyPr>
          <a:lstStyle/>
          <a:p>
            <a:pPr>
              <a:lnSpc>
                <a:spcPct val="90000"/>
              </a:lnSpc>
            </a:pPr>
            <a:r>
              <a:rPr lang="en-US" sz="1400" dirty="0"/>
              <a:t>The visuals in the dashboard cover multiple perspectives at once. We can see how </a:t>
            </a:r>
            <a:r>
              <a:rPr lang="en-US" sz="1400" b="1" dirty="0"/>
              <a:t>price per square meter varies by house type</a:t>
            </a:r>
            <a:r>
              <a:rPr lang="en-US" sz="1400" dirty="0"/>
              <a:t>, how different property segments compare in terms of </a:t>
            </a:r>
            <a:r>
              <a:rPr lang="en-US" sz="1400" b="1" dirty="0"/>
              <a:t>built area and loan interest rate</a:t>
            </a:r>
            <a:r>
              <a:rPr lang="en-US" sz="1400" dirty="0"/>
              <a:t>, and which listings stand out as </a:t>
            </a:r>
            <a:r>
              <a:rPr lang="en-US" sz="1400" b="1" dirty="0"/>
              <a:t>top investment opportunities</a:t>
            </a:r>
            <a:r>
              <a:rPr lang="en-US" sz="1400" dirty="0"/>
              <a:t> based on the opportunity score. This helps users connect pricing, property features, and investment potential in a single view.</a:t>
            </a:r>
          </a:p>
          <a:p>
            <a:pPr>
              <a:lnSpc>
                <a:spcPct val="90000"/>
              </a:lnSpc>
            </a:pPr>
            <a:r>
              <a:rPr lang="en-US" sz="1400" dirty="0"/>
              <a:t>Overall, this dashboard is designed for </a:t>
            </a:r>
            <a:r>
              <a:rPr lang="en-US" sz="1400" b="1" dirty="0"/>
              <a:t>decision-making, not just reporting</a:t>
            </a:r>
            <a:r>
              <a:rPr lang="en-US" sz="1400" dirty="0"/>
              <a:t>. It allows real-estate analysts, investors, and business stakeholders to explore trends, identify high-value segments, and evaluate investment opportunities quickly, without needing to manually analyze raw data.</a:t>
            </a:r>
          </a:p>
          <a:p>
            <a:pPr>
              <a:lnSpc>
                <a:spcPct val="90000"/>
              </a:lnSpc>
            </a:pPr>
            <a:endParaRPr lang="en-IN" sz="1400" dirty="0"/>
          </a:p>
        </p:txBody>
      </p:sp>
      <p:pic>
        <p:nvPicPr>
          <p:cNvPr id="4" name="Picture 3">
            <a:extLst>
              <a:ext uri="{FF2B5EF4-FFF2-40B4-BE49-F238E27FC236}">
                <a16:creationId xmlns:a16="http://schemas.microsoft.com/office/drawing/2014/main" id="{609A3FC7-A594-7F79-5FA9-03FE114E0852}"/>
              </a:ext>
            </a:extLst>
          </p:cNvPr>
          <p:cNvPicPr>
            <a:picLocks noChangeAspect="1"/>
          </p:cNvPicPr>
          <p:nvPr/>
        </p:nvPicPr>
        <p:blipFill>
          <a:blip r:embed="rId3"/>
          <a:stretch>
            <a:fillRect/>
          </a:stretch>
        </p:blipFill>
        <p:spPr>
          <a:xfrm>
            <a:off x="1031431" y="569815"/>
            <a:ext cx="6350839" cy="3556468"/>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585550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8001" y="322007"/>
            <a:ext cx="5121384" cy="1641986"/>
          </a:xfrm>
        </p:spPr>
        <p:txBody>
          <a:bodyPr>
            <a:normAutofit/>
          </a:bodyPr>
          <a:lstStyle/>
          <a:p>
            <a:r>
              <a:rPr lang="en-IN" b="1" dirty="0"/>
              <a:t>Summary &amp; Recommendations</a:t>
            </a:r>
          </a:p>
        </p:txBody>
      </p:sp>
      <p:sp>
        <p:nvSpPr>
          <p:cNvPr id="20" name="Rectangle 19">
            <a:extLst>
              <a:ext uri="{FF2B5EF4-FFF2-40B4-BE49-F238E27FC236}">
                <a16:creationId xmlns:a16="http://schemas.microsoft.com/office/drawing/2014/main" id="{14701A01-E306-48FB-A661-2335BB38BA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488001" y="2102177"/>
            <a:ext cx="8005550" cy="4477731"/>
          </a:xfrm>
        </p:spPr>
        <p:txBody>
          <a:bodyPr>
            <a:normAutofit lnSpcReduction="10000"/>
          </a:bodyPr>
          <a:lstStyle/>
          <a:p>
            <a:pPr>
              <a:lnSpc>
                <a:spcPct val="90000"/>
              </a:lnSpc>
            </a:pPr>
            <a:r>
              <a:rPr lang="en-US" sz="1400" dirty="0"/>
              <a:t>To summarize the overall analysis, a few clear patterns stand out from the Madrid property data.</a:t>
            </a:r>
          </a:p>
          <a:p>
            <a:pPr>
              <a:lnSpc>
                <a:spcPct val="90000"/>
              </a:lnSpc>
            </a:pPr>
            <a:r>
              <a:rPr lang="en-US" sz="1400" dirty="0"/>
              <a:t>First, </a:t>
            </a:r>
            <a:r>
              <a:rPr lang="en-US" sz="1400" b="1" dirty="0"/>
              <a:t>House Type 2 and House Type 5 consistently perform the best</a:t>
            </a:r>
            <a:r>
              <a:rPr lang="en-US" sz="1400" dirty="0"/>
              <a:t> in terms of both pricing and return on investment. These property types strike a good balance between built area, demand, and affordability, making them attractive for buyers as well as investors.</a:t>
            </a:r>
          </a:p>
          <a:p>
            <a:pPr>
              <a:lnSpc>
                <a:spcPct val="90000"/>
              </a:lnSpc>
            </a:pPr>
            <a:r>
              <a:rPr lang="en-US" sz="1400" dirty="0"/>
              <a:t>Second, </a:t>
            </a:r>
            <a:r>
              <a:rPr lang="en-US" sz="1400" b="1" dirty="0"/>
              <a:t>new developments clearly show stronger value growth</a:t>
            </a:r>
            <a:r>
              <a:rPr lang="en-US" sz="1400" dirty="0"/>
              <a:t> compared to older properties. Buyers are willing to pay a premium for modern construction, better infrastructure, and updated amenities, which makes new developments a safer long-term investment.</a:t>
            </a:r>
          </a:p>
          <a:p>
            <a:pPr>
              <a:lnSpc>
                <a:spcPct val="90000"/>
              </a:lnSpc>
            </a:pPr>
            <a:r>
              <a:rPr lang="en-US" sz="1400" dirty="0"/>
              <a:t>Property features also play a major role in pricing. Homes with </a:t>
            </a:r>
            <a:r>
              <a:rPr lang="en-US" sz="1400" b="1" dirty="0"/>
              <a:t>pools, gardens, or exterior spaces command significantly higher prices</a:t>
            </a:r>
            <a:r>
              <a:rPr lang="en-US" sz="1400" dirty="0"/>
              <a:t>, reflecting strong buyer preference for comfort, lifestyle, and luxury. These features directly increase willingness to pay and improve resale value.</a:t>
            </a:r>
          </a:p>
          <a:p>
            <a:pPr>
              <a:lnSpc>
                <a:spcPct val="90000"/>
              </a:lnSpc>
            </a:pPr>
            <a:r>
              <a:rPr lang="en-US" sz="1400" dirty="0"/>
              <a:t>From an investment perspective, </a:t>
            </a:r>
            <a:r>
              <a:rPr lang="en-US" sz="1400" b="1" dirty="0"/>
              <a:t>properties with larger built areas combined with relatively lower loan interest rates emerge as the best picks</a:t>
            </a:r>
            <a:r>
              <a:rPr lang="en-US" sz="1400" dirty="0"/>
              <a:t>. They offer higher opportunity scores and better returns without proportionately increasing borrowing risk.</a:t>
            </a:r>
          </a:p>
          <a:p>
            <a:pPr>
              <a:lnSpc>
                <a:spcPct val="90000"/>
              </a:lnSpc>
            </a:pPr>
            <a:r>
              <a:rPr lang="en-US" sz="1400" dirty="0"/>
              <a:t>Based on these insights, the key recommendation is to </a:t>
            </a:r>
            <a:r>
              <a:rPr lang="en-US" sz="1400" b="1" dirty="0"/>
              <a:t>focus on premium, feature-rich listings</a:t>
            </a:r>
            <a:r>
              <a:rPr lang="en-US" sz="1400" dirty="0"/>
              <a:t>, especially new developments within high-performing house types. Targeting such properties can help investors maximize returns while minimizing risk in the current market conditions.</a:t>
            </a:r>
          </a:p>
          <a:p>
            <a:pPr>
              <a:lnSpc>
                <a:spcPct val="90000"/>
              </a:lnSpc>
            </a:pP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84371148-079A-34CF-CCFA-C1F28E5C4934}"/>
              </a:ext>
            </a:extLst>
          </p:cNvPr>
          <p:cNvSpPr txBox="1"/>
          <p:nvPr/>
        </p:nvSpPr>
        <p:spPr>
          <a:xfrm>
            <a:off x="486697" y="629267"/>
            <a:ext cx="6939116" cy="1016654"/>
          </a:xfrm>
          <a:prstGeom prst="rect">
            <a:avLst/>
          </a:prstGeom>
        </p:spPr>
        <p:txBody>
          <a:bodyPr vert="horz" lIns="91440" tIns="45720" rIns="91440" bIns="45720" rtlCol="0" anchor="t">
            <a:normAutofit/>
          </a:bodyPr>
          <a:lstStyle/>
          <a:p>
            <a:pPr>
              <a:spcBef>
                <a:spcPct val="0"/>
              </a:spcBef>
              <a:spcAft>
                <a:spcPts val="600"/>
              </a:spcAft>
            </a:pPr>
            <a:r>
              <a:rPr lang="en-US" sz="4200" b="0" i="0" kern="1200">
                <a:solidFill>
                  <a:srgbClr val="EBEBEB"/>
                </a:solidFill>
                <a:latin typeface="+mj-lt"/>
                <a:ea typeface="+mj-ea"/>
                <a:cs typeface="+mj-cs"/>
              </a:rPr>
              <a:t>YouTube Video Link</a:t>
            </a:r>
          </a:p>
        </p:txBody>
      </p:sp>
      <p:sp useBgFill="1">
        <p:nvSpPr>
          <p:cNvPr id="28" name="Freeform: Shape 27">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extBox 1">
            <a:extLst>
              <a:ext uri="{FF2B5EF4-FFF2-40B4-BE49-F238E27FC236}">
                <a16:creationId xmlns:a16="http://schemas.microsoft.com/office/drawing/2014/main" id="{D5F09EBE-3147-13F6-30A2-1A1D0597BCA7}"/>
              </a:ext>
            </a:extLst>
          </p:cNvPr>
          <p:cNvSpPr txBox="1"/>
          <p:nvPr/>
        </p:nvSpPr>
        <p:spPr>
          <a:xfrm>
            <a:off x="486698" y="2548281"/>
            <a:ext cx="4575496" cy="3658689"/>
          </a:xfrm>
          <a:prstGeom prst="rect">
            <a:avLst/>
          </a:prstGeom>
        </p:spPr>
        <p:txBody>
          <a:bodyPr vert="horz" lIns="91440" tIns="45720" rIns="91440" bIns="45720" rtlCol="0" anchor="ctr">
            <a:normAutofit/>
          </a:bodyPr>
          <a:lstStyle/>
          <a:p>
            <a:pPr algn="ctr">
              <a:spcBef>
                <a:spcPts val="1000"/>
              </a:spcBef>
              <a:buClr>
                <a:schemeClr val="bg2">
                  <a:lumMod val="40000"/>
                  <a:lumOff val="60000"/>
                </a:schemeClr>
              </a:buClr>
              <a:buSzPct val="80000"/>
              <a:buFont typeface="Wingdings 3" charset="2"/>
              <a:buChar char=""/>
            </a:pPr>
            <a:r>
              <a:rPr lang="en-US" sz="2400" dirty="0">
                <a:latin typeface="+mj-lt"/>
                <a:ea typeface="+mj-ea"/>
                <a:cs typeface="+mj-cs"/>
              </a:rPr>
              <a:t>🎬 Watch Full Explanation </a:t>
            </a:r>
          </a:p>
          <a:p>
            <a:pPr algn="ctr">
              <a:spcBef>
                <a:spcPts val="1000"/>
              </a:spcBef>
              <a:buClr>
                <a:schemeClr val="bg2">
                  <a:lumMod val="40000"/>
                  <a:lumOff val="60000"/>
                </a:schemeClr>
              </a:buClr>
              <a:buSzPct val="80000"/>
              <a:buFont typeface="Wingdings 3" charset="2"/>
              <a:buChar char=""/>
            </a:pPr>
            <a:r>
              <a:rPr lang="en-US" sz="2400" dirty="0">
                <a:latin typeface="+mj-lt"/>
                <a:ea typeface="+mj-ea"/>
                <a:cs typeface="+mj-cs"/>
              </a:rPr>
              <a:t> Click here to open video </a:t>
            </a:r>
          </a:p>
          <a:p>
            <a:pPr algn="ctr">
              <a:spcBef>
                <a:spcPts val="1000"/>
              </a:spcBef>
              <a:buClr>
                <a:schemeClr val="bg2">
                  <a:lumMod val="40000"/>
                  <a:lumOff val="60000"/>
                </a:schemeClr>
              </a:buClr>
              <a:buSzPct val="80000"/>
              <a:buFont typeface="Wingdings 3" charset="2"/>
              <a:buChar char=""/>
            </a:pPr>
            <a:endParaRPr lang="en-US" sz="2400" dirty="0">
              <a:latin typeface="+mj-lt"/>
              <a:ea typeface="+mj-ea"/>
              <a:cs typeface="+mj-cs"/>
            </a:endParaRPr>
          </a:p>
          <a:p>
            <a:pPr algn="ctr">
              <a:spcBef>
                <a:spcPts val="1000"/>
              </a:spcBef>
              <a:buClr>
                <a:schemeClr val="bg2">
                  <a:lumMod val="40000"/>
                  <a:lumOff val="60000"/>
                </a:schemeClr>
              </a:buClr>
              <a:buSzPct val="80000"/>
              <a:buFont typeface="Wingdings 3" charset="2"/>
              <a:buChar char=""/>
            </a:pPr>
            <a:r>
              <a:rPr lang="en-US" sz="2400" dirty="0">
                <a:latin typeface="+mj-lt"/>
                <a:ea typeface="+mj-ea"/>
                <a:cs typeface="+mj-cs"/>
              </a:rPr>
              <a:t> </a:t>
            </a:r>
            <a:r>
              <a:rPr lang="en-US" sz="2400" dirty="0">
                <a:latin typeface="+mj-lt"/>
                <a:ea typeface="+mj-ea"/>
                <a:cs typeface="+mj-cs"/>
                <a:hlinkClick r:id="rId6"/>
              </a:rPr>
              <a:t>https://youtu.be/MvVBwHTf5j0</a:t>
            </a:r>
            <a:r>
              <a:rPr lang="en-US" sz="2400" dirty="0">
                <a:latin typeface="+mj-lt"/>
                <a:ea typeface="+mj-ea"/>
                <a:cs typeface="+mj-cs"/>
              </a:rPr>
              <a:t>        </a:t>
            </a:r>
          </a:p>
        </p:txBody>
      </p:sp>
      <p:pic>
        <p:nvPicPr>
          <p:cNvPr id="7" name="Graphic 6" descr="Video camera">
            <a:extLst>
              <a:ext uri="{FF2B5EF4-FFF2-40B4-BE49-F238E27FC236}">
                <a16:creationId xmlns:a16="http://schemas.microsoft.com/office/drawing/2014/main" id="{94EBAD10-EBFC-B262-838B-BF42ADED7EA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62194" y="2165073"/>
            <a:ext cx="3662018" cy="3662018"/>
          </a:xfrm>
          <a:prstGeom prst="rect">
            <a:avLst/>
          </a:prstGeom>
          <a:effectLst/>
        </p:spPr>
      </p:pic>
    </p:spTree>
    <p:extLst>
      <p:ext uri="{BB962C8B-B14F-4D97-AF65-F5344CB8AC3E}">
        <p14:creationId xmlns:p14="http://schemas.microsoft.com/office/powerpoint/2010/main" val="4208661643"/>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9141714"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1"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6454408" y="6228080"/>
            <a:ext cx="745301"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191" y="0"/>
            <a:ext cx="9144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IN"/>
          </a:p>
        </p:txBody>
      </p:sp>
      <p:sp>
        <p:nvSpPr>
          <p:cNvPr id="2" name="Title 1"/>
          <p:cNvSpPr>
            <a:spLocks noGrp="1"/>
          </p:cNvSpPr>
          <p:nvPr>
            <p:ph type="title"/>
          </p:nvPr>
        </p:nvSpPr>
        <p:spPr>
          <a:xfrm>
            <a:off x="604646" y="804672"/>
            <a:ext cx="2641019" cy="5248656"/>
          </a:xfrm>
        </p:spPr>
        <p:txBody>
          <a:bodyPr anchor="ctr">
            <a:normAutofit/>
          </a:bodyPr>
          <a:lstStyle/>
          <a:p>
            <a:pPr algn="ctr"/>
            <a:r>
              <a:rPr lang="en-IN" b="1"/>
              <a:t>Thank</a:t>
            </a:r>
            <a:r>
              <a:rPr lang="en-IN"/>
              <a:t> </a:t>
            </a:r>
            <a:r>
              <a:rPr lang="en-IN" b="1"/>
              <a:t>You</a:t>
            </a:r>
          </a:p>
        </p:txBody>
      </p:sp>
      <p:sp>
        <p:nvSpPr>
          <p:cNvPr id="3" name="Content Placeholder 2"/>
          <p:cNvSpPr>
            <a:spLocks noGrp="1"/>
          </p:cNvSpPr>
          <p:nvPr>
            <p:ph idx="1"/>
          </p:nvPr>
        </p:nvSpPr>
        <p:spPr>
          <a:xfrm>
            <a:off x="3731895" y="804671"/>
            <a:ext cx="4799948" cy="5248657"/>
          </a:xfrm>
        </p:spPr>
        <p:txBody>
          <a:bodyPr anchor="ctr">
            <a:normAutofit/>
          </a:bodyPr>
          <a:lstStyle/>
          <a:p>
            <a:r>
              <a:rPr lang="en-US"/>
              <a:t>Presented by: Muneeza</a:t>
            </a:r>
          </a:p>
          <a:p>
            <a:r>
              <a:rPr lang="en-US"/>
              <a:t>Tool Used: Power BI</a:t>
            </a:r>
          </a:p>
          <a:p>
            <a:r>
              <a:rPr lang="en-US"/>
              <a:t>Project: Madrid Analysis Project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344</TotalTime>
  <Words>1133</Words>
  <Application>Microsoft Office PowerPoint</Application>
  <PresentationFormat>On-screen Show (4:3)</PresentationFormat>
  <Paragraphs>52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vt:lpstr>
      <vt:lpstr>Madrid Analysis Project</vt:lpstr>
      <vt:lpstr>Price Analysis – Pool Availability</vt:lpstr>
      <vt:lpstr>Price Analysis – Garden Availability</vt:lpstr>
      <vt:lpstr>New vs Old Developments</vt:lpstr>
      <vt:lpstr>Segmentation &amp; Top 5 Investment Opportunities</vt:lpstr>
      <vt:lpstr>Interactive Dashboard Overview</vt:lpstr>
      <vt:lpstr>PowerPoint Presentation</vt:lpstr>
      <vt:lpstr>Summary &amp; Recommendations</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Muneeza Ali</cp:lastModifiedBy>
  <cp:revision>7</cp:revision>
  <dcterms:created xsi:type="dcterms:W3CDTF">2013-01-27T09:14:16Z</dcterms:created>
  <dcterms:modified xsi:type="dcterms:W3CDTF">2025-12-27T15:55:59Z</dcterms:modified>
  <cp:category/>
</cp:coreProperties>
</file>