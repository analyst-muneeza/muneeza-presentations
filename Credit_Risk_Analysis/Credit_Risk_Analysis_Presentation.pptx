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8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2472B-55FF-4E58-95AE-D5E3569B4FA8}" v="1" dt="2025-12-29T13:42:57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9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eeza Ali" userId="5e67a7e5bc87a74e" providerId="LiveId" clId="{9C15D5FB-2155-4960-AC09-F730F044251C}"/>
    <pc:docChg chg="modSld">
      <pc:chgData name="Muneeza Ali" userId="5e67a7e5bc87a74e" providerId="LiveId" clId="{9C15D5FB-2155-4960-AC09-F730F044251C}" dt="2025-12-29T13:42:49.004" v="0" actId="20577"/>
      <pc:docMkLst>
        <pc:docMk/>
      </pc:docMkLst>
      <pc:sldChg chg="modSp mod">
        <pc:chgData name="Muneeza Ali" userId="5e67a7e5bc87a74e" providerId="LiveId" clId="{9C15D5FB-2155-4960-AC09-F730F044251C}" dt="2025-12-29T13:42:49.004" v="0" actId="20577"/>
        <pc:sldMkLst>
          <pc:docMk/>
          <pc:sldMk cId="3874257910" sldId="268"/>
        </pc:sldMkLst>
        <pc:spChg chg="mod">
          <ac:chgData name="Muneeza Ali" userId="5e67a7e5bc87a74e" providerId="LiveId" clId="{9C15D5FB-2155-4960-AC09-F730F044251C}" dt="2025-12-29T13:42:49.004" v="0" actId="20577"/>
          <ac:spMkLst>
            <pc:docMk/>
            <pc:sldMk cId="3874257910" sldId="268"/>
            <ac:spMk id="3" creationId="{66A8F805-5912-043E-7DAF-E2604CB4801C}"/>
          </ac:spMkLst>
        </pc:spChg>
      </pc:sldChg>
    </pc:docChg>
  </pc:docChgLst>
  <pc:docChgLst>
    <pc:chgData name="Muneeza Ali" userId="5e67a7e5bc87a74e" providerId="LiveId" clId="{A027DD14-57CA-4054-9568-1FE2FF41A2E9}"/>
    <pc:docChg chg="modSld">
      <pc:chgData name="Muneeza Ali" userId="5e67a7e5bc87a74e" providerId="LiveId" clId="{A027DD14-57CA-4054-9568-1FE2FF41A2E9}" dt="2025-12-26T13:14:17.523" v="8"/>
      <pc:docMkLst>
        <pc:docMk/>
      </pc:docMkLst>
      <pc:sldChg chg="addSp delSp modSp modTransition modAnim">
        <pc:chgData name="Muneeza Ali" userId="5e67a7e5bc87a74e" providerId="LiveId" clId="{A027DD14-57CA-4054-9568-1FE2FF41A2E9}" dt="2025-12-26T13:14:17.523" v="8"/>
        <pc:sldMkLst>
          <pc:docMk/>
          <pc:sldMk cId="0" sldId="256"/>
        </pc:sldMkLst>
      </pc:sldChg>
      <pc:sldChg chg="addSp modSp mod">
        <pc:chgData name="Muneeza Ali" userId="5e67a7e5bc87a74e" providerId="LiveId" clId="{A027DD14-57CA-4054-9568-1FE2FF41A2E9}" dt="2025-12-26T11:37:50.762" v="6" actId="1076"/>
        <pc:sldMkLst>
          <pc:docMk/>
          <pc:sldMk cId="0" sldId="265"/>
        </pc:sldMkLst>
        <pc:picChg chg="add mod">
          <ac:chgData name="Muneeza Ali" userId="5e67a7e5bc87a74e" providerId="LiveId" clId="{A027DD14-57CA-4054-9568-1FE2FF41A2E9}" dt="2025-12-26T11:37:50.762" v="6" actId="1076"/>
          <ac:picMkLst>
            <pc:docMk/>
            <pc:sldMk cId="0" sldId="265"/>
            <ac:picMk id="4" creationId="{D3FD219C-8D0F-C62D-9A86-D8E4419DF634}"/>
          </ac:picMkLst>
        </pc:picChg>
      </pc:sldChg>
    </pc:docChg>
  </pc:docChgLst>
</pc:chgInfo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5.pn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18.svg"/><Relationship Id="rId16" Type="http://schemas.openxmlformats.org/officeDocument/2006/relationships/image" Target="../media/image48.svg"/><Relationship Id="rId1" Type="http://schemas.openxmlformats.org/officeDocument/2006/relationships/image" Target="../media/image17.png"/><Relationship Id="rId6" Type="http://schemas.openxmlformats.org/officeDocument/2006/relationships/image" Target="../media/image23.svg"/><Relationship Id="rId11" Type="http://schemas.openxmlformats.org/officeDocument/2006/relationships/image" Target="../media/image43.png"/><Relationship Id="rId5" Type="http://schemas.openxmlformats.org/officeDocument/2006/relationships/image" Target="../media/image22.png"/><Relationship Id="rId15" Type="http://schemas.openxmlformats.org/officeDocument/2006/relationships/image" Target="../media/image47.png"/><Relationship Id="rId10" Type="http://schemas.openxmlformats.org/officeDocument/2006/relationships/image" Target="../media/image42.svg"/><Relationship Id="rId4" Type="http://schemas.openxmlformats.org/officeDocument/2006/relationships/image" Target="../media/image38.svg"/><Relationship Id="rId9" Type="http://schemas.openxmlformats.org/officeDocument/2006/relationships/image" Target="../media/image41.png"/><Relationship Id="rId14" Type="http://schemas.openxmlformats.org/officeDocument/2006/relationships/image" Target="../media/image4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5.pn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18.svg"/><Relationship Id="rId16" Type="http://schemas.openxmlformats.org/officeDocument/2006/relationships/image" Target="../media/image48.svg"/><Relationship Id="rId1" Type="http://schemas.openxmlformats.org/officeDocument/2006/relationships/image" Target="../media/image17.png"/><Relationship Id="rId6" Type="http://schemas.openxmlformats.org/officeDocument/2006/relationships/image" Target="../media/image23.svg"/><Relationship Id="rId11" Type="http://schemas.openxmlformats.org/officeDocument/2006/relationships/image" Target="../media/image43.png"/><Relationship Id="rId5" Type="http://schemas.openxmlformats.org/officeDocument/2006/relationships/image" Target="../media/image22.png"/><Relationship Id="rId15" Type="http://schemas.openxmlformats.org/officeDocument/2006/relationships/image" Target="../media/image47.png"/><Relationship Id="rId10" Type="http://schemas.openxmlformats.org/officeDocument/2006/relationships/image" Target="../media/image42.svg"/><Relationship Id="rId4" Type="http://schemas.openxmlformats.org/officeDocument/2006/relationships/image" Target="../media/image38.svg"/><Relationship Id="rId9" Type="http://schemas.openxmlformats.org/officeDocument/2006/relationships/image" Target="../media/image41.png"/><Relationship Id="rId1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A234A9-1B3E-4871-A34A-074F4A8D314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75FAD7-B5CC-4CC6-87CA-FE976064DD36}">
      <dgm:prSet/>
      <dgm:spPr/>
      <dgm:t>
        <a:bodyPr/>
        <a:lstStyle/>
        <a:p>
          <a:r>
            <a:rPr lang="en-US"/>
            <a:t>This analysis compares </a:t>
          </a:r>
          <a:r>
            <a:rPr lang="en-US" b="1"/>
            <a:t>average loan amount, interest rate, and default rate across loan grades</a:t>
          </a:r>
          <a:r>
            <a:rPr lang="en-US"/>
            <a:t>.</a:t>
          </a:r>
        </a:p>
      </dgm:t>
    </dgm:pt>
    <dgm:pt modelId="{1C3427E8-8456-467F-BCA9-454860BA07DF}" type="parTrans" cxnId="{1167B246-201E-4535-A00B-72C179154C53}">
      <dgm:prSet/>
      <dgm:spPr/>
      <dgm:t>
        <a:bodyPr/>
        <a:lstStyle/>
        <a:p>
          <a:endParaRPr lang="en-US"/>
        </a:p>
      </dgm:t>
    </dgm:pt>
    <dgm:pt modelId="{1A755DA4-D023-436A-A5B2-3C66146EB02D}" type="sibTrans" cxnId="{1167B246-201E-4535-A00B-72C179154C53}">
      <dgm:prSet/>
      <dgm:spPr/>
      <dgm:t>
        <a:bodyPr/>
        <a:lstStyle/>
        <a:p>
          <a:endParaRPr lang="en-US"/>
        </a:p>
      </dgm:t>
    </dgm:pt>
    <dgm:pt modelId="{C3FFF467-0F05-421C-B11D-F906F501B75D}">
      <dgm:prSet/>
      <dgm:spPr/>
      <dgm:t>
        <a:bodyPr/>
        <a:lstStyle/>
        <a:p>
          <a:r>
            <a:rPr lang="en-US"/>
            <a:t>Borrowers in </a:t>
          </a:r>
          <a:r>
            <a:rPr lang="en-US" b="1"/>
            <a:t>lower grades (G, F, and E)</a:t>
          </a:r>
          <a:r>
            <a:rPr lang="en-US"/>
            <a:t> tend to take </a:t>
          </a:r>
          <a:r>
            <a:rPr lang="en-US" b="1"/>
            <a:t>higher loan amounts</a:t>
          </a:r>
          <a:r>
            <a:rPr lang="en-US"/>
            <a:t>, even though their credit quality is weaker.</a:t>
          </a:r>
        </a:p>
      </dgm:t>
    </dgm:pt>
    <dgm:pt modelId="{98961906-7313-4CAD-9004-C1029AD61538}" type="parTrans" cxnId="{8799F1E6-174E-4C36-AAD8-F377FB09243F}">
      <dgm:prSet/>
      <dgm:spPr/>
      <dgm:t>
        <a:bodyPr/>
        <a:lstStyle/>
        <a:p>
          <a:endParaRPr lang="en-US"/>
        </a:p>
      </dgm:t>
    </dgm:pt>
    <dgm:pt modelId="{74DE3AEE-94F9-4CE5-8A52-04A376A56A98}" type="sibTrans" cxnId="{8799F1E6-174E-4C36-AAD8-F377FB09243F}">
      <dgm:prSet/>
      <dgm:spPr/>
      <dgm:t>
        <a:bodyPr/>
        <a:lstStyle/>
        <a:p>
          <a:endParaRPr lang="en-US"/>
        </a:p>
      </dgm:t>
    </dgm:pt>
    <dgm:pt modelId="{A2841FB2-A300-4B39-8965-6202DE6EA8E7}">
      <dgm:prSet/>
      <dgm:spPr/>
      <dgm:t>
        <a:bodyPr/>
        <a:lstStyle/>
        <a:p>
          <a:r>
            <a:rPr lang="en-US"/>
            <a:t>Interest rates </a:t>
          </a:r>
          <a:r>
            <a:rPr lang="en-US" b="1"/>
            <a:t>gradually decrease from Grade G to Grade A</a:t>
          </a:r>
          <a:r>
            <a:rPr lang="en-US"/>
            <a:t>, which clearly reflects improving borrower reliability and lower perceived risk.</a:t>
          </a:r>
        </a:p>
      </dgm:t>
    </dgm:pt>
    <dgm:pt modelId="{DE15CBEA-AD2D-46BC-B765-53E18BF2DD64}" type="parTrans" cxnId="{77005E0F-6124-4A4A-BA3A-D9BAD83FBB28}">
      <dgm:prSet/>
      <dgm:spPr/>
      <dgm:t>
        <a:bodyPr/>
        <a:lstStyle/>
        <a:p>
          <a:endParaRPr lang="en-US"/>
        </a:p>
      </dgm:t>
    </dgm:pt>
    <dgm:pt modelId="{14D8BF72-13BD-40C2-9662-019DEA1591A7}" type="sibTrans" cxnId="{77005E0F-6124-4A4A-BA3A-D9BAD83FBB28}">
      <dgm:prSet/>
      <dgm:spPr/>
      <dgm:t>
        <a:bodyPr/>
        <a:lstStyle/>
        <a:p>
          <a:endParaRPr lang="en-US"/>
        </a:p>
      </dgm:t>
    </dgm:pt>
    <dgm:pt modelId="{7A9B86B3-DC8E-4DF4-83AD-D54484373DC9}">
      <dgm:prSet/>
      <dgm:spPr/>
      <dgm:t>
        <a:bodyPr/>
        <a:lstStyle/>
        <a:p>
          <a:r>
            <a:rPr lang="en-US" b="1"/>
            <a:t>Default rates are highest in grades G to E</a:t>
          </a:r>
          <a:r>
            <a:rPr lang="en-US"/>
            <a:t>, showing that weaker credit profiles struggle more with repayment.</a:t>
          </a:r>
        </a:p>
      </dgm:t>
    </dgm:pt>
    <dgm:pt modelId="{6F882540-46DA-4314-8E2E-EB8AD5F258F6}" type="parTrans" cxnId="{EC54AE8D-9F2F-439E-B085-1590452C2BC1}">
      <dgm:prSet/>
      <dgm:spPr/>
      <dgm:t>
        <a:bodyPr/>
        <a:lstStyle/>
        <a:p>
          <a:endParaRPr lang="en-US"/>
        </a:p>
      </dgm:t>
    </dgm:pt>
    <dgm:pt modelId="{8CA82AEA-2433-44B3-9FA5-A668F02303E0}" type="sibTrans" cxnId="{EC54AE8D-9F2F-439E-B085-1590452C2BC1}">
      <dgm:prSet/>
      <dgm:spPr/>
      <dgm:t>
        <a:bodyPr/>
        <a:lstStyle/>
        <a:p>
          <a:endParaRPr lang="en-US"/>
        </a:p>
      </dgm:t>
    </dgm:pt>
    <dgm:pt modelId="{5FA3A32A-97A0-4C42-871A-9A03EC5085AD}">
      <dgm:prSet/>
      <dgm:spPr/>
      <dgm:t>
        <a:bodyPr/>
        <a:lstStyle/>
        <a:p>
          <a:r>
            <a:rPr lang="en-US" b="1"/>
            <a:t>Grades A and B stand out as the safest segments</a:t>
          </a:r>
          <a:r>
            <a:rPr lang="en-US"/>
            <a:t>, with lower loan amounts, lower interest rates, and minimal defaults.</a:t>
          </a:r>
        </a:p>
      </dgm:t>
    </dgm:pt>
    <dgm:pt modelId="{8F7EF2B3-8141-4E0E-8A24-36F13B83DD16}" type="parTrans" cxnId="{1E736520-1B93-46E1-9C40-A8B3112BA3F9}">
      <dgm:prSet/>
      <dgm:spPr/>
      <dgm:t>
        <a:bodyPr/>
        <a:lstStyle/>
        <a:p>
          <a:endParaRPr lang="en-US"/>
        </a:p>
      </dgm:t>
    </dgm:pt>
    <dgm:pt modelId="{734B6C4F-7997-4904-B1D2-DA9CDCDC6377}" type="sibTrans" cxnId="{1E736520-1B93-46E1-9C40-A8B3112BA3F9}">
      <dgm:prSet/>
      <dgm:spPr/>
      <dgm:t>
        <a:bodyPr/>
        <a:lstStyle/>
        <a:p>
          <a:endParaRPr lang="en-US"/>
        </a:p>
      </dgm:t>
    </dgm:pt>
    <dgm:pt modelId="{8D7D8285-051A-421C-8677-460A2D29FAA4}">
      <dgm:prSet/>
      <dgm:spPr/>
      <dgm:t>
        <a:bodyPr/>
        <a:lstStyle/>
        <a:p>
          <a:r>
            <a:rPr lang="en-US"/>
            <a:t>Overall, this confirms that </a:t>
          </a:r>
          <a:r>
            <a:rPr lang="en-US" b="1"/>
            <a:t>high loan amount combined with high interest rate significantly increases default risk</a:t>
          </a:r>
          <a:r>
            <a:rPr lang="en-US"/>
            <a:t>, especially in lower grades.</a:t>
          </a:r>
        </a:p>
      </dgm:t>
    </dgm:pt>
    <dgm:pt modelId="{A91070C8-E745-472C-B3D6-3D473DF49BF9}" type="parTrans" cxnId="{02D81A04-4E7D-4049-827B-373221307336}">
      <dgm:prSet/>
      <dgm:spPr/>
      <dgm:t>
        <a:bodyPr/>
        <a:lstStyle/>
        <a:p>
          <a:endParaRPr lang="en-US"/>
        </a:p>
      </dgm:t>
    </dgm:pt>
    <dgm:pt modelId="{BFA18C35-BCEE-41CD-83C0-4ACAB2142BA1}" type="sibTrans" cxnId="{02D81A04-4E7D-4049-827B-373221307336}">
      <dgm:prSet/>
      <dgm:spPr/>
      <dgm:t>
        <a:bodyPr/>
        <a:lstStyle/>
        <a:p>
          <a:endParaRPr lang="en-US"/>
        </a:p>
      </dgm:t>
    </dgm:pt>
    <dgm:pt modelId="{A5D4553C-8694-4155-9BE5-DFEE980AFB69}" type="pres">
      <dgm:prSet presAssocID="{57A234A9-1B3E-4871-A34A-074F4A8D3146}" presName="vert0" presStyleCnt="0">
        <dgm:presLayoutVars>
          <dgm:dir/>
          <dgm:animOne val="branch"/>
          <dgm:animLvl val="lvl"/>
        </dgm:presLayoutVars>
      </dgm:prSet>
      <dgm:spPr/>
    </dgm:pt>
    <dgm:pt modelId="{1C48ACE0-2679-4ED3-9BDB-0BF02DD69A03}" type="pres">
      <dgm:prSet presAssocID="{9275FAD7-B5CC-4CC6-87CA-FE976064DD36}" presName="thickLine" presStyleLbl="alignNode1" presStyleIdx="0" presStyleCnt="6"/>
      <dgm:spPr/>
    </dgm:pt>
    <dgm:pt modelId="{402EEAC9-77CE-4C91-A862-28B192ECCEF1}" type="pres">
      <dgm:prSet presAssocID="{9275FAD7-B5CC-4CC6-87CA-FE976064DD36}" presName="horz1" presStyleCnt="0"/>
      <dgm:spPr/>
    </dgm:pt>
    <dgm:pt modelId="{99E06106-9E59-4080-8B87-529E0B7C3ADE}" type="pres">
      <dgm:prSet presAssocID="{9275FAD7-B5CC-4CC6-87CA-FE976064DD36}" presName="tx1" presStyleLbl="revTx" presStyleIdx="0" presStyleCnt="6"/>
      <dgm:spPr/>
    </dgm:pt>
    <dgm:pt modelId="{E10ED947-1DC8-4835-B859-B785D8BB1CBD}" type="pres">
      <dgm:prSet presAssocID="{9275FAD7-B5CC-4CC6-87CA-FE976064DD36}" presName="vert1" presStyleCnt="0"/>
      <dgm:spPr/>
    </dgm:pt>
    <dgm:pt modelId="{6216FF97-5AFE-4743-822F-E04F9B171032}" type="pres">
      <dgm:prSet presAssocID="{C3FFF467-0F05-421C-B11D-F906F501B75D}" presName="thickLine" presStyleLbl="alignNode1" presStyleIdx="1" presStyleCnt="6"/>
      <dgm:spPr/>
    </dgm:pt>
    <dgm:pt modelId="{9992356E-E040-4BD3-8E3E-422187734FAE}" type="pres">
      <dgm:prSet presAssocID="{C3FFF467-0F05-421C-B11D-F906F501B75D}" presName="horz1" presStyleCnt="0"/>
      <dgm:spPr/>
    </dgm:pt>
    <dgm:pt modelId="{67D15920-B461-4363-96FA-6C4ABB8BE0F7}" type="pres">
      <dgm:prSet presAssocID="{C3FFF467-0F05-421C-B11D-F906F501B75D}" presName="tx1" presStyleLbl="revTx" presStyleIdx="1" presStyleCnt="6"/>
      <dgm:spPr/>
    </dgm:pt>
    <dgm:pt modelId="{1DE87306-759F-4283-85FE-B0BFF66C8C13}" type="pres">
      <dgm:prSet presAssocID="{C3FFF467-0F05-421C-B11D-F906F501B75D}" presName="vert1" presStyleCnt="0"/>
      <dgm:spPr/>
    </dgm:pt>
    <dgm:pt modelId="{CBC4545D-4BC6-43B0-8F6D-5A9C07A1BFA2}" type="pres">
      <dgm:prSet presAssocID="{A2841FB2-A300-4B39-8965-6202DE6EA8E7}" presName="thickLine" presStyleLbl="alignNode1" presStyleIdx="2" presStyleCnt="6"/>
      <dgm:spPr/>
    </dgm:pt>
    <dgm:pt modelId="{50C62BFB-797B-48BA-9530-1476A6FE9FED}" type="pres">
      <dgm:prSet presAssocID="{A2841FB2-A300-4B39-8965-6202DE6EA8E7}" presName="horz1" presStyleCnt="0"/>
      <dgm:spPr/>
    </dgm:pt>
    <dgm:pt modelId="{7A1E0BBB-4941-4AC4-AC30-62DC850E3264}" type="pres">
      <dgm:prSet presAssocID="{A2841FB2-A300-4B39-8965-6202DE6EA8E7}" presName="tx1" presStyleLbl="revTx" presStyleIdx="2" presStyleCnt="6"/>
      <dgm:spPr/>
    </dgm:pt>
    <dgm:pt modelId="{5F063E8C-4E96-4F45-BDAC-5D342242EDE5}" type="pres">
      <dgm:prSet presAssocID="{A2841FB2-A300-4B39-8965-6202DE6EA8E7}" presName="vert1" presStyleCnt="0"/>
      <dgm:spPr/>
    </dgm:pt>
    <dgm:pt modelId="{6B262C77-26D0-4DB9-B343-95CD27559DCB}" type="pres">
      <dgm:prSet presAssocID="{7A9B86B3-DC8E-4DF4-83AD-D54484373DC9}" presName="thickLine" presStyleLbl="alignNode1" presStyleIdx="3" presStyleCnt="6"/>
      <dgm:spPr/>
    </dgm:pt>
    <dgm:pt modelId="{F9F1B11E-B6B7-4EF9-917C-E6B2002EE747}" type="pres">
      <dgm:prSet presAssocID="{7A9B86B3-DC8E-4DF4-83AD-D54484373DC9}" presName="horz1" presStyleCnt="0"/>
      <dgm:spPr/>
    </dgm:pt>
    <dgm:pt modelId="{4C32C3AE-2017-4A99-8CBF-EF8CB8A1CE1E}" type="pres">
      <dgm:prSet presAssocID="{7A9B86B3-DC8E-4DF4-83AD-D54484373DC9}" presName="tx1" presStyleLbl="revTx" presStyleIdx="3" presStyleCnt="6"/>
      <dgm:spPr/>
    </dgm:pt>
    <dgm:pt modelId="{DD702D8B-B3C8-4CD8-930D-6628D633A7DC}" type="pres">
      <dgm:prSet presAssocID="{7A9B86B3-DC8E-4DF4-83AD-D54484373DC9}" presName="vert1" presStyleCnt="0"/>
      <dgm:spPr/>
    </dgm:pt>
    <dgm:pt modelId="{A6388F40-3CAF-45A7-B578-6792E9187E5C}" type="pres">
      <dgm:prSet presAssocID="{5FA3A32A-97A0-4C42-871A-9A03EC5085AD}" presName="thickLine" presStyleLbl="alignNode1" presStyleIdx="4" presStyleCnt="6"/>
      <dgm:spPr/>
    </dgm:pt>
    <dgm:pt modelId="{30A34D3D-17A4-42E8-8AF1-F6B1CAE01B70}" type="pres">
      <dgm:prSet presAssocID="{5FA3A32A-97A0-4C42-871A-9A03EC5085AD}" presName="horz1" presStyleCnt="0"/>
      <dgm:spPr/>
    </dgm:pt>
    <dgm:pt modelId="{07226F5F-134B-4DDE-9F85-73B18FFAE5FA}" type="pres">
      <dgm:prSet presAssocID="{5FA3A32A-97A0-4C42-871A-9A03EC5085AD}" presName="tx1" presStyleLbl="revTx" presStyleIdx="4" presStyleCnt="6"/>
      <dgm:spPr/>
    </dgm:pt>
    <dgm:pt modelId="{92249125-5AC1-433A-8D3B-689FB2736631}" type="pres">
      <dgm:prSet presAssocID="{5FA3A32A-97A0-4C42-871A-9A03EC5085AD}" presName="vert1" presStyleCnt="0"/>
      <dgm:spPr/>
    </dgm:pt>
    <dgm:pt modelId="{1DEDE4F6-2F62-4EB9-A7A1-8CA932B12B25}" type="pres">
      <dgm:prSet presAssocID="{8D7D8285-051A-421C-8677-460A2D29FAA4}" presName="thickLine" presStyleLbl="alignNode1" presStyleIdx="5" presStyleCnt="6"/>
      <dgm:spPr/>
    </dgm:pt>
    <dgm:pt modelId="{87886B9B-DC34-4926-B758-52F1E5B482DD}" type="pres">
      <dgm:prSet presAssocID="{8D7D8285-051A-421C-8677-460A2D29FAA4}" presName="horz1" presStyleCnt="0"/>
      <dgm:spPr/>
    </dgm:pt>
    <dgm:pt modelId="{0BE4EE8C-2C37-4BA1-B0F0-6E36F2270279}" type="pres">
      <dgm:prSet presAssocID="{8D7D8285-051A-421C-8677-460A2D29FAA4}" presName="tx1" presStyleLbl="revTx" presStyleIdx="5" presStyleCnt="6"/>
      <dgm:spPr/>
    </dgm:pt>
    <dgm:pt modelId="{A742BF76-186A-4A99-806E-794371AFC0D8}" type="pres">
      <dgm:prSet presAssocID="{8D7D8285-051A-421C-8677-460A2D29FAA4}" presName="vert1" presStyleCnt="0"/>
      <dgm:spPr/>
    </dgm:pt>
  </dgm:ptLst>
  <dgm:cxnLst>
    <dgm:cxn modelId="{02D81A04-4E7D-4049-827B-373221307336}" srcId="{57A234A9-1B3E-4871-A34A-074F4A8D3146}" destId="{8D7D8285-051A-421C-8677-460A2D29FAA4}" srcOrd="5" destOrd="0" parTransId="{A91070C8-E745-472C-B3D6-3D473DF49BF9}" sibTransId="{BFA18C35-BCEE-41CD-83C0-4ACAB2142BA1}"/>
    <dgm:cxn modelId="{77005E0F-6124-4A4A-BA3A-D9BAD83FBB28}" srcId="{57A234A9-1B3E-4871-A34A-074F4A8D3146}" destId="{A2841FB2-A300-4B39-8965-6202DE6EA8E7}" srcOrd="2" destOrd="0" parTransId="{DE15CBEA-AD2D-46BC-B765-53E18BF2DD64}" sibTransId="{14D8BF72-13BD-40C2-9662-019DEA1591A7}"/>
    <dgm:cxn modelId="{CCEB2915-28B8-48B0-BBFF-B92CBD2C656E}" type="presOf" srcId="{C3FFF467-0F05-421C-B11D-F906F501B75D}" destId="{67D15920-B461-4363-96FA-6C4ABB8BE0F7}" srcOrd="0" destOrd="0" presId="urn:microsoft.com/office/officeart/2008/layout/LinedList"/>
    <dgm:cxn modelId="{1E736520-1B93-46E1-9C40-A8B3112BA3F9}" srcId="{57A234A9-1B3E-4871-A34A-074F4A8D3146}" destId="{5FA3A32A-97A0-4C42-871A-9A03EC5085AD}" srcOrd="4" destOrd="0" parTransId="{8F7EF2B3-8141-4E0E-8A24-36F13B83DD16}" sibTransId="{734B6C4F-7997-4904-B1D2-DA9CDCDC6377}"/>
    <dgm:cxn modelId="{69ED5965-E67C-4A00-A660-56B8F2600944}" type="presOf" srcId="{7A9B86B3-DC8E-4DF4-83AD-D54484373DC9}" destId="{4C32C3AE-2017-4A99-8CBF-EF8CB8A1CE1E}" srcOrd="0" destOrd="0" presId="urn:microsoft.com/office/officeart/2008/layout/LinedList"/>
    <dgm:cxn modelId="{1167B246-201E-4535-A00B-72C179154C53}" srcId="{57A234A9-1B3E-4871-A34A-074F4A8D3146}" destId="{9275FAD7-B5CC-4CC6-87CA-FE976064DD36}" srcOrd="0" destOrd="0" parTransId="{1C3427E8-8456-467F-BCA9-454860BA07DF}" sibTransId="{1A755DA4-D023-436A-A5B2-3C66146EB02D}"/>
    <dgm:cxn modelId="{5F030353-AAE6-437F-8DF8-5E2A414E98A9}" type="presOf" srcId="{5FA3A32A-97A0-4C42-871A-9A03EC5085AD}" destId="{07226F5F-134B-4DDE-9F85-73B18FFAE5FA}" srcOrd="0" destOrd="0" presId="urn:microsoft.com/office/officeart/2008/layout/LinedList"/>
    <dgm:cxn modelId="{EC54AE8D-9F2F-439E-B085-1590452C2BC1}" srcId="{57A234A9-1B3E-4871-A34A-074F4A8D3146}" destId="{7A9B86B3-DC8E-4DF4-83AD-D54484373DC9}" srcOrd="3" destOrd="0" parTransId="{6F882540-46DA-4314-8E2E-EB8AD5F258F6}" sibTransId="{8CA82AEA-2433-44B3-9FA5-A668F02303E0}"/>
    <dgm:cxn modelId="{D1FF0D93-A43F-4A15-9F6E-E5B93E317B4D}" type="presOf" srcId="{57A234A9-1B3E-4871-A34A-074F4A8D3146}" destId="{A5D4553C-8694-4155-9BE5-DFEE980AFB69}" srcOrd="0" destOrd="0" presId="urn:microsoft.com/office/officeart/2008/layout/LinedList"/>
    <dgm:cxn modelId="{3A2F09B4-0C7B-41D9-BDFD-759AC2BBF46B}" type="presOf" srcId="{8D7D8285-051A-421C-8677-460A2D29FAA4}" destId="{0BE4EE8C-2C37-4BA1-B0F0-6E36F2270279}" srcOrd="0" destOrd="0" presId="urn:microsoft.com/office/officeart/2008/layout/LinedList"/>
    <dgm:cxn modelId="{21D127BA-DF20-41AB-BD6F-0BEF0160AEF3}" type="presOf" srcId="{9275FAD7-B5CC-4CC6-87CA-FE976064DD36}" destId="{99E06106-9E59-4080-8B87-529E0B7C3ADE}" srcOrd="0" destOrd="0" presId="urn:microsoft.com/office/officeart/2008/layout/LinedList"/>
    <dgm:cxn modelId="{8799F1E6-174E-4C36-AAD8-F377FB09243F}" srcId="{57A234A9-1B3E-4871-A34A-074F4A8D3146}" destId="{C3FFF467-0F05-421C-B11D-F906F501B75D}" srcOrd="1" destOrd="0" parTransId="{98961906-7313-4CAD-9004-C1029AD61538}" sibTransId="{74DE3AEE-94F9-4CE5-8A52-04A376A56A98}"/>
    <dgm:cxn modelId="{8F1B09EF-EAA0-45E4-966F-43FE037E6C0B}" type="presOf" srcId="{A2841FB2-A300-4B39-8965-6202DE6EA8E7}" destId="{7A1E0BBB-4941-4AC4-AC30-62DC850E3264}" srcOrd="0" destOrd="0" presId="urn:microsoft.com/office/officeart/2008/layout/LinedList"/>
    <dgm:cxn modelId="{F0DC6F40-2DFD-4B2B-87AE-0A47DE60823F}" type="presParOf" srcId="{A5D4553C-8694-4155-9BE5-DFEE980AFB69}" destId="{1C48ACE0-2679-4ED3-9BDB-0BF02DD69A03}" srcOrd="0" destOrd="0" presId="urn:microsoft.com/office/officeart/2008/layout/LinedList"/>
    <dgm:cxn modelId="{A29F0CB7-A91F-48A8-8807-D4AA33D0CEDA}" type="presParOf" srcId="{A5D4553C-8694-4155-9BE5-DFEE980AFB69}" destId="{402EEAC9-77CE-4C91-A862-28B192ECCEF1}" srcOrd="1" destOrd="0" presId="urn:microsoft.com/office/officeart/2008/layout/LinedList"/>
    <dgm:cxn modelId="{BCA9990C-7977-4997-82A4-2FB561A0806E}" type="presParOf" srcId="{402EEAC9-77CE-4C91-A862-28B192ECCEF1}" destId="{99E06106-9E59-4080-8B87-529E0B7C3ADE}" srcOrd="0" destOrd="0" presId="urn:microsoft.com/office/officeart/2008/layout/LinedList"/>
    <dgm:cxn modelId="{C1E827A6-D45C-4474-98CF-4DA74EDEF0F3}" type="presParOf" srcId="{402EEAC9-77CE-4C91-A862-28B192ECCEF1}" destId="{E10ED947-1DC8-4835-B859-B785D8BB1CBD}" srcOrd="1" destOrd="0" presId="urn:microsoft.com/office/officeart/2008/layout/LinedList"/>
    <dgm:cxn modelId="{B918B013-F056-4F0C-BC0F-3FF02334E0B4}" type="presParOf" srcId="{A5D4553C-8694-4155-9BE5-DFEE980AFB69}" destId="{6216FF97-5AFE-4743-822F-E04F9B171032}" srcOrd="2" destOrd="0" presId="urn:microsoft.com/office/officeart/2008/layout/LinedList"/>
    <dgm:cxn modelId="{0C10B7C3-5716-4DBE-9090-349D73CD7D32}" type="presParOf" srcId="{A5D4553C-8694-4155-9BE5-DFEE980AFB69}" destId="{9992356E-E040-4BD3-8E3E-422187734FAE}" srcOrd="3" destOrd="0" presId="urn:microsoft.com/office/officeart/2008/layout/LinedList"/>
    <dgm:cxn modelId="{E0912189-BDFB-48E4-A1AA-2D7567020B77}" type="presParOf" srcId="{9992356E-E040-4BD3-8E3E-422187734FAE}" destId="{67D15920-B461-4363-96FA-6C4ABB8BE0F7}" srcOrd="0" destOrd="0" presId="urn:microsoft.com/office/officeart/2008/layout/LinedList"/>
    <dgm:cxn modelId="{082FEE7D-A99E-4478-BA77-A97BE7FB482E}" type="presParOf" srcId="{9992356E-E040-4BD3-8E3E-422187734FAE}" destId="{1DE87306-759F-4283-85FE-B0BFF66C8C13}" srcOrd="1" destOrd="0" presId="urn:microsoft.com/office/officeart/2008/layout/LinedList"/>
    <dgm:cxn modelId="{D99A9F12-75EA-4CD9-96CE-43B64C477A10}" type="presParOf" srcId="{A5D4553C-8694-4155-9BE5-DFEE980AFB69}" destId="{CBC4545D-4BC6-43B0-8F6D-5A9C07A1BFA2}" srcOrd="4" destOrd="0" presId="urn:microsoft.com/office/officeart/2008/layout/LinedList"/>
    <dgm:cxn modelId="{890725A0-F4DA-4882-B07D-062759A434C4}" type="presParOf" srcId="{A5D4553C-8694-4155-9BE5-DFEE980AFB69}" destId="{50C62BFB-797B-48BA-9530-1476A6FE9FED}" srcOrd="5" destOrd="0" presId="urn:microsoft.com/office/officeart/2008/layout/LinedList"/>
    <dgm:cxn modelId="{C0AD062D-47B6-4B4B-896A-26729E722B73}" type="presParOf" srcId="{50C62BFB-797B-48BA-9530-1476A6FE9FED}" destId="{7A1E0BBB-4941-4AC4-AC30-62DC850E3264}" srcOrd="0" destOrd="0" presId="urn:microsoft.com/office/officeart/2008/layout/LinedList"/>
    <dgm:cxn modelId="{C59649BF-C9A2-4DD3-843D-BA465417B7C5}" type="presParOf" srcId="{50C62BFB-797B-48BA-9530-1476A6FE9FED}" destId="{5F063E8C-4E96-4F45-BDAC-5D342242EDE5}" srcOrd="1" destOrd="0" presId="urn:microsoft.com/office/officeart/2008/layout/LinedList"/>
    <dgm:cxn modelId="{53B12103-EA71-4B2D-9F88-DF8AD0852450}" type="presParOf" srcId="{A5D4553C-8694-4155-9BE5-DFEE980AFB69}" destId="{6B262C77-26D0-4DB9-B343-95CD27559DCB}" srcOrd="6" destOrd="0" presId="urn:microsoft.com/office/officeart/2008/layout/LinedList"/>
    <dgm:cxn modelId="{058E5CDB-EC3A-4184-84CA-69A62036B05F}" type="presParOf" srcId="{A5D4553C-8694-4155-9BE5-DFEE980AFB69}" destId="{F9F1B11E-B6B7-4EF9-917C-E6B2002EE747}" srcOrd="7" destOrd="0" presId="urn:microsoft.com/office/officeart/2008/layout/LinedList"/>
    <dgm:cxn modelId="{0D14DDF9-7ECC-4E34-B797-60436D1EE1E7}" type="presParOf" srcId="{F9F1B11E-B6B7-4EF9-917C-E6B2002EE747}" destId="{4C32C3AE-2017-4A99-8CBF-EF8CB8A1CE1E}" srcOrd="0" destOrd="0" presId="urn:microsoft.com/office/officeart/2008/layout/LinedList"/>
    <dgm:cxn modelId="{98805F54-BA64-4A8C-802A-31240CFF9294}" type="presParOf" srcId="{F9F1B11E-B6B7-4EF9-917C-E6B2002EE747}" destId="{DD702D8B-B3C8-4CD8-930D-6628D633A7DC}" srcOrd="1" destOrd="0" presId="urn:microsoft.com/office/officeart/2008/layout/LinedList"/>
    <dgm:cxn modelId="{96B8F6ED-A77B-4556-9919-4D10196FBB40}" type="presParOf" srcId="{A5D4553C-8694-4155-9BE5-DFEE980AFB69}" destId="{A6388F40-3CAF-45A7-B578-6792E9187E5C}" srcOrd="8" destOrd="0" presId="urn:microsoft.com/office/officeart/2008/layout/LinedList"/>
    <dgm:cxn modelId="{0CC9A12F-B040-441F-B37E-7D299D7DAC8C}" type="presParOf" srcId="{A5D4553C-8694-4155-9BE5-DFEE980AFB69}" destId="{30A34D3D-17A4-42E8-8AF1-F6B1CAE01B70}" srcOrd="9" destOrd="0" presId="urn:microsoft.com/office/officeart/2008/layout/LinedList"/>
    <dgm:cxn modelId="{C7EC9073-52C6-4D7E-8013-3BD712B62A44}" type="presParOf" srcId="{30A34D3D-17A4-42E8-8AF1-F6B1CAE01B70}" destId="{07226F5F-134B-4DDE-9F85-73B18FFAE5FA}" srcOrd="0" destOrd="0" presId="urn:microsoft.com/office/officeart/2008/layout/LinedList"/>
    <dgm:cxn modelId="{4493FA75-9142-4FBF-A5A1-530A2579E2D1}" type="presParOf" srcId="{30A34D3D-17A4-42E8-8AF1-F6B1CAE01B70}" destId="{92249125-5AC1-433A-8D3B-689FB2736631}" srcOrd="1" destOrd="0" presId="urn:microsoft.com/office/officeart/2008/layout/LinedList"/>
    <dgm:cxn modelId="{4888948F-2EE3-425A-AE72-754EFE96F0A7}" type="presParOf" srcId="{A5D4553C-8694-4155-9BE5-DFEE980AFB69}" destId="{1DEDE4F6-2F62-4EB9-A7A1-8CA932B12B25}" srcOrd="10" destOrd="0" presId="urn:microsoft.com/office/officeart/2008/layout/LinedList"/>
    <dgm:cxn modelId="{09AC4015-A5A4-4E22-ABAB-8E86E9A30E62}" type="presParOf" srcId="{A5D4553C-8694-4155-9BE5-DFEE980AFB69}" destId="{87886B9B-DC34-4926-B758-52F1E5B482DD}" srcOrd="11" destOrd="0" presId="urn:microsoft.com/office/officeart/2008/layout/LinedList"/>
    <dgm:cxn modelId="{03907628-AD8F-4810-BDEC-2844C0CA0AD7}" type="presParOf" srcId="{87886B9B-DC34-4926-B758-52F1E5B482DD}" destId="{0BE4EE8C-2C37-4BA1-B0F0-6E36F2270279}" srcOrd="0" destOrd="0" presId="urn:microsoft.com/office/officeart/2008/layout/LinedList"/>
    <dgm:cxn modelId="{0504191D-AEB7-4A40-BC61-D5CE34755B43}" type="presParOf" srcId="{87886B9B-DC34-4926-B758-52F1E5B482DD}" destId="{A742BF76-186A-4A99-806E-794371AFC0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FA47D7-A1AC-4883-80BA-68713DDC2346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67452C-2A5A-4759-AD37-104EC29E075F}">
      <dgm:prSet custT="1"/>
      <dgm:spPr/>
      <dgm:t>
        <a:bodyPr anchor="ctr"/>
        <a:lstStyle/>
        <a:p>
          <a:pPr algn="l"/>
          <a:r>
            <a:rPr lang="en-US" sz="1200" dirty="0"/>
            <a:t>This Graph shows how </a:t>
          </a:r>
          <a:r>
            <a:rPr lang="en-US" sz="1200" b="1" dirty="0"/>
            <a:t>employment stability impacts loan repayment behavior</a:t>
          </a:r>
          <a:r>
            <a:rPr lang="en-US" sz="1200" dirty="0"/>
            <a:t>.</a:t>
          </a:r>
        </a:p>
      </dgm:t>
    </dgm:pt>
    <dgm:pt modelId="{04FD02C5-7BF1-4614-A9A4-CCD0FDBFC0B6}" type="parTrans" cxnId="{9A609BD3-9387-4611-934A-EC49EE1A19D5}">
      <dgm:prSet/>
      <dgm:spPr/>
      <dgm:t>
        <a:bodyPr/>
        <a:lstStyle/>
        <a:p>
          <a:endParaRPr lang="en-US"/>
        </a:p>
      </dgm:t>
    </dgm:pt>
    <dgm:pt modelId="{7F1A1652-2F88-4237-AF06-48D1C5850863}" type="sibTrans" cxnId="{9A609BD3-9387-4611-934A-EC49EE1A19D5}">
      <dgm:prSet phldrT="1" phldr="0"/>
      <dgm:spPr/>
      <dgm:t>
        <a:bodyPr/>
        <a:lstStyle/>
        <a:p>
          <a:endParaRPr lang="en-US"/>
        </a:p>
      </dgm:t>
    </dgm:pt>
    <dgm:pt modelId="{3454CAFA-8298-4FA4-AFC8-BF3E727AE145}">
      <dgm:prSet custT="1"/>
      <dgm:spPr/>
      <dgm:t>
        <a:bodyPr anchor="ctr"/>
        <a:lstStyle/>
        <a:p>
          <a:pPr algn="l"/>
          <a:r>
            <a:rPr lang="en-US" sz="1200" dirty="0"/>
            <a:t>Borrowers with </a:t>
          </a:r>
          <a:r>
            <a:rPr lang="en-US" sz="1200" b="1" dirty="0"/>
            <a:t>0–5 years of employment</a:t>
          </a:r>
          <a:r>
            <a:rPr lang="en-US" sz="1200" dirty="0"/>
            <a:t> form the </a:t>
          </a:r>
          <a:r>
            <a:rPr lang="en-US" sz="1200" b="1" dirty="0"/>
            <a:t>largest applicant group</a:t>
          </a:r>
          <a:r>
            <a:rPr lang="en-US" sz="1200" dirty="0"/>
            <a:t>, but they also contribute the </a:t>
          </a:r>
          <a:r>
            <a:rPr lang="en-US" sz="1200" b="1" dirty="0"/>
            <a:t>highest number of defaults</a:t>
          </a:r>
          <a:r>
            <a:rPr lang="en-US" sz="1200" dirty="0"/>
            <a:t>.</a:t>
          </a:r>
        </a:p>
      </dgm:t>
    </dgm:pt>
    <dgm:pt modelId="{39F28E6E-88F8-43A4-BF7A-2DAF11D54484}" type="parTrans" cxnId="{3FE10DF5-EADC-48B7-82F6-19D0D0ED64F2}">
      <dgm:prSet/>
      <dgm:spPr/>
      <dgm:t>
        <a:bodyPr/>
        <a:lstStyle/>
        <a:p>
          <a:endParaRPr lang="en-US"/>
        </a:p>
      </dgm:t>
    </dgm:pt>
    <dgm:pt modelId="{40674866-756C-4344-8F3F-6AF4409BF0BA}" type="sibTrans" cxnId="{3FE10DF5-EADC-48B7-82F6-19D0D0ED64F2}">
      <dgm:prSet phldrT="2" phldr="0"/>
      <dgm:spPr/>
      <dgm:t>
        <a:bodyPr/>
        <a:lstStyle/>
        <a:p>
          <a:endParaRPr lang="en-US"/>
        </a:p>
      </dgm:t>
    </dgm:pt>
    <dgm:pt modelId="{30F14CFD-FFBB-49EF-971F-48AE6F80E259}">
      <dgm:prSet custT="1"/>
      <dgm:spPr/>
      <dgm:t>
        <a:bodyPr anchor="ctr"/>
        <a:lstStyle/>
        <a:p>
          <a:pPr algn="l"/>
          <a:r>
            <a:rPr lang="en-US" sz="1200" dirty="0"/>
            <a:t>Individuals with </a:t>
          </a:r>
          <a:r>
            <a:rPr lang="en-US" sz="1200" b="1" dirty="0"/>
            <a:t>less than 10 years of work experience</a:t>
          </a:r>
          <a:r>
            <a:rPr lang="en-US" sz="1200" dirty="0"/>
            <a:t> show noticeably </a:t>
          </a:r>
          <a:r>
            <a:rPr lang="en-US" sz="1200" b="1" dirty="0"/>
            <a:t>higher repayment risk</a:t>
          </a:r>
          <a:r>
            <a:rPr lang="en-US" sz="1200" dirty="0"/>
            <a:t>, likely due to income instability.</a:t>
          </a:r>
        </a:p>
      </dgm:t>
    </dgm:pt>
    <dgm:pt modelId="{495539C4-AE65-4FD3-8D3D-DF60045EC2C9}" type="parTrans" cxnId="{429473BB-B318-4662-8DE0-1D95E7BDE881}">
      <dgm:prSet/>
      <dgm:spPr/>
      <dgm:t>
        <a:bodyPr/>
        <a:lstStyle/>
        <a:p>
          <a:endParaRPr lang="en-US"/>
        </a:p>
      </dgm:t>
    </dgm:pt>
    <dgm:pt modelId="{71C54667-9F7A-485A-903B-E061C4C6D350}" type="sibTrans" cxnId="{429473BB-B318-4662-8DE0-1D95E7BDE881}">
      <dgm:prSet phldrT="3" phldr="0"/>
      <dgm:spPr/>
      <dgm:t>
        <a:bodyPr/>
        <a:lstStyle/>
        <a:p>
          <a:endParaRPr lang="en-US"/>
        </a:p>
      </dgm:t>
    </dgm:pt>
    <dgm:pt modelId="{1D49AD93-0832-40EE-AD79-9DCB239E5ADF}">
      <dgm:prSet custT="1"/>
      <dgm:spPr/>
      <dgm:t>
        <a:bodyPr anchor="ctr"/>
        <a:lstStyle/>
        <a:p>
          <a:pPr algn="l"/>
          <a:r>
            <a:rPr lang="en-US" sz="1200" dirty="0"/>
            <a:t>As employment length increases, </a:t>
          </a:r>
          <a:r>
            <a:rPr lang="en-US" sz="1200" b="1" dirty="0"/>
            <a:t>default rates decline steadily</a:t>
          </a:r>
          <a:r>
            <a:rPr lang="en-US" sz="1200" dirty="0"/>
            <a:t>, indicating stronger financial discipline and stability.</a:t>
          </a:r>
        </a:p>
      </dgm:t>
    </dgm:pt>
    <dgm:pt modelId="{147AD38B-326C-4078-A80F-7D3E31F26D28}" type="parTrans" cxnId="{1CAD8599-364D-4E13-8417-8A4691103F66}">
      <dgm:prSet/>
      <dgm:spPr/>
      <dgm:t>
        <a:bodyPr/>
        <a:lstStyle/>
        <a:p>
          <a:endParaRPr lang="en-US"/>
        </a:p>
      </dgm:t>
    </dgm:pt>
    <dgm:pt modelId="{550FC738-72A9-4F31-A901-791471CB38FF}" type="sibTrans" cxnId="{1CAD8599-364D-4E13-8417-8A4691103F66}">
      <dgm:prSet phldrT="4" phldr="0"/>
      <dgm:spPr/>
      <dgm:t>
        <a:bodyPr/>
        <a:lstStyle/>
        <a:p>
          <a:endParaRPr lang="en-US"/>
        </a:p>
      </dgm:t>
    </dgm:pt>
    <dgm:pt modelId="{F1F5FD4D-EA73-49AF-89C5-F782193F9D5B}">
      <dgm:prSet custT="1"/>
      <dgm:spPr/>
      <dgm:t>
        <a:bodyPr anchor="ctr"/>
        <a:lstStyle/>
        <a:p>
          <a:pPr algn="l"/>
          <a:r>
            <a:rPr lang="en-US" sz="1200" dirty="0"/>
            <a:t>Long-term employees are generally </a:t>
          </a:r>
          <a:r>
            <a:rPr lang="en-US" sz="1200" b="1" dirty="0"/>
            <a:t>more reliable borrowers</a:t>
          </a:r>
          <a:r>
            <a:rPr lang="en-US" sz="1200" dirty="0"/>
            <a:t>, with fewer defaults despite similar loan exposure.</a:t>
          </a:r>
        </a:p>
      </dgm:t>
    </dgm:pt>
    <dgm:pt modelId="{3B6E7BDF-B37B-42B0-8BDE-0C2157B6744D}" type="parTrans" cxnId="{785F3CB2-BD72-4BEC-8AB3-3479778E2A2B}">
      <dgm:prSet/>
      <dgm:spPr/>
      <dgm:t>
        <a:bodyPr/>
        <a:lstStyle/>
        <a:p>
          <a:endParaRPr lang="en-US"/>
        </a:p>
      </dgm:t>
    </dgm:pt>
    <dgm:pt modelId="{9ABA28B0-7565-4FD1-93CB-43B036A472A7}" type="sibTrans" cxnId="{785F3CB2-BD72-4BEC-8AB3-3479778E2A2B}">
      <dgm:prSet phldrT="5" phldr="0"/>
      <dgm:spPr/>
      <dgm:t>
        <a:bodyPr/>
        <a:lstStyle/>
        <a:p>
          <a:endParaRPr lang="en-US"/>
        </a:p>
      </dgm:t>
    </dgm:pt>
    <dgm:pt modelId="{9A8D88F7-2FB6-4261-914D-2ABAC635F6D9}">
      <dgm:prSet custT="1"/>
      <dgm:spPr/>
      <dgm:t>
        <a:bodyPr anchor="ctr"/>
        <a:lstStyle/>
        <a:p>
          <a:pPr algn="l"/>
          <a:r>
            <a:rPr lang="en-US" sz="1200" dirty="0"/>
            <a:t>This makes </a:t>
          </a:r>
          <a:r>
            <a:rPr lang="en-US" sz="1200" b="1" dirty="0"/>
            <a:t>short employment duration a key risk indicator</a:t>
          </a:r>
          <a:r>
            <a:rPr lang="en-US" sz="1200" dirty="0"/>
            <a:t>, especially when combined with other risk factors.</a:t>
          </a:r>
        </a:p>
      </dgm:t>
    </dgm:pt>
    <dgm:pt modelId="{E36CB703-16A9-456E-9258-74BA1A18229A}" type="parTrans" cxnId="{8E9A1EB6-BF6C-47CB-BF8F-D26CA10919E8}">
      <dgm:prSet/>
      <dgm:spPr/>
      <dgm:t>
        <a:bodyPr/>
        <a:lstStyle/>
        <a:p>
          <a:endParaRPr lang="en-US"/>
        </a:p>
      </dgm:t>
    </dgm:pt>
    <dgm:pt modelId="{23F033A3-17D5-4EE1-AB95-C00CCA8C3997}" type="sibTrans" cxnId="{8E9A1EB6-BF6C-47CB-BF8F-D26CA10919E8}">
      <dgm:prSet phldrT="6" phldr="0"/>
      <dgm:spPr/>
      <dgm:t>
        <a:bodyPr/>
        <a:lstStyle/>
        <a:p>
          <a:endParaRPr lang="en-US"/>
        </a:p>
      </dgm:t>
    </dgm:pt>
    <dgm:pt modelId="{915B2577-AD41-4C85-AFF3-74F2F90D222F}" type="pres">
      <dgm:prSet presAssocID="{68FA47D7-A1AC-4883-80BA-68713DDC2346}" presName="vert0" presStyleCnt="0">
        <dgm:presLayoutVars>
          <dgm:dir/>
          <dgm:animOne val="branch"/>
          <dgm:animLvl val="lvl"/>
        </dgm:presLayoutVars>
      </dgm:prSet>
      <dgm:spPr/>
    </dgm:pt>
    <dgm:pt modelId="{1695FD79-56EA-40E7-89BF-EFCF8F3E3417}" type="pres">
      <dgm:prSet presAssocID="{7867452C-2A5A-4759-AD37-104EC29E075F}" presName="thickLine" presStyleLbl="alignNode1" presStyleIdx="0" presStyleCnt="6"/>
      <dgm:spPr/>
    </dgm:pt>
    <dgm:pt modelId="{0B3D5BE7-CA3E-43CA-807C-6050D871C5B7}" type="pres">
      <dgm:prSet presAssocID="{7867452C-2A5A-4759-AD37-104EC29E075F}" presName="horz1" presStyleCnt="0"/>
      <dgm:spPr/>
    </dgm:pt>
    <dgm:pt modelId="{327DDD0D-CBCB-47D4-8279-EB1EE0C8EA68}" type="pres">
      <dgm:prSet presAssocID="{7867452C-2A5A-4759-AD37-104EC29E075F}" presName="tx1" presStyleLbl="revTx" presStyleIdx="0" presStyleCnt="6" custScaleY="74482"/>
      <dgm:spPr/>
    </dgm:pt>
    <dgm:pt modelId="{33859590-E27E-4449-84F0-794BB106AFFF}" type="pres">
      <dgm:prSet presAssocID="{7867452C-2A5A-4759-AD37-104EC29E075F}" presName="vert1" presStyleCnt="0"/>
      <dgm:spPr/>
    </dgm:pt>
    <dgm:pt modelId="{65F83CAC-7C11-47C1-80FE-85A5AB24CDA3}" type="pres">
      <dgm:prSet presAssocID="{3454CAFA-8298-4FA4-AFC8-BF3E727AE145}" presName="thickLine" presStyleLbl="alignNode1" presStyleIdx="1" presStyleCnt="6"/>
      <dgm:spPr/>
    </dgm:pt>
    <dgm:pt modelId="{D8541BF2-B5F8-4C15-92FA-5BF5FBBC2E12}" type="pres">
      <dgm:prSet presAssocID="{3454CAFA-8298-4FA4-AFC8-BF3E727AE145}" presName="horz1" presStyleCnt="0"/>
      <dgm:spPr/>
    </dgm:pt>
    <dgm:pt modelId="{3F08D7CA-3150-4B5E-BC64-9EC57CE1499A}" type="pres">
      <dgm:prSet presAssocID="{3454CAFA-8298-4FA4-AFC8-BF3E727AE145}" presName="tx1" presStyleLbl="revTx" presStyleIdx="1" presStyleCnt="6" custScaleY="74482"/>
      <dgm:spPr/>
    </dgm:pt>
    <dgm:pt modelId="{5AAF1715-9663-4097-9661-A061C2545D68}" type="pres">
      <dgm:prSet presAssocID="{3454CAFA-8298-4FA4-AFC8-BF3E727AE145}" presName="vert1" presStyleCnt="0"/>
      <dgm:spPr/>
    </dgm:pt>
    <dgm:pt modelId="{4257DD16-93C6-48DD-9B2E-98335F875DB7}" type="pres">
      <dgm:prSet presAssocID="{30F14CFD-FFBB-49EF-971F-48AE6F80E259}" presName="thickLine" presStyleLbl="alignNode1" presStyleIdx="2" presStyleCnt="6"/>
      <dgm:spPr/>
    </dgm:pt>
    <dgm:pt modelId="{1114744F-A65D-4658-AD8E-EAD36E703628}" type="pres">
      <dgm:prSet presAssocID="{30F14CFD-FFBB-49EF-971F-48AE6F80E259}" presName="horz1" presStyleCnt="0"/>
      <dgm:spPr/>
    </dgm:pt>
    <dgm:pt modelId="{60BEAA4F-529D-4A08-969D-6AD3CA669F19}" type="pres">
      <dgm:prSet presAssocID="{30F14CFD-FFBB-49EF-971F-48AE6F80E259}" presName="tx1" presStyleLbl="revTx" presStyleIdx="2" presStyleCnt="6" custScaleY="74482"/>
      <dgm:spPr/>
    </dgm:pt>
    <dgm:pt modelId="{68AF7B18-40D9-4CF3-A26F-7FFFB9B1CAF9}" type="pres">
      <dgm:prSet presAssocID="{30F14CFD-FFBB-49EF-971F-48AE6F80E259}" presName="vert1" presStyleCnt="0"/>
      <dgm:spPr/>
    </dgm:pt>
    <dgm:pt modelId="{7EB9CC03-4D14-4C6B-8DC8-D7BAFB1B99C7}" type="pres">
      <dgm:prSet presAssocID="{1D49AD93-0832-40EE-AD79-9DCB239E5ADF}" presName="thickLine" presStyleLbl="alignNode1" presStyleIdx="3" presStyleCnt="6"/>
      <dgm:spPr/>
    </dgm:pt>
    <dgm:pt modelId="{95CBA6AA-C53C-4EB8-8670-489BE428E7B8}" type="pres">
      <dgm:prSet presAssocID="{1D49AD93-0832-40EE-AD79-9DCB239E5ADF}" presName="horz1" presStyleCnt="0"/>
      <dgm:spPr/>
    </dgm:pt>
    <dgm:pt modelId="{D4D16ED9-9F1C-477E-AF3F-752BABDFF783}" type="pres">
      <dgm:prSet presAssocID="{1D49AD93-0832-40EE-AD79-9DCB239E5ADF}" presName="tx1" presStyleLbl="revTx" presStyleIdx="3" presStyleCnt="6" custScaleY="74482"/>
      <dgm:spPr/>
    </dgm:pt>
    <dgm:pt modelId="{657F2AF4-53DC-400D-85D5-CE82F657174B}" type="pres">
      <dgm:prSet presAssocID="{1D49AD93-0832-40EE-AD79-9DCB239E5ADF}" presName="vert1" presStyleCnt="0"/>
      <dgm:spPr/>
    </dgm:pt>
    <dgm:pt modelId="{A385C11D-98FD-4A07-A9FC-D4AFCC95FB33}" type="pres">
      <dgm:prSet presAssocID="{F1F5FD4D-EA73-49AF-89C5-F782193F9D5B}" presName="thickLine" presStyleLbl="alignNode1" presStyleIdx="4" presStyleCnt="6"/>
      <dgm:spPr/>
    </dgm:pt>
    <dgm:pt modelId="{051CC0A5-74B9-420E-9F81-BA59489B1A84}" type="pres">
      <dgm:prSet presAssocID="{F1F5FD4D-EA73-49AF-89C5-F782193F9D5B}" presName="horz1" presStyleCnt="0"/>
      <dgm:spPr/>
    </dgm:pt>
    <dgm:pt modelId="{F5288E1A-2559-4F70-BB08-EA3FB403D125}" type="pres">
      <dgm:prSet presAssocID="{F1F5FD4D-EA73-49AF-89C5-F782193F9D5B}" presName="tx1" presStyleLbl="revTx" presStyleIdx="4" presStyleCnt="6" custScaleY="74482"/>
      <dgm:spPr/>
    </dgm:pt>
    <dgm:pt modelId="{AB77239B-3E8F-483C-BB81-8AA00FDD3FBB}" type="pres">
      <dgm:prSet presAssocID="{F1F5FD4D-EA73-49AF-89C5-F782193F9D5B}" presName="vert1" presStyleCnt="0"/>
      <dgm:spPr/>
    </dgm:pt>
    <dgm:pt modelId="{23840EE8-7037-4390-A44B-3478C9D18B48}" type="pres">
      <dgm:prSet presAssocID="{9A8D88F7-2FB6-4261-914D-2ABAC635F6D9}" presName="thickLine" presStyleLbl="alignNode1" presStyleIdx="5" presStyleCnt="6"/>
      <dgm:spPr/>
    </dgm:pt>
    <dgm:pt modelId="{561F3AD2-8CC3-49BE-B2B8-11299E5D4A0F}" type="pres">
      <dgm:prSet presAssocID="{9A8D88F7-2FB6-4261-914D-2ABAC635F6D9}" presName="horz1" presStyleCnt="0"/>
      <dgm:spPr/>
    </dgm:pt>
    <dgm:pt modelId="{EA8BFC26-0DB1-467B-BDBC-07A399C12C9D}" type="pres">
      <dgm:prSet presAssocID="{9A8D88F7-2FB6-4261-914D-2ABAC635F6D9}" presName="tx1" presStyleLbl="revTx" presStyleIdx="5" presStyleCnt="6" custScaleY="74482"/>
      <dgm:spPr/>
    </dgm:pt>
    <dgm:pt modelId="{D1AC6881-0227-45BD-90F8-D8FFC40BA8B6}" type="pres">
      <dgm:prSet presAssocID="{9A8D88F7-2FB6-4261-914D-2ABAC635F6D9}" presName="vert1" presStyleCnt="0"/>
      <dgm:spPr/>
    </dgm:pt>
  </dgm:ptLst>
  <dgm:cxnLst>
    <dgm:cxn modelId="{FD336034-C15B-4015-AE3E-D6E3483AA8B0}" type="presOf" srcId="{1D49AD93-0832-40EE-AD79-9DCB239E5ADF}" destId="{D4D16ED9-9F1C-477E-AF3F-752BABDFF783}" srcOrd="0" destOrd="0" presId="urn:microsoft.com/office/officeart/2008/layout/LinedList"/>
    <dgm:cxn modelId="{40230240-C579-43C9-B450-44A9FD42BBA2}" type="presOf" srcId="{3454CAFA-8298-4FA4-AFC8-BF3E727AE145}" destId="{3F08D7CA-3150-4B5E-BC64-9EC57CE1499A}" srcOrd="0" destOrd="0" presId="urn:microsoft.com/office/officeart/2008/layout/LinedList"/>
    <dgm:cxn modelId="{3578AE6C-F1DC-46FE-AFDD-CBEFFCDC4BC8}" type="presOf" srcId="{7867452C-2A5A-4759-AD37-104EC29E075F}" destId="{327DDD0D-CBCB-47D4-8279-EB1EE0C8EA68}" srcOrd="0" destOrd="0" presId="urn:microsoft.com/office/officeart/2008/layout/LinedList"/>
    <dgm:cxn modelId="{7C7BEB97-2BFF-4791-B28A-3A92203128A9}" type="presOf" srcId="{30F14CFD-FFBB-49EF-971F-48AE6F80E259}" destId="{60BEAA4F-529D-4A08-969D-6AD3CA669F19}" srcOrd="0" destOrd="0" presId="urn:microsoft.com/office/officeart/2008/layout/LinedList"/>
    <dgm:cxn modelId="{1CAD8599-364D-4E13-8417-8A4691103F66}" srcId="{68FA47D7-A1AC-4883-80BA-68713DDC2346}" destId="{1D49AD93-0832-40EE-AD79-9DCB239E5ADF}" srcOrd="3" destOrd="0" parTransId="{147AD38B-326C-4078-A80F-7D3E31F26D28}" sibTransId="{550FC738-72A9-4F31-A901-791471CB38FF}"/>
    <dgm:cxn modelId="{785F3CB2-BD72-4BEC-8AB3-3479778E2A2B}" srcId="{68FA47D7-A1AC-4883-80BA-68713DDC2346}" destId="{F1F5FD4D-EA73-49AF-89C5-F782193F9D5B}" srcOrd="4" destOrd="0" parTransId="{3B6E7BDF-B37B-42B0-8BDE-0C2157B6744D}" sibTransId="{9ABA28B0-7565-4FD1-93CB-43B036A472A7}"/>
    <dgm:cxn modelId="{8E9A1EB6-BF6C-47CB-BF8F-D26CA10919E8}" srcId="{68FA47D7-A1AC-4883-80BA-68713DDC2346}" destId="{9A8D88F7-2FB6-4261-914D-2ABAC635F6D9}" srcOrd="5" destOrd="0" parTransId="{E36CB703-16A9-456E-9258-74BA1A18229A}" sibTransId="{23F033A3-17D5-4EE1-AB95-C00CCA8C3997}"/>
    <dgm:cxn modelId="{C694D8B8-20C9-45CA-AF79-94D0326DF50B}" type="presOf" srcId="{9A8D88F7-2FB6-4261-914D-2ABAC635F6D9}" destId="{EA8BFC26-0DB1-467B-BDBC-07A399C12C9D}" srcOrd="0" destOrd="0" presId="urn:microsoft.com/office/officeart/2008/layout/LinedList"/>
    <dgm:cxn modelId="{429473BB-B318-4662-8DE0-1D95E7BDE881}" srcId="{68FA47D7-A1AC-4883-80BA-68713DDC2346}" destId="{30F14CFD-FFBB-49EF-971F-48AE6F80E259}" srcOrd="2" destOrd="0" parTransId="{495539C4-AE65-4FD3-8D3D-DF60045EC2C9}" sibTransId="{71C54667-9F7A-485A-903B-E061C4C6D350}"/>
    <dgm:cxn modelId="{9A609BD3-9387-4611-934A-EC49EE1A19D5}" srcId="{68FA47D7-A1AC-4883-80BA-68713DDC2346}" destId="{7867452C-2A5A-4759-AD37-104EC29E075F}" srcOrd="0" destOrd="0" parTransId="{04FD02C5-7BF1-4614-A9A4-CCD0FDBFC0B6}" sibTransId="{7F1A1652-2F88-4237-AF06-48D1C5850863}"/>
    <dgm:cxn modelId="{E648E1F4-4261-4D78-B75B-A21D305831F8}" type="presOf" srcId="{F1F5FD4D-EA73-49AF-89C5-F782193F9D5B}" destId="{F5288E1A-2559-4F70-BB08-EA3FB403D125}" srcOrd="0" destOrd="0" presId="urn:microsoft.com/office/officeart/2008/layout/LinedList"/>
    <dgm:cxn modelId="{3FE10DF5-EADC-48B7-82F6-19D0D0ED64F2}" srcId="{68FA47D7-A1AC-4883-80BA-68713DDC2346}" destId="{3454CAFA-8298-4FA4-AFC8-BF3E727AE145}" srcOrd="1" destOrd="0" parTransId="{39F28E6E-88F8-43A4-BF7A-2DAF11D54484}" sibTransId="{40674866-756C-4344-8F3F-6AF4409BF0BA}"/>
    <dgm:cxn modelId="{7916EDFC-560A-46C8-BCB6-2820FCE02181}" type="presOf" srcId="{68FA47D7-A1AC-4883-80BA-68713DDC2346}" destId="{915B2577-AD41-4C85-AFF3-74F2F90D222F}" srcOrd="0" destOrd="0" presId="urn:microsoft.com/office/officeart/2008/layout/LinedList"/>
    <dgm:cxn modelId="{EDA79442-1B47-4D0E-95ED-3CFCC454B9F3}" type="presParOf" srcId="{915B2577-AD41-4C85-AFF3-74F2F90D222F}" destId="{1695FD79-56EA-40E7-89BF-EFCF8F3E3417}" srcOrd="0" destOrd="0" presId="urn:microsoft.com/office/officeart/2008/layout/LinedList"/>
    <dgm:cxn modelId="{07805848-147D-4492-9F6C-DEBE9AFB9672}" type="presParOf" srcId="{915B2577-AD41-4C85-AFF3-74F2F90D222F}" destId="{0B3D5BE7-CA3E-43CA-807C-6050D871C5B7}" srcOrd="1" destOrd="0" presId="urn:microsoft.com/office/officeart/2008/layout/LinedList"/>
    <dgm:cxn modelId="{B780E489-9F70-4613-9240-597AA6461AAC}" type="presParOf" srcId="{0B3D5BE7-CA3E-43CA-807C-6050D871C5B7}" destId="{327DDD0D-CBCB-47D4-8279-EB1EE0C8EA68}" srcOrd="0" destOrd="0" presId="urn:microsoft.com/office/officeart/2008/layout/LinedList"/>
    <dgm:cxn modelId="{05A40CA1-7231-44FA-8747-9B6E6736BF2F}" type="presParOf" srcId="{0B3D5BE7-CA3E-43CA-807C-6050D871C5B7}" destId="{33859590-E27E-4449-84F0-794BB106AFFF}" srcOrd="1" destOrd="0" presId="urn:microsoft.com/office/officeart/2008/layout/LinedList"/>
    <dgm:cxn modelId="{DB1F5A6A-F378-449A-9015-E8AE4BEBFF66}" type="presParOf" srcId="{915B2577-AD41-4C85-AFF3-74F2F90D222F}" destId="{65F83CAC-7C11-47C1-80FE-85A5AB24CDA3}" srcOrd="2" destOrd="0" presId="urn:microsoft.com/office/officeart/2008/layout/LinedList"/>
    <dgm:cxn modelId="{BB4D73C6-E0B2-45EA-B353-2E6BB68030A3}" type="presParOf" srcId="{915B2577-AD41-4C85-AFF3-74F2F90D222F}" destId="{D8541BF2-B5F8-4C15-92FA-5BF5FBBC2E12}" srcOrd="3" destOrd="0" presId="urn:microsoft.com/office/officeart/2008/layout/LinedList"/>
    <dgm:cxn modelId="{2662AD41-F343-4E40-97BB-89D1F0C2B954}" type="presParOf" srcId="{D8541BF2-B5F8-4C15-92FA-5BF5FBBC2E12}" destId="{3F08D7CA-3150-4B5E-BC64-9EC57CE1499A}" srcOrd="0" destOrd="0" presId="urn:microsoft.com/office/officeart/2008/layout/LinedList"/>
    <dgm:cxn modelId="{81C4CEE3-2A42-413F-9749-15041DD77595}" type="presParOf" srcId="{D8541BF2-B5F8-4C15-92FA-5BF5FBBC2E12}" destId="{5AAF1715-9663-4097-9661-A061C2545D68}" srcOrd="1" destOrd="0" presId="urn:microsoft.com/office/officeart/2008/layout/LinedList"/>
    <dgm:cxn modelId="{C9AB6030-48B2-4C9A-A0C4-F0E07C8B9EB7}" type="presParOf" srcId="{915B2577-AD41-4C85-AFF3-74F2F90D222F}" destId="{4257DD16-93C6-48DD-9B2E-98335F875DB7}" srcOrd="4" destOrd="0" presId="urn:microsoft.com/office/officeart/2008/layout/LinedList"/>
    <dgm:cxn modelId="{00CBCE17-964F-4049-881D-14043007A716}" type="presParOf" srcId="{915B2577-AD41-4C85-AFF3-74F2F90D222F}" destId="{1114744F-A65D-4658-AD8E-EAD36E703628}" srcOrd="5" destOrd="0" presId="urn:microsoft.com/office/officeart/2008/layout/LinedList"/>
    <dgm:cxn modelId="{4B3F6B05-15AC-45F1-BE5B-39CB749E08A6}" type="presParOf" srcId="{1114744F-A65D-4658-AD8E-EAD36E703628}" destId="{60BEAA4F-529D-4A08-969D-6AD3CA669F19}" srcOrd="0" destOrd="0" presId="urn:microsoft.com/office/officeart/2008/layout/LinedList"/>
    <dgm:cxn modelId="{FFB6DC89-CAB0-4C6B-8577-D77C270DD8D5}" type="presParOf" srcId="{1114744F-A65D-4658-AD8E-EAD36E703628}" destId="{68AF7B18-40D9-4CF3-A26F-7FFFB9B1CAF9}" srcOrd="1" destOrd="0" presId="urn:microsoft.com/office/officeart/2008/layout/LinedList"/>
    <dgm:cxn modelId="{3525BB6D-EF06-4FB9-9FED-CF2952824295}" type="presParOf" srcId="{915B2577-AD41-4C85-AFF3-74F2F90D222F}" destId="{7EB9CC03-4D14-4C6B-8DC8-D7BAFB1B99C7}" srcOrd="6" destOrd="0" presId="urn:microsoft.com/office/officeart/2008/layout/LinedList"/>
    <dgm:cxn modelId="{F8A9FE78-1B24-4BA6-87A8-3E3053D9B046}" type="presParOf" srcId="{915B2577-AD41-4C85-AFF3-74F2F90D222F}" destId="{95CBA6AA-C53C-4EB8-8670-489BE428E7B8}" srcOrd="7" destOrd="0" presId="urn:microsoft.com/office/officeart/2008/layout/LinedList"/>
    <dgm:cxn modelId="{354092D5-1FEC-41EC-9BA2-BF4DDD65CCCE}" type="presParOf" srcId="{95CBA6AA-C53C-4EB8-8670-489BE428E7B8}" destId="{D4D16ED9-9F1C-477E-AF3F-752BABDFF783}" srcOrd="0" destOrd="0" presId="urn:microsoft.com/office/officeart/2008/layout/LinedList"/>
    <dgm:cxn modelId="{68BCB509-AE53-4F64-8AEE-A98337577DF1}" type="presParOf" srcId="{95CBA6AA-C53C-4EB8-8670-489BE428E7B8}" destId="{657F2AF4-53DC-400D-85D5-CE82F657174B}" srcOrd="1" destOrd="0" presId="urn:microsoft.com/office/officeart/2008/layout/LinedList"/>
    <dgm:cxn modelId="{0FB839D1-293A-4F87-AB35-8BE9ED594EF9}" type="presParOf" srcId="{915B2577-AD41-4C85-AFF3-74F2F90D222F}" destId="{A385C11D-98FD-4A07-A9FC-D4AFCC95FB33}" srcOrd="8" destOrd="0" presId="urn:microsoft.com/office/officeart/2008/layout/LinedList"/>
    <dgm:cxn modelId="{2B06233A-02C7-4590-AA1F-2B10AEC96B16}" type="presParOf" srcId="{915B2577-AD41-4C85-AFF3-74F2F90D222F}" destId="{051CC0A5-74B9-420E-9F81-BA59489B1A84}" srcOrd="9" destOrd="0" presId="urn:microsoft.com/office/officeart/2008/layout/LinedList"/>
    <dgm:cxn modelId="{B56CB412-7F24-46C7-B69F-BFF9414F7999}" type="presParOf" srcId="{051CC0A5-74B9-420E-9F81-BA59489B1A84}" destId="{F5288E1A-2559-4F70-BB08-EA3FB403D125}" srcOrd="0" destOrd="0" presId="urn:microsoft.com/office/officeart/2008/layout/LinedList"/>
    <dgm:cxn modelId="{750B8AAB-E634-4EA2-A01C-6375F83FB100}" type="presParOf" srcId="{051CC0A5-74B9-420E-9F81-BA59489B1A84}" destId="{AB77239B-3E8F-483C-BB81-8AA00FDD3FBB}" srcOrd="1" destOrd="0" presId="urn:microsoft.com/office/officeart/2008/layout/LinedList"/>
    <dgm:cxn modelId="{874A5CDB-53D4-42E6-9226-66DD292BD116}" type="presParOf" srcId="{915B2577-AD41-4C85-AFF3-74F2F90D222F}" destId="{23840EE8-7037-4390-A44B-3478C9D18B48}" srcOrd="10" destOrd="0" presId="urn:microsoft.com/office/officeart/2008/layout/LinedList"/>
    <dgm:cxn modelId="{CBC7383C-B8C5-4C1C-A96F-35D9DAC7FCA2}" type="presParOf" srcId="{915B2577-AD41-4C85-AFF3-74F2F90D222F}" destId="{561F3AD2-8CC3-49BE-B2B8-11299E5D4A0F}" srcOrd="11" destOrd="0" presId="urn:microsoft.com/office/officeart/2008/layout/LinedList"/>
    <dgm:cxn modelId="{76AE4210-3BCF-48E7-9417-5A7E4DF4F7FA}" type="presParOf" srcId="{561F3AD2-8CC3-49BE-B2B8-11299E5D4A0F}" destId="{EA8BFC26-0DB1-467B-BDBC-07A399C12C9D}" srcOrd="0" destOrd="0" presId="urn:microsoft.com/office/officeart/2008/layout/LinedList"/>
    <dgm:cxn modelId="{96BDE2FB-6B9F-4CCD-921C-72154FD4FF70}" type="presParOf" srcId="{561F3AD2-8CC3-49BE-B2B8-11299E5D4A0F}" destId="{D1AC6881-0227-45BD-90F8-D8FFC40BA8B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D09259-50E0-43BD-8FB5-029C04D31D6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FD5D81D-7B9B-4180-B654-DBBFCAD696C4}">
      <dgm:prSet custT="1"/>
      <dgm:spPr/>
      <dgm:t>
        <a:bodyPr/>
        <a:lstStyle/>
        <a:p>
          <a:r>
            <a:rPr lang="en-US" sz="1400"/>
            <a:t>This slide compares </a:t>
          </a:r>
          <a:r>
            <a:rPr lang="en-US" sz="1400" b="1"/>
            <a:t>average income and loan amount across different loan purposes</a:t>
          </a:r>
          <a:r>
            <a:rPr lang="en-US" sz="1400"/>
            <a:t>.</a:t>
          </a:r>
        </a:p>
      </dgm:t>
    </dgm:pt>
    <dgm:pt modelId="{9E73A165-2FA9-48CD-B514-B564E33CF93A}" type="parTrans" cxnId="{7A6B7A5E-6741-4F69-AE02-AB9DB15CF0A5}">
      <dgm:prSet/>
      <dgm:spPr/>
      <dgm:t>
        <a:bodyPr/>
        <a:lstStyle/>
        <a:p>
          <a:endParaRPr lang="en-US"/>
        </a:p>
      </dgm:t>
    </dgm:pt>
    <dgm:pt modelId="{9AC493F0-7040-4B9A-BCC2-08575F8B9AD1}" type="sibTrans" cxnId="{7A6B7A5E-6741-4F69-AE02-AB9DB15CF0A5}">
      <dgm:prSet/>
      <dgm:spPr/>
      <dgm:t>
        <a:bodyPr/>
        <a:lstStyle/>
        <a:p>
          <a:endParaRPr lang="en-US"/>
        </a:p>
      </dgm:t>
    </dgm:pt>
    <dgm:pt modelId="{12D178A9-CFD8-4CB1-BE2E-0F7661089DA9}">
      <dgm:prSet custT="1"/>
      <dgm:spPr/>
      <dgm:t>
        <a:bodyPr/>
        <a:lstStyle/>
        <a:p>
          <a:r>
            <a:rPr lang="en-US" sz="1400" b="1" dirty="0"/>
            <a:t>Debt consolidation borrowers</a:t>
          </a:r>
          <a:r>
            <a:rPr lang="en-US" sz="1400" dirty="0"/>
            <a:t> typically take the </a:t>
          </a:r>
          <a:r>
            <a:rPr lang="en-US" sz="1400" b="1" dirty="0"/>
            <a:t>largest loan amounts</a:t>
          </a:r>
          <a:r>
            <a:rPr lang="en-US" sz="1400" dirty="0"/>
            <a:t>, likely to manage multiple existing liabilities.</a:t>
          </a:r>
        </a:p>
      </dgm:t>
    </dgm:pt>
    <dgm:pt modelId="{49227918-BEB1-4373-9539-880A5EC9F83F}" type="parTrans" cxnId="{F8442FC8-324E-4B94-9796-461D6DEC7BD6}">
      <dgm:prSet/>
      <dgm:spPr/>
      <dgm:t>
        <a:bodyPr/>
        <a:lstStyle/>
        <a:p>
          <a:endParaRPr lang="en-US"/>
        </a:p>
      </dgm:t>
    </dgm:pt>
    <dgm:pt modelId="{94A37132-9ED5-4EFC-8C70-72C3779DB4B2}" type="sibTrans" cxnId="{F8442FC8-324E-4B94-9796-461D6DEC7BD6}">
      <dgm:prSet/>
      <dgm:spPr/>
      <dgm:t>
        <a:bodyPr/>
        <a:lstStyle/>
        <a:p>
          <a:endParaRPr lang="en-US"/>
        </a:p>
      </dgm:t>
    </dgm:pt>
    <dgm:pt modelId="{C96D0002-D9B0-47E1-95AF-48486F9C7FD1}">
      <dgm:prSet custT="1"/>
      <dgm:spPr/>
      <dgm:t>
        <a:bodyPr/>
        <a:lstStyle/>
        <a:p>
          <a:r>
            <a:rPr lang="en-US" sz="1400" b="1"/>
            <a:t>Medical and education loans show high loan-to-income ratios</a:t>
          </a:r>
          <a:r>
            <a:rPr lang="en-US" sz="1400"/>
            <a:t>, indicating borrowers are stretching finances to meet urgent or long-term needs.</a:t>
          </a:r>
        </a:p>
      </dgm:t>
    </dgm:pt>
    <dgm:pt modelId="{2CB36D7B-8010-45A4-A024-C3587EB580EB}" type="parTrans" cxnId="{43706C74-F6B4-492A-A4A2-1B99B77734A2}">
      <dgm:prSet/>
      <dgm:spPr/>
      <dgm:t>
        <a:bodyPr/>
        <a:lstStyle/>
        <a:p>
          <a:endParaRPr lang="en-US"/>
        </a:p>
      </dgm:t>
    </dgm:pt>
    <dgm:pt modelId="{B003CEB6-0CA2-428D-97FE-BCC7FEA6E6A0}" type="sibTrans" cxnId="{43706C74-F6B4-492A-A4A2-1B99B77734A2}">
      <dgm:prSet/>
      <dgm:spPr/>
      <dgm:t>
        <a:bodyPr/>
        <a:lstStyle/>
        <a:p>
          <a:endParaRPr lang="en-US"/>
        </a:p>
      </dgm:t>
    </dgm:pt>
    <dgm:pt modelId="{0FEFF474-9FB8-4EAF-8289-222B702E298A}">
      <dgm:prSet custT="1"/>
      <dgm:spPr/>
      <dgm:t>
        <a:bodyPr/>
        <a:lstStyle/>
        <a:p>
          <a:r>
            <a:rPr lang="en-US" sz="1400" b="1"/>
            <a:t>Personal and home improvement loans</a:t>
          </a:r>
          <a:r>
            <a:rPr lang="en-US" sz="1400"/>
            <a:t> fall in a </a:t>
          </a:r>
          <a:r>
            <a:rPr lang="en-US" sz="1400" b="1"/>
            <a:t>moderate range</a:t>
          </a:r>
          <a:r>
            <a:rPr lang="en-US" sz="1400"/>
            <a:t>, suggesting relatively balanced borrowing behavior.</a:t>
          </a:r>
        </a:p>
      </dgm:t>
    </dgm:pt>
    <dgm:pt modelId="{62459EA3-38D4-4D91-B12A-AF491B0D0E52}" type="parTrans" cxnId="{52D688B7-9032-4D73-81D1-36C30DCEAA59}">
      <dgm:prSet/>
      <dgm:spPr/>
      <dgm:t>
        <a:bodyPr/>
        <a:lstStyle/>
        <a:p>
          <a:endParaRPr lang="en-US"/>
        </a:p>
      </dgm:t>
    </dgm:pt>
    <dgm:pt modelId="{9B714ABE-FED7-42A1-8F72-369453F39495}" type="sibTrans" cxnId="{52D688B7-9032-4D73-81D1-36C30DCEAA59}">
      <dgm:prSet/>
      <dgm:spPr/>
      <dgm:t>
        <a:bodyPr/>
        <a:lstStyle/>
        <a:p>
          <a:endParaRPr lang="en-US"/>
        </a:p>
      </dgm:t>
    </dgm:pt>
    <dgm:pt modelId="{A97EDDB5-8F68-46A4-8173-A189BADEE66C}">
      <dgm:prSet custT="1"/>
      <dgm:spPr/>
      <dgm:t>
        <a:bodyPr/>
        <a:lstStyle/>
        <a:p>
          <a:r>
            <a:rPr lang="en-US" sz="1400"/>
            <a:t>Venture loans show </a:t>
          </a:r>
          <a:r>
            <a:rPr lang="en-US" sz="1400" b="1"/>
            <a:t>stable income with controlled borrowing</a:t>
          </a:r>
          <a:r>
            <a:rPr lang="en-US" sz="1400"/>
            <a:t>, reflecting cautious financial planning.</a:t>
          </a:r>
        </a:p>
      </dgm:t>
    </dgm:pt>
    <dgm:pt modelId="{EB667597-DD9C-44B6-BAA0-ADD5E4E9E87E}" type="parTrans" cxnId="{106B19C3-4AAA-4183-BB39-DF1D2E9C57EC}">
      <dgm:prSet/>
      <dgm:spPr/>
      <dgm:t>
        <a:bodyPr/>
        <a:lstStyle/>
        <a:p>
          <a:endParaRPr lang="en-US"/>
        </a:p>
      </dgm:t>
    </dgm:pt>
    <dgm:pt modelId="{CD0DC1C5-910B-4F8D-B396-892BC604004D}" type="sibTrans" cxnId="{106B19C3-4AAA-4183-BB39-DF1D2E9C57EC}">
      <dgm:prSet/>
      <dgm:spPr/>
      <dgm:t>
        <a:bodyPr/>
        <a:lstStyle/>
        <a:p>
          <a:endParaRPr lang="en-US"/>
        </a:p>
      </dgm:t>
    </dgm:pt>
    <dgm:pt modelId="{198257E9-D033-4376-B392-E7F4441D19EF}">
      <dgm:prSet custT="1"/>
      <dgm:spPr/>
      <dgm:t>
        <a:bodyPr/>
        <a:lstStyle/>
        <a:p>
          <a:r>
            <a:rPr lang="en-US" sz="1400" dirty="0"/>
            <a:t>High loan-to-income categories clearly require </a:t>
          </a:r>
          <a:r>
            <a:rPr lang="en-US" sz="1400" b="1" dirty="0"/>
            <a:t>closer monitoring</a:t>
          </a:r>
          <a:r>
            <a:rPr lang="en-US" sz="1400" dirty="0"/>
            <a:t>, as repayment pressure is higher.</a:t>
          </a:r>
        </a:p>
      </dgm:t>
    </dgm:pt>
    <dgm:pt modelId="{11468E3E-D9C3-4851-B1F4-932E06A086B2}" type="parTrans" cxnId="{49C6CCF7-F10F-4F8F-B243-531F14EA32D5}">
      <dgm:prSet/>
      <dgm:spPr/>
      <dgm:t>
        <a:bodyPr/>
        <a:lstStyle/>
        <a:p>
          <a:endParaRPr lang="en-US"/>
        </a:p>
      </dgm:t>
    </dgm:pt>
    <dgm:pt modelId="{11CB926F-5B5C-421A-9B37-A8E882B07AA3}" type="sibTrans" cxnId="{49C6CCF7-F10F-4F8F-B243-531F14EA32D5}">
      <dgm:prSet/>
      <dgm:spPr/>
      <dgm:t>
        <a:bodyPr/>
        <a:lstStyle/>
        <a:p>
          <a:endParaRPr lang="en-US"/>
        </a:p>
      </dgm:t>
    </dgm:pt>
    <dgm:pt modelId="{D8E007B4-C24B-4799-A403-624A20BEE676}" type="pres">
      <dgm:prSet presAssocID="{B7D09259-50E0-43BD-8FB5-029C04D31D60}" presName="vert0" presStyleCnt="0">
        <dgm:presLayoutVars>
          <dgm:dir/>
          <dgm:animOne val="branch"/>
          <dgm:animLvl val="lvl"/>
        </dgm:presLayoutVars>
      </dgm:prSet>
      <dgm:spPr/>
    </dgm:pt>
    <dgm:pt modelId="{55AE8D50-005E-4DA9-B3DC-2F8CD848B408}" type="pres">
      <dgm:prSet presAssocID="{EFD5D81D-7B9B-4180-B654-DBBFCAD696C4}" presName="thickLine" presStyleLbl="alignNode1" presStyleIdx="0" presStyleCnt="6"/>
      <dgm:spPr/>
    </dgm:pt>
    <dgm:pt modelId="{19B4553F-EAFE-4A8C-AD66-8FFBD747DF38}" type="pres">
      <dgm:prSet presAssocID="{EFD5D81D-7B9B-4180-B654-DBBFCAD696C4}" presName="horz1" presStyleCnt="0"/>
      <dgm:spPr/>
    </dgm:pt>
    <dgm:pt modelId="{8D025F86-6698-4EFA-84ED-AEE274BDD70B}" type="pres">
      <dgm:prSet presAssocID="{EFD5D81D-7B9B-4180-B654-DBBFCAD696C4}" presName="tx1" presStyleLbl="revTx" presStyleIdx="0" presStyleCnt="6"/>
      <dgm:spPr/>
    </dgm:pt>
    <dgm:pt modelId="{441CF33D-3221-4D99-9688-F8184AB0C34E}" type="pres">
      <dgm:prSet presAssocID="{EFD5D81D-7B9B-4180-B654-DBBFCAD696C4}" presName="vert1" presStyleCnt="0"/>
      <dgm:spPr/>
    </dgm:pt>
    <dgm:pt modelId="{BCE53B61-A8FA-4C63-BDD4-E4A5CBF736DD}" type="pres">
      <dgm:prSet presAssocID="{12D178A9-CFD8-4CB1-BE2E-0F7661089DA9}" presName="thickLine" presStyleLbl="alignNode1" presStyleIdx="1" presStyleCnt="6"/>
      <dgm:spPr/>
    </dgm:pt>
    <dgm:pt modelId="{4A7B41AB-C9E7-4FC1-B501-0BE175A8B347}" type="pres">
      <dgm:prSet presAssocID="{12D178A9-CFD8-4CB1-BE2E-0F7661089DA9}" presName="horz1" presStyleCnt="0"/>
      <dgm:spPr/>
    </dgm:pt>
    <dgm:pt modelId="{C8C66654-35F7-4066-BE27-0B5454FA0F73}" type="pres">
      <dgm:prSet presAssocID="{12D178A9-CFD8-4CB1-BE2E-0F7661089DA9}" presName="tx1" presStyleLbl="revTx" presStyleIdx="1" presStyleCnt="6"/>
      <dgm:spPr/>
    </dgm:pt>
    <dgm:pt modelId="{EDD31D0C-AAB8-43F0-9C61-AD2111044A01}" type="pres">
      <dgm:prSet presAssocID="{12D178A9-CFD8-4CB1-BE2E-0F7661089DA9}" presName="vert1" presStyleCnt="0"/>
      <dgm:spPr/>
    </dgm:pt>
    <dgm:pt modelId="{6E0E1D23-AED4-42FA-B9EE-CDCDCE5087B9}" type="pres">
      <dgm:prSet presAssocID="{C96D0002-D9B0-47E1-95AF-48486F9C7FD1}" presName="thickLine" presStyleLbl="alignNode1" presStyleIdx="2" presStyleCnt="6"/>
      <dgm:spPr/>
    </dgm:pt>
    <dgm:pt modelId="{5092CC01-BAB5-4E6D-A017-D7D662B8E625}" type="pres">
      <dgm:prSet presAssocID="{C96D0002-D9B0-47E1-95AF-48486F9C7FD1}" presName="horz1" presStyleCnt="0"/>
      <dgm:spPr/>
    </dgm:pt>
    <dgm:pt modelId="{4522B059-598E-4E20-85D0-1B59E052484B}" type="pres">
      <dgm:prSet presAssocID="{C96D0002-D9B0-47E1-95AF-48486F9C7FD1}" presName="tx1" presStyleLbl="revTx" presStyleIdx="2" presStyleCnt="6"/>
      <dgm:spPr/>
    </dgm:pt>
    <dgm:pt modelId="{5A57B363-6666-4803-9B98-D2BB0F4F08E1}" type="pres">
      <dgm:prSet presAssocID="{C96D0002-D9B0-47E1-95AF-48486F9C7FD1}" presName="vert1" presStyleCnt="0"/>
      <dgm:spPr/>
    </dgm:pt>
    <dgm:pt modelId="{E85B5E28-36C2-4CA1-81EC-C766D4B2D1B4}" type="pres">
      <dgm:prSet presAssocID="{0FEFF474-9FB8-4EAF-8289-222B702E298A}" presName="thickLine" presStyleLbl="alignNode1" presStyleIdx="3" presStyleCnt="6"/>
      <dgm:spPr/>
    </dgm:pt>
    <dgm:pt modelId="{141DFA8B-DB1B-4680-91DE-58B24F2F4850}" type="pres">
      <dgm:prSet presAssocID="{0FEFF474-9FB8-4EAF-8289-222B702E298A}" presName="horz1" presStyleCnt="0"/>
      <dgm:spPr/>
    </dgm:pt>
    <dgm:pt modelId="{205527B6-FF89-4A4C-B039-9E0CFFD1F812}" type="pres">
      <dgm:prSet presAssocID="{0FEFF474-9FB8-4EAF-8289-222B702E298A}" presName="tx1" presStyleLbl="revTx" presStyleIdx="3" presStyleCnt="6"/>
      <dgm:spPr/>
    </dgm:pt>
    <dgm:pt modelId="{314DDFD7-8C63-4714-84B6-B38C7F33690E}" type="pres">
      <dgm:prSet presAssocID="{0FEFF474-9FB8-4EAF-8289-222B702E298A}" presName="vert1" presStyleCnt="0"/>
      <dgm:spPr/>
    </dgm:pt>
    <dgm:pt modelId="{072128A3-8A23-4B79-9F12-63CD05303DA2}" type="pres">
      <dgm:prSet presAssocID="{A97EDDB5-8F68-46A4-8173-A189BADEE66C}" presName="thickLine" presStyleLbl="alignNode1" presStyleIdx="4" presStyleCnt="6"/>
      <dgm:spPr/>
    </dgm:pt>
    <dgm:pt modelId="{C706FA3C-1482-4FC5-9339-9F49D84AAB59}" type="pres">
      <dgm:prSet presAssocID="{A97EDDB5-8F68-46A4-8173-A189BADEE66C}" presName="horz1" presStyleCnt="0"/>
      <dgm:spPr/>
    </dgm:pt>
    <dgm:pt modelId="{84D9FB9C-3E9C-4004-AC09-2AC4B83498FA}" type="pres">
      <dgm:prSet presAssocID="{A97EDDB5-8F68-46A4-8173-A189BADEE66C}" presName="tx1" presStyleLbl="revTx" presStyleIdx="4" presStyleCnt="6"/>
      <dgm:spPr/>
    </dgm:pt>
    <dgm:pt modelId="{613BA229-C8AE-4D77-A5BA-56EB1D32A4EE}" type="pres">
      <dgm:prSet presAssocID="{A97EDDB5-8F68-46A4-8173-A189BADEE66C}" presName="vert1" presStyleCnt="0"/>
      <dgm:spPr/>
    </dgm:pt>
    <dgm:pt modelId="{1B6B5DE9-4E1B-42CD-9860-9BA5FFC1A066}" type="pres">
      <dgm:prSet presAssocID="{198257E9-D033-4376-B392-E7F4441D19EF}" presName="thickLine" presStyleLbl="alignNode1" presStyleIdx="5" presStyleCnt="6"/>
      <dgm:spPr/>
    </dgm:pt>
    <dgm:pt modelId="{CDED29DA-CB53-44AE-99ED-3BBBCCDB7E27}" type="pres">
      <dgm:prSet presAssocID="{198257E9-D033-4376-B392-E7F4441D19EF}" presName="horz1" presStyleCnt="0"/>
      <dgm:spPr/>
    </dgm:pt>
    <dgm:pt modelId="{0D667C91-A433-464A-B6E4-862D19CDE33C}" type="pres">
      <dgm:prSet presAssocID="{198257E9-D033-4376-B392-E7F4441D19EF}" presName="tx1" presStyleLbl="revTx" presStyleIdx="5" presStyleCnt="6"/>
      <dgm:spPr/>
    </dgm:pt>
    <dgm:pt modelId="{F043CAD8-18E5-4449-AE0F-FEB19131FEFA}" type="pres">
      <dgm:prSet presAssocID="{198257E9-D033-4376-B392-E7F4441D19EF}" presName="vert1" presStyleCnt="0"/>
      <dgm:spPr/>
    </dgm:pt>
  </dgm:ptLst>
  <dgm:cxnLst>
    <dgm:cxn modelId="{985F9F1F-E409-46DD-993A-26C82591EFF0}" type="presOf" srcId="{12D178A9-CFD8-4CB1-BE2E-0F7661089DA9}" destId="{C8C66654-35F7-4066-BE27-0B5454FA0F73}" srcOrd="0" destOrd="0" presId="urn:microsoft.com/office/officeart/2008/layout/LinedList"/>
    <dgm:cxn modelId="{499CE621-2109-4B1C-BFD3-B3090773AFDD}" type="presOf" srcId="{EFD5D81D-7B9B-4180-B654-DBBFCAD696C4}" destId="{8D025F86-6698-4EFA-84ED-AEE274BDD70B}" srcOrd="0" destOrd="0" presId="urn:microsoft.com/office/officeart/2008/layout/LinedList"/>
    <dgm:cxn modelId="{7A6B7A5E-6741-4F69-AE02-AB9DB15CF0A5}" srcId="{B7D09259-50E0-43BD-8FB5-029C04D31D60}" destId="{EFD5D81D-7B9B-4180-B654-DBBFCAD696C4}" srcOrd="0" destOrd="0" parTransId="{9E73A165-2FA9-48CD-B514-B564E33CF93A}" sibTransId="{9AC493F0-7040-4B9A-BCC2-08575F8B9AD1}"/>
    <dgm:cxn modelId="{43706C74-F6B4-492A-A4A2-1B99B77734A2}" srcId="{B7D09259-50E0-43BD-8FB5-029C04D31D60}" destId="{C96D0002-D9B0-47E1-95AF-48486F9C7FD1}" srcOrd="2" destOrd="0" parTransId="{2CB36D7B-8010-45A4-A024-C3587EB580EB}" sibTransId="{B003CEB6-0CA2-428D-97FE-BCC7FEA6E6A0}"/>
    <dgm:cxn modelId="{510F8B81-048D-4FDC-9C50-9A5E99813A83}" type="presOf" srcId="{0FEFF474-9FB8-4EAF-8289-222B702E298A}" destId="{205527B6-FF89-4A4C-B039-9E0CFFD1F812}" srcOrd="0" destOrd="0" presId="urn:microsoft.com/office/officeart/2008/layout/LinedList"/>
    <dgm:cxn modelId="{52D688B7-9032-4D73-81D1-36C30DCEAA59}" srcId="{B7D09259-50E0-43BD-8FB5-029C04D31D60}" destId="{0FEFF474-9FB8-4EAF-8289-222B702E298A}" srcOrd="3" destOrd="0" parTransId="{62459EA3-38D4-4D91-B12A-AF491B0D0E52}" sibTransId="{9B714ABE-FED7-42A1-8F72-369453F39495}"/>
    <dgm:cxn modelId="{4ED906C0-C548-4CA2-A248-56B247B804E3}" type="presOf" srcId="{198257E9-D033-4376-B392-E7F4441D19EF}" destId="{0D667C91-A433-464A-B6E4-862D19CDE33C}" srcOrd="0" destOrd="0" presId="urn:microsoft.com/office/officeart/2008/layout/LinedList"/>
    <dgm:cxn modelId="{106B19C3-4AAA-4183-BB39-DF1D2E9C57EC}" srcId="{B7D09259-50E0-43BD-8FB5-029C04D31D60}" destId="{A97EDDB5-8F68-46A4-8173-A189BADEE66C}" srcOrd="4" destOrd="0" parTransId="{EB667597-DD9C-44B6-BAA0-ADD5E4E9E87E}" sibTransId="{CD0DC1C5-910B-4F8D-B396-892BC604004D}"/>
    <dgm:cxn modelId="{E10B46C3-5F40-45EF-9E21-C0816ED7B7B2}" type="presOf" srcId="{A97EDDB5-8F68-46A4-8173-A189BADEE66C}" destId="{84D9FB9C-3E9C-4004-AC09-2AC4B83498FA}" srcOrd="0" destOrd="0" presId="urn:microsoft.com/office/officeart/2008/layout/LinedList"/>
    <dgm:cxn modelId="{F8442FC8-324E-4B94-9796-461D6DEC7BD6}" srcId="{B7D09259-50E0-43BD-8FB5-029C04D31D60}" destId="{12D178A9-CFD8-4CB1-BE2E-0F7661089DA9}" srcOrd="1" destOrd="0" parTransId="{49227918-BEB1-4373-9539-880A5EC9F83F}" sibTransId="{94A37132-9ED5-4EFC-8C70-72C3779DB4B2}"/>
    <dgm:cxn modelId="{CA031EC9-FE63-41D4-A80F-85E1221170B7}" type="presOf" srcId="{B7D09259-50E0-43BD-8FB5-029C04D31D60}" destId="{D8E007B4-C24B-4799-A403-624A20BEE676}" srcOrd="0" destOrd="0" presId="urn:microsoft.com/office/officeart/2008/layout/LinedList"/>
    <dgm:cxn modelId="{77E96BE5-C82F-4FAD-B668-1DC27A45E890}" type="presOf" srcId="{C96D0002-D9B0-47E1-95AF-48486F9C7FD1}" destId="{4522B059-598E-4E20-85D0-1B59E052484B}" srcOrd="0" destOrd="0" presId="urn:microsoft.com/office/officeart/2008/layout/LinedList"/>
    <dgm:cxn modelId="{49C6CCF7-F10F-4F8F-B243-531F14EA32D5}" srcId="{B7D09259-50E0-43BD-8FB5-029C04D31D60}" destId="{198257E9-D033-4376-B392-E7F4441D19EF}" srcOrd="5" destOrd="0" parTransId="{11468E3E-D9C3-4851-B1F4-932E06A086B2}" sibTransId="{11CB926F-5B5C-421A-9B37-A8E882B07AA3}"/>
    <dgm:cxn modelId="{B0ACB463-3A86-46E0-9F65-FFA27112C9D7}" type="presParOf" srcId="{D8E007B4-C24B-4799-A403-624A20BEE676}" destId="{55AE8D50-005E-4DA9-B3DC-2F8CD848B408}" srcOrd="0" destOrd="0" presId="urn:microsoft.com/office/officeart/2008/layout/LinedList"/>
    <dgm:cxn modelId="{D55C657C-90C7-459A-991A-6D1E30E0036C}" type="presParOf" srcId="{D8E007B4-C24B-4799-A403-624A20BEE676}" destId="{19B4553F-EAFE-4A8C-AD66-8FFBD747DF38}" srcOrd="1" destOrd="0" presId="urn:microsoft.com/office/officeart/2008/layout/LinedList"/>
    <dgm:cxn modelId="{8453AC12-CDC5-425A-9FFE-6C112E169F88}" type="presParOf" srcId="{19B4553F-EAFE-4A8C-AD66-8FFBD747DF38}" destId="{8D025F86-6698-4EFA-84ED-AEE274BDD70B}" srcOrd="0" destOrd="0" presId="urn:microsoft.com/office/officeart/2008/layout/LinedList"/>
    <dgm:cxn modelId="{E8639D03-D9DA-46D5-9D0C-A62A8F3F654F}" type="presParOf" srcId="{19B4553F-EAFE-4A8C-AD66-8FFBD747DF38}" destId="{441CF33D-3221-4D99-9688-F8184AB0C34E}" srcOrd="1" destOrd="0" presId="urn:microsoft.com/office/officeart/2008/layout/LinedList"/>
    <dgm:cxn modelId="{2447CCE1-3380-41A1-91E2-04A22A21FDD3}" type="presParOf" srcId="{D8E007B4-C24B-4799-A403-624A20BEE676}" destId="{BCE53B61-A8FA-4C63-BDD4-E4A5CBF736DD}" srcOrd="2" destOrd="0" presId="urn:microsoft.com/office/officeart/2008/layout/LinedList"/>
    <dgm:cxn modelId="{09EF92A8-63CD-4DA8-BDA1-A20CA0332080}" type="presParOf" srcId="{D8E007B4-C24B-4799-A403-624A20BEE676}" destId="{4A7B41AB-C9E7-4FC1-B501-0BE175A8B347}" srcOrd="3" destOrd="0" presId="urn:microsoft.com/office/officeart/2008/layout/LinedList"/>
    <dgm:cxn modelId="{F65595EF-A2CF-4FDE-953C-FFFC36569BC1}" type="presParOf" srcId="{4A7B41AB-C9E7-4FC1-B501-0BE175A8B347}" destId="{C8C66654-35F7-4066-BE27-0B5454FA0F73}" srcOrd="0" destOrd="0" presId="urn:microsoft.com/office/officeart/2008/layout/LinedList"/>
    <dgm:cxn modelId="{D99591A2-9DB7-4042-B560-E47106E794A9}" type="presParOf" srcId="{4A7B41AB-C9E7-4FC1-B501-0BE175A8B347}" destId="{EDD31D0C-AAB8-43F0-9C61-AD2111044A01}" srcOrd="1" destOrd="0" presId="urn:microsoft.com/office/officeart/2008/layout/LinedList"/>
    <dgm:cxn modelId="{EB8B9557-B0E0-4A4A-B288-0466F33C8F4C}" type="presParOf" srcId="{D8E007B4-C24B-4799-A403-624A20BEE676}" destId="{6E0E1D23-AED4-42FA-B9EE-CDCDCE5087B9}" srcOrd="4" destOrd="0" presId="urn:microsoft.com/office/officeart/2008/layout/LinedList"/>
    <dgm:cxn modelId="{D617554D-2D79-4DC2-8B40-A270175ECB94}" type="presParOf" srcId="{D8E007B4-C24B-4799-A403-624A20BEE676}" destId="{5092CC01-BAB5-4E6D-A017-D7D662B8E625}" srcOrd="5" destOrd="0" presId="urn:microsoft.com/office/officeart/2008/layout/LinedList"/>
    <dgm:cxn modelId="{0C8D1F21-53F7-4292-B2C7-43EC1C9CAF32}" type="presParOf" srcId="{5092CC01-BAB5-4E6D-A017-D7D662B8E625}" destId="{4522B059-598E-4E20-85D0-1B59E052484B}" srcOrd="0" destOrd="0" presId="urn:microsoft.com/office/officeart/2008/layout/LinedList"/>
    <dgm:cxn modelId="{4EE74D05-D1E1-4E50-9DC3-DAB18D615D56}" type="presParOf" srcId="{5092CC01-BAB5-4E6D-A017-D7D662B8E625}" destId="{5A57B363-6666-4803-9B98-D2BB0F4F08E1}" srcOrd="1" destOrd="0" presId="urn:microsoft.com/office/officeart/2008/layout/LinedList"/>
    <dgm:cxn modelId="{86D1A887-33AC-4608-A8BE-56F2DBA0E92D}" type="presParOf" srcId="{D8E007B4-C24B-4799-A403-624A20BEE676}" destId="{E85B5E28-36C2-4CA1-81EC-C766D4B2D1B4}" srcOrd="6" destOrd="0" presId="urn:microsoft.com/office/officeart/2008/layout/LinedList"/>
    <dgm:cxn modelId="{68AF053A-B661-40EB-93DB-E8007C9E322F}" type="presParOf" srcId="{D8E007B4-C24B-4799-A403-624A20BEE676}" destId="{141DFA8B-DB1B-4680-91DE-58B24F2F4850}" srcOrd="7" destOrd="0" presId="urn:microsoft.com/office/officeart/2008/layout/LinedList"/>
    <dgm:cxn modelId="{DE73D664-AF03-448C-92A8-AEA70CC58FBA}" type="presParOf" srcId="{141DFA8B-DB1B-4680-91DE-58B24F2F4850}" destId="{205527B6-FF89-4A4C-B039-9E0CFFD1F812}" srcOrd="0" destOrd="0" presId="urn:microsoft.com/office/officeart/2008/layout/LinedList"/>
    <dgm:cxn modelId="{188DCCB6-EBEC-4734-874B-A3CE64C1BFC4}" type="presParOf" srcId="{141DFA8B-DB1B-4680-91DE-58B24F2F4850}" destId="{314DDFD7-8C63-4714-84B6-B38C7F33690E}" srcOrd="1" destOrd="0" presId="urn:microsoft.com/office/officeart/2008/layout/LinedList"/>
    <dgm:cxn modelId="{A87149BD-112F-451F-90AE-CC9110B582C1}" type="presParOf" srcId="{D8E007B4-C24B-4799-A403-624A20BEE676}" destId="{072128A3-8A23-4B79-9F12-63CD05303DA2}" srcOrd="8" destOrd="0" presId="urn:microsoft.com/office/officeart/2008/layout/LinedList"/>
    <dgm:cxn modelId="{B7C5BFA7-5AFC-483E-9F82-DD7B01810A0C}" type="presParOf" srcId="{D8E007B4-C24B-4799-A403-624A20BEE676}" destId="{C706FA3C-1482-4FC5-9339-9F49D84AAB59}" srcOrd="9" destOrd="0" presId="urn:microsoft.com/office/officeart/2008/layout/LinedList"/>
    <dgm:cxn modelId="{BBA63569-76F3-40FE-B9E3-84A5E3142442}" type="presParOf" srcId="{C706FA3C-1482-4FC5-9339-9F49D84AAB59}" destId="{84D9FB9C-3E9C-4004-AC09-2AC4B83498FA}" srcOrd="0" destOrd="0" presId="urn:microsoft.com/office/officeart/2008/layout/LinedList"/>
    <dgm:cxn modelId="{19169D97-9059-4A25-AD8B-7AEBBC1240DD}" type="presParOf" srcId="{C706FA3C-1482-4FC5-9339-9F49D84AAB59}" destId="{613BA229-C8AE-4D77-A5BA-56EB1D32A4EE}" srcOrd="1" destOrd="0" presId="urn:microsoft.com/office/officeart/2008/layout/LinedList"/>
    <dgm:cxn modelId="{AED5B700-C780-4DC4-901D-A6F72F6E0EC7}" type="presParOf" srcId="{D8E007B4-C24B-4799-A403-624A20BEE676}" destId="{1B6B5DE9-4E1B-42CD-9860-9BA5FFC1A066}" srcOrd="10" destOrd="0" presId="urn:microsoft.com/office/officeart/2008/layout/LinedList"/>
    <dgm:cxn modelId="{345A1605-FD20-4DB7-8990-C42A94C50137}" type="presParOf" srcId="{D8E007B4-C24B-4799-A403-624A20BEE676}" destId="{CDED29DA-CB53-44AE-99ED-3BBBCCDB7E27}" srcOrd="11" destOrd="0" presId="urn:microsoft.com/office/officeart/2008/layout/LinedList"/>
    <dgm:cxn modelId="{910BE02C-F9DE-43BD-B3D4-79707CE7638B}" type="presParOf" srcId="{CDED29DA-CB53-44AE-99ED-3BBBCCDB7E27}" destId="{0D667C91-A433-464A-B6E4-862D19CDE33C}" srcOrd="0" destOrd="0" presId="urn:microsoft.com/office/officeart/2008/layout/LinedList"/>
    <dgm:cxn modelId="{CEE94E2D-9310-4178-BC17-7D818378531A}" type="presParOf" srcId="{CDED29DA-CB53-44AE-99ED-3BBBCCDB7E27}" destId="{F043CAD8-18E5-4449-AE0F-FEB19131FEF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600D2E-B5F6-4A21-8793-4630D08657F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021E47-110C-4212-ABDB-DE5A22E03946}">
      <dgm:prSet custT="1"/>
      <dgm:spPr/>
      <dgm:t>
        <a:bodyPr/>
        <a:lstStyle/>
        <a:p>
          <a:r>
            <a:rPr lang="en-US" sz="1400"/>
            <a:t>This analysis focuses on how </a:t>
          </a:r>
          <a:r>
            <a:rPr lang="en-US" sz="1400" b="1"/>
            <a:t>credit history duration impacts default risk</a:t>
          </a:r>
          <a:r>
            <a:rPr lang="en-US" sz="1400"/>
            <a:t>.</a:t>
          </a:r>
        </a:p>
      </dgm:t>
    </dgm:pt>
    <dgm:pt modelId="{5E2A5A09-4D88-4ECA-8753-7FADE82D21AC}" type="parTrans" cxnId="{EE614C30-6BCD-4B18-ACCA-7E21B0F441D5}">
      <dgm:prSet/>
      <dgm:spPr/>
      <dgm:t>
        <a:bodyPr/>
        <a:lstStyle/>
        <a:p>
          <a:endParaRPr lang="en-US"/>
        </a:p>
      </dgm:t>
    </dgm:pt>
    <dgm:pt modelId="{65C1BF8F-2801-49D9-9344-9C56936DBE71}" type="sibTrans" cxnId="{EE614C30-6BCD-4B18-ACCA-7E21B0F441D5}">
      <dgm:prSet/>
      <dgm:spPr/>
      <dgm:t>
        <a:bodyPr/>
        <a:lstStyle/>
        <a:p>
          <a:endParaRPr lang="en-US"/>
        </a:p>
      </dgm:t>
    </dgm:pt>
    <dgm:pt modelId="{DC0EAAF2-EBFD-472A-9B68-7A477B3E7CCF}">
      <dgm:prSet custT="1"/>
      <dgm:spPr/>
      <dgm:t>
        <a:bodyPr/>
        <a:lstStyle/>
        <a:p>
          <a:r>
            <a:rPr lang="en-US" sz="1400" dirty="0"/>
            <a:t>Borrowers with </a:t>
          </a:r>
          <a:r>
            <a:rPr lang="en-US" sz="1400" b="1" dirty="0"/>
            <a:t>2–5 years of credit history show the highest default rates</a:t>
          </a:r>
          <a:r>
            <a:rPr lang="en-US" sz="1400" dirty="0"/>
            <a:t>, highlighting limited repayment experience.</a:t>
          </a:r>
        </a:p>
      </dgm:t>
    </dgm:pt>
    <dgm:pt modelId="{88B8DF48-6F1B-4625-A853-D73C4931554A}" type="parTrans" cxnId="{AA70AE8E-5B72-4DB5-8E41-B75DFBDE9311}">
      <dgm:prSet/>
      <dgm:spPr/>
      <dgm:t>
        <a:bodyPr/>
        <a:lstStyle/>
        <a:p>
          <a:endParaRPr lang="en-US"/>
        </a:p>
      </dgm:t>
    </dgm:pt>
    <dgm:pt modelId="{0EC5B4B7-9943-4342-B587-8D11F3B4873D}" type="sibTrans" cxnId="{AA70AE8E-5B72-4DB5-8E41-B75DFBDE9311}">
      <dgm:prSet/>
      <dgm:spPr/>
      <dgm:t>
        <a:bodyPr/>
        <a:lstStyle/>
        <a:p>
          <a:endParaRPr lang="en-US"/>
        </a:p>
      </dgm:t>
    </dgm:pt>
    <dgm:pt modelId="{9F71FCE7-450A-4AF5-96F8-A1D389F2D01D}">
      <dgm:prSet custT="1"/>
      <dgm:spPr/>
      <dgm:t>
        <a:bodyPr/>
        <a:lstStyle/>
        <a:p>
          <a:r>
            <a:rPr lang="en-US" sz="1400"/>
            <a:t>Default rates </a:t>
          </a:r>
          <a:r>
            <a:rPr lang="en-US" sz="1400" b="1"/>
            <a:t>drop sharply between 6 and 20 years</a:t>
          </a:r>
          <a:r>
            <a:rPr lang="en-US" sz="1400"/>
            <a:t>, indicating that experienced borrowers manage credit better.</a:t>
          </a:r>
        </a:p>
      </dgm:t>
    </dgm:pt>
    <dgm:pt modelId="{3D54D651-8FBA-4EE0-A891-83766E45BD26}" type="parTrans" cxnId="{CA22CF4C-3DDF-4D07-AA33-9A82FA0F0260}">
      <dgm:prSet/>
      <dgm:spPr/>
      <dgm:t>
        <a:bodyPr/>
        <a:lstStyle/>
        <a:p>
          <a:endParaRPr lang="en-US"/>
        </a:p>
      </dgm:t>
    </dgm:pt>
    <dgm:pt modelId="{E15BA452-0E9F-4458-92E3-24CDF9BF6B80}" type="sibTrans" cxnId="{CA22CF4C-3DDF-4D07-AA33-9A82FA0F0260}">
      <dgm:prSet/>
      <dgm:spPr/>
      <dgm:t>
        <a:bodyPr/>
        <a:lstStyle/>
        <a:p>
          <a:endParaRPr lang="en-US"/>
        </a:p>
      </dgm:t>
    </dgm:pt>
    <dgm:pt modelId="{65D36327-C5BA-4219-9431-A825D0892833}">
      <dgm:prSet custT="1"/>
      <dgm:spPr/>
      <dgm:t>
        <a:bodyPr/>
        <a:lstStyle/>
        <a:p>
          <a:r>
            <a:rPr lang="en-US" sz="1400"/>
            <a:t>The </a:t>
          </a:r>
          <a:r>
            <a:rPr lang="en-US" sz="1400" b="1"/>
            <a:t>lowest default rates are observed in the 16–20 year group</a:t>
          </a:r>
          <a:r>
            <a:rPr lang="en-US" sz="1400"/>
            <a:t>, representing mature and disciplined credit behavior.</a:t>
          </a:r>
        </a:p>
      </dgm:t>
    </dgm:pt>
    <dgm:pt modelId="{0132C0C7-0C0B-42B2-8829-E884D166A28D}" type="parTrans" cxnId="{94763488-7676-45F0-8586-9A738A085C41}">
      <dgm:prSet/>
      <dgm:spPr/>
      <dgm:t>
        <a:bodyPr/>
        <a:lstStyle/>
        <a:p>
          <a:endParaRPr lang="en-US"/>
        </a:p>
      </dgm:t>
    </dgm:pt>
    <dgm:pt modelId="{D726B1EA-E093-432D-A63D-9302BD26AA48}" type="sibTrans" cxnId="{94763488-7676-45F0-8586-9A738A085C41}">
      <dgm:prSet/>
      <dgm:spPr/>
      <dgm:t>
        <a:bodyPr/>
        <a:lstStyle/>
        <a:p>
          <a:endParaRPr lang="en-US"/>
        </a:p>
      </dgm:t>
    </dgm:pt>
    <dgm:pt modelId="{BE7EB6EB-CB43-4547-AC73-ABD6EF189A6E}">
      <dgm:prSet custT="1"/>
      <dgm:spPr/>
      <dgm:t>
        <a:bodyPr/>
        <a:lstStyle/>
        <a:p>
          <a:r>
            <a:rPr lang="en-US" sz="1400" dirty="0"/>
            <a:t>A slight increase after 20 years is visible, likely due to </a:t>
          </a:r>
          <a:r>
            <a:rPr lang="en-US" sz="1400" b="1" dirty="0"/>
            <a:t>smaller sample size</a:t>
          </a:r>
          <a:r>
            <a:rPr lang="en-US" sz="1400" dirty="0"/>
            <a:t>, not actual higher risk.</a:t>
          </a:r>
        </a:p>
      </dgm:t>
    </dgm:pt>
    <dgm:pt modelId="{41698AA6-D4E2-4D44-9494-A49F02C6215D}" type="parTrans" cxnId="{15D905A9-8419-4F29-ACB8-195D4F66A3A5}">
      <dgm:prSet/>
      <dgm:spPr/>
      <dgm:t>
        <a:bodyPr/>
        <a:lstStyle/>
        <a:p>
          <a:endParaRPr lang="en-US"/>
        </a:p>
      </dgm:t>
    </dgm:pt>
    <dgm:pt modelId="{95E59615-0300-421A-920D-81959ABF11BF}" type="sibTrans" cxnId="{15D905A9-8419-4F29-ACB8-195D4F66A3A5}">
      <dgm:prSet/>
      <dgm:spPr/>
      <dgm:t>
        <a:bodyPr/>
        <a:lstStyle/>
        <a:p>
          <a:endParaRPr lang="en-US"/>
        </a:p>
      </dgm:t>
    </dgm:pt>
    <dgm:pt modelId="{66F3C263-8378-4FB4-B5E4-F106B1CBB47C}">
      <dgm:prSet custT="1"/>
      <dgm:spPr/>
      <dgm:t>
        <a:bodyPr/>
        <a:lstStyle/>
        <a:p>
          <a:r>
            <a:rPr lang="en-US" sz="1400" dirty="0"/>
            <a:t>Overall, </a:t>
          </a:r>
          <a:r>
            <a:rPr lang="en-US" sz="1400" b="1" dirty="0"/>
            <a:t>longer credit history strongly correlates with lower credit risk</a:t>
          </a:r>
          <a:r>
            <a:rPr lang="en-US" sz="1400" dirty="0"/>
            <a:t>.</a:t>
          </a:r>
        </a:p>
      </dgm:t>
    </dgm:pt>
    <dgm:pt modelId="{C650ADDF-28EB-40BF-A843-58CDB2EC44E7}" type="parTrans" cxnId="{785FE94A-9F61-4655-8406-49943DFE3C39}">
      <dgm:prSet/>
      <dgm:spPr/>
      <dgm:t>
        <a:bodyPr/>
        <a:lstStyle/>
        <a:p>
          <a:endParaRPr lang="en-US"/>
        </a:p>
      </dgm:t>
    </dgm:pt>
    <dgm:pt modelId="{5800AF0D-DBDA-4339-9AA1-A1839E242730}" type="sibTrans" cxnId="{785FE94A-9F61-4655-8406-49943DFE3C39}">
      <dgm:prSet/>
      <dgm:spPr/>
      <dgm:t>
        <a:bodyPr/>
        <a:lstStyle/>
        <a:p>
          <a:endParaRPr lang="en-US"/>
        </a:p>
      </dgm:t>
    </dgm:pt>
    <dgm:pt modelId="{7EE55556-E543-40C9-B6EB-6DF4E0ECA13C}" type="pres">
      <dgm:prSet presAssocID="{64600D2E-B5F6-4A21-8793-4630D08657F6}" presName="vert0" presStyleCnt="0">
        <dgm:presLayoutVars>
          <dgm:dir/>
          <dgm:animOne val="branch"/>
          <dgm:animLvl val="lvl"/>
        </dgm:presLayoutVars>
      </dgm:prSet>
      <dgm:spPr/>
    </dgm:pt>
    <dgm:pt modelId="{593125F1-73CE-45F1-A931-81C4C278D69D}" type="pres">
      <dgm:prSet presAssocID="{9D021E47-110C-4212-ABDB-DE5A22E03946}" presName="thickLine" presStyleLbl="alignNode1" presStyleIdx="0" presStyleCnt="6"/>
      <dgm:spPr/>
    </dgm:pt>
    <dgm:pt modelId="{755744A1-CA59-452E-ACC8-880A50ADF836}" type="pres">
      <dgm:prSet presAssocID="{9D021E47-110C-4212-ABDB-DE5A22E03946}" presName="horz1" presStyleCnt="0"/>
      <dgm:spPr/>
    </dgm:pt>
    <dgm:pt modelId="{22CFB439-C90E-465C-A5EC-F90259FE44E8}" type="pres">
      <dgm:prSet presAssocID="{9D021E47-110C-4212-ABDB-DE5A22E03946}" presName="tx1" presStyleLbl="revTx" presStyleIdx="0" presStyleCnt="6"/>
      <dgm:spPr/>
    </dgm:pt>
    <dgm:pt modelId="{4232382B-BDCC-44C7-8E63-DCE7672ABF3B}" type="pres">
      <dgm:prSet presAssocID="{9D021E47-110C-4212-ABDB-DE5A22E03946}" presName="vert1" presStyleCnt="0"/>
      <dgm:spPr/>
    </dgm:pt>
    <dgm:pt modelId="{D8CBFA32-B5D3-418C-AC43-C43839A07EDD}" type="pres">
      <dgm:prSet presAssocID="{DC0EAAF2-EBFD-472A-9B68-7A477B3E7CCF}" presName="thickLine" presStyleLbl="alignNode1" presStyleIdx="1" presStyleCnt="6"/>
      <dgm:spPr/>
    </dgm:pt>
    <dgm:pt modelId="{DF88A83C-19F0-4467-A79D-E9B956196F01}" type="pres">
      <dgm:prSet presAssocID="{DC0EAAF2-EBFD-472A-9B68-7A477B3E7CCF}" presName="horz1" presStyleCnt="0"/>
      <dgm:spPr/>
    </dgm:pt>
    <dgm:pt modelId="{728C05BF-0209-4AD3-862F-C687C656160A}" type="pres">
      <dgm:prSet presAssocID="{DC0EAAF2-EBFD-472A-9B68-7A477B3E7CCF}" presName="tx1" presStyleLbl="revTx" presStyleIdx="1" presStyleCnt="6"/>
      <dgm:spPr/>
    </dgm:pt>
    <dgm:pt modelId="{BDCED7EA-D21E-479A-9448-F4288A285C45}" type="pres">
      <dgm:prSet presAssocID="{DC0EAAF2-EBFD-472A-9B68-7A477B3E7CCF}" presName="vert1" presStyleCnt="0"/>
      <dgm:spPr/>
    </dgm:pt>
    <dgm:pt modelId="{392A3D21-623B-46C8-8B17-B0FB4F25CE19}" type="pres">
      <dgm:prSet presAssocID="{9F71FCE7-450A-4AF5-96F8-A1D389F2D01D}" presName="thickLine" presStyleLbl="alignNode1" presStyleIdx="2" presStyleCnt="6"/>
      <dgm:spPr/>
    </dgm:pt>
    <dgm:pt modelId="{51F9E700-824C-45C5-8B3F-BF05942C1984}" type="pres">
      <dgm:prSet presAssocID="{9F71FCE7-450A-4AF5-96F8-A1D389F2D01D}" presName="horz1" presStyleCnt="0"/>
      <dgm:spPr/>
    </dgm:pt>
    <dgm:pt modelId="{23D615A5-7546-44FF-9EBA-43973EC5CE5E}" type="pres">
      <dgm:prSet presAssocID="{9F71FCE7-450A-4AF5-96F8-A1D389F2D01D}" presName="tx1" presStyleLbl="revTx" presStyleIdx="2" presStyleCnt="6"/>
      <dgm:spPr/>
    </dgm:pt>
    <dgm:pt modelId="{4E5E814B-D16D-42A2-A1C2-678CD434B5E1}" type="pres">
      <dgm:prSet presAssocID="{9F71FCE7-450A-4AF5-96F8-A1D389F2D01D}" presName="vert1" presStyleCnt="0"/>
      <dgm:spPr/>
    </dgm:pt>
    <dgm:pt modelId="{F4CC60B2-1564-485F-9B94-FC51FF5AA630}" type="pres">
      <dgm:prSet presAssocID="{65D36327-C5BA-4219-9431-A825D0892833}" presName="thickLine" presStyleLbl="alignNode1" presStyleIdx="3" presStyleCnt="6"/>
      <dgm:spPr/>
    </dgm:pt>
    <dgm:pt modelId="{085FBB5F-19FE-4CB3-A872-5CEE966B3F14}" type="pres">
      <dgm:prSet presAssocID="{65D36327-C5BA-4219-9431-A825D0892833}" presName="horz1" presStyleCnt="0"/>
      <dgm:spPr/>
    </dgm:pt>
    <dgm:pt modelId="{8B39E5AD-6C0B-4E49-94D1-302C89AA891E}" type="pres">
      <dgm:prSet presAssocID="{65D36327-C5BA-4219-9431-A825D0892833}" presName="tx1" presStyleLbl="revTx" presStyleIdx="3" presStyleCnt="6"/>
      <dgm:spPr/>
    </dgm:pt>
    <dgm:pt modelId="{E45A42CF-B501-4D15-8D8D-D2B4860D4755}" type="pres">
      <dgm:prSet presAssocID="{65D36327-C5BA-4219-9431-A825D0892833}" presName="vert1" presStyleCnt="0"/>
      <dgm:spPr/>
    </dgm:pt>
    <dgm:pt modelId="{CFCA61AC-71F0-4462-9D8B-AA7E885C4E9D}" type="pres">
      <dgm:prSet presAssocID="{BE7EB6EB-CB43-4547-AC73-ABD6EF189A6E}" presName="thickLine" presStyleLbl="alignNode1" presStyleIdx="4" presStyleCnt="6"/>
      <dgm:spPr/>
    </dgm:pt>
    <dgm:pt modelId="{FE0D8DF6-8E94-4A58-88C5-FBDDCFED114A}" type="pres">
      <dgm:prSet presAssocID="{BE7EB6EB-CB43-4547-AC73-ABD6EF189A6E}" presName="horz1" presStyleCnt="0"/>
      <dgm:spPr/>
    </dgm:pt>
    <dgm:pt modelId="{72F8621D-1A5D-47C4-983C-6D26C22D1FA3}" type="pres">
      <dgm:prSet presAssocID="{BE7EB6EB-CB43-4547-AC73-ABD6EF189A6E}" presName="tx1" presStyleLbl="revTx" presStyleIdx="4" presStyleCnt="6"/>
      <dgm:spPr/>
    </dgm:pt>
    <dgm:pt modelId="{EE164CA2-1A26-4380-A19E-F80050FDA65B}" type="pres">
      <dgm:prSet presAssocID="{BE7EB6EB-CB43-4547-AC73-ABD6EF189A6E}" presName="vert1" presStyleCnt="0"/>
      <dgm:spPr/>
    </dgm:pt>
    <dgm:pt modelId="{B7AFDB70-AD88-4A8D-8B90-3A3DCEE67A6B}" type="pres">
      <dgm:prSet presAssocID="{66F3C263-8378-4FB4-B5E4-F106B1CBB47C}" presName="thickLine" presStyleLbl="alignNode1" presStyleIdx="5" presStyleCnt="6"/>
      <dgm:spPr/>
    </dgm:pt>
    <dgm:pt modelId="{A09D87F5-188E-46FA-B228-EC6D051C7303}" type="pres">
      <dgm:prSet presAssocID="{66F3C263-8378-4FB4-B5E4-F106B1CBB47C}" presName="horz1" presStyleCnt="0"/>
      <dgm:spPr/>
    </dgm:pt>
    <dgm:pt modelId="{BAF0E296-9130-4005-8242-B71A25B50630}" type="pres">
      <dgm:prSet presAssocID="{66F3C263-8378-4FB4-B5E4-F106B1CBB47C}" presName="tx1" presStyleLbl="revTx" presStyleIdx="5" presStyleCnt="6"/>
      <dgm:spPr/>
    </dgm:pt>
    <dgm:pt modelId="{992BA82B-DCCE-4E16-849A-1BBCB0BA6FB5}" type="pres">
      <dgm:prSet presAssocID="{66F3C263-8378-4FB4-B5E4-F106B1CBB47C}" presName="vert1" presStyleCnt="0"/>
      <dgm:spPr/>
    </dgm:pt>
  </dgm:ptLst>
  <dgm:cxnLst>
    <dgm:cxn modelId="{2FF20609-84BA-49DF-A6DB-A0BCF283D842}" type="presOf" srcId="{64600D2E-B5F6-4A21-8793-4630D08657F6}" destId="{7EE55556-E543-40C9-B6EB-6DF4E0ECA13C}" srcOrd="0" destOrd="0" presId="urn:microsoft.com/office/officeart/2008/layout/LinedList"/>
    <dgm:cxn modelId="{CDE4450E-B90B-455E-A20C-6ED596C90600}" type="presOf" srcId="{65D36327-C5BA-4219-9431-A825D0892833}" destId="{8B39E5AD-6C0B-4E49-94D1-302C89AA891E}" srcOrd="0" destOrd="0" presId="urn:microsoft.com/office/officeart/2008/layout/LinedList"/>
    <dgm:cxn modelId="{EE614C30-6BCD-4B18-ACCA-7E21B0F441D5}" srcId="{64600D2E-B5F6-4A21-8793-4630D08657F6}" destId="{9D021E47-110C-4212-ABDB-DE5A22E03946}" srcOrd="0" destOrd="0" parTransId="{5E2A5A09-4D88-4ECA-8753-7FADE82D21AC}" sibTransId="{65C1BF8F-2801-49D9-9344-9C56936DBE71}"/>
    <dgm:cxn modelId="{7DF3CB49-4CED-4B12-AA67-13D5673DF469}" type="presOf" srcId="{BE7EB6EB-CB43-4547-AC73-ABD6EF189A6E}" destId="{72F8621D-1A5D-47C4-983C-6D26C22D1FA3}" srcOrd="0" destOrd="0" presId="urn:microsoft.com/office/officeart/2008/layout/LinedList"/>
    <dgm:cxn modelId="{785FE94A-9F61-4655-8406-49943DFE3C39}" srcId="{64600D2E-B5F6-4A21-8793-4630D08657F6}" destId="{66F3C263-8378-4FB4-B5E4-F106B1CBB47C}" srcOrd="5" destOrd="0" parTransId="{C650ADDF-28EB-40BF-A843-58CDB2EC44E7}" sibTransId="{5800AF0D-DBDA-4339-9AA1-A1839E242730}"/>
    <dgm:cxn modelId="{CA22CF4C-3DDF-4D07-AA33-9A82FA0F0260}" srcId="{64600D2E-B5F6-4A21-8793-4630D08657F6}" destId="{9F71FCE7-450A-4AF5-96F8-A1D389F2D01D}" srcOrd="2" destOrd="0" parTransId="{3D54D651-8FBA-4EE0-A891-83766E45BD26}" sibTransId="{E15BA452-0E9F-4458-92E3-24CDF9BF6B80}"/>
    <dgm:cxn modelId="{16912C83-F872-40AD-9399-43D3035A9135}" type="presOf" srcId="{66F3C263-8378-4FB4-B5E4-F106B1CBB47C}" destId="{BAF0E296-9130-4005-8242-B71A25B50630}" srcOrd="0" destOrd="0" presId="urn:microsoft.com/office/officeart/2008/layout/LinedList"/>
    <dgm:cxn modelId="{94763488-7676-45F0-8586-9A738A085C41}" srcId="{64600D2E-B5F6-4A21-8793-4630D08657F6}" destId="{65D36327-C5BA-4219-9431-A825D0892833}" srcOrd="3" destOrd="0" parTransId="{0132C0C7-0C0B-42B2-8829-E884D166A28D}" sibTransId="{D726B1EA-E093-432D-A63D-9302BD26AA48}"/>
    <dgm:cxn modelId="{AA70AE8E-5B72-4DB5-8E41-B75DFBDE9311}" srcId="{64600D2E-B5F6-4A21-8793-4630D08657F6}" destId="{DC0EAAF2-EBFD-472A-9B68-7A477B3E7CCF}" srcOrd="1" destOrd="0" parTransId="{88B8DF48-6F1B-4625-A853-D73C4931554A}" sibTransId="{0EC5B4B7-9943-4342-B587-8D11F3B4873D}"/>
    <dgm:cxn modelId="{15D905A9-8419-4F29-ACB8-195D4F66A3A5}" srcId="{64600D2E-B5F6-4A21-8793-4630D08657F6}" destId="{BE7EB6EB-CB43-4547-AC73-ABD6EF189A6E}" srcOrd="4" destOrd="0" parTransId="{41698AA6-D4E2-4D44-9494-A49F02C6215D}" sibTransId="{95E59615-0300-421A-920D-81959ABF11BF}"/>
    <dgm:cxn modelId="{C65057D7-3936-41B1-92DC-882BD5846BE5}" type="presOf" srcId="{9D021E47-110C-4212-ABDB-DE5A22E03946}" destId="{22CFB439-C90E-465C-A5EC-F90259FE44E8}" srcOrd="0" destOrd="0" presId="urn:microsoft.com/office/officeart/2008/layout/LinedList"/>
    <dgm:cxn modelId="{BFF608D8-28DB-4F6C-B341-12D9F768C593}" type="presOf" srcId="{9F71FCE7-450A-4AF5-96F8-A1D389F2D01D}" destId="{23D615A5-7546-44FF-9EBA-43973EC5CE5E}" srcOrd="0" destOrd="0" presId="urn:microsoft.com/office/officeart/2008/layout/LinedList"/>
    <dgm:cxn modelId="{E85403E2-A4FF-41A1-AA02-4A64E650F44C}" type="presOf" srcId="{DC0EAAF2-EBFD-472A-9B68-7A477B3E7CCF}" destId="{728C05BF-0209-4AD3-862F-C687C656160A}" srcOrd="0" destOrd="0" presId="urn:microsoft.com/office/officeart/2008/layout/LinedList"/>
    <dgm:cxn modelId="{7FB2F511-49CB-4242-93B2-6BF7F8BD4E7D}" type="presParOf" srcId="{7EE55556-E543-40C9-B6EB-6DF4E0ECA13C}" destId="{593125F1-73CE-45F1-A931-81C4C278D69D}" srcOrd="0" destOrd="0" presId="urn:microsoft.com/office/officeart/2008/layout/LinedList"/>
    <dgm:cxn modelId="{71AC518D-0CB8-45A5-95EE-53CCFF9888CD}" type="presParOf" srcId="{7EE55556-E543-40C9-B6EB-6DF4E0ECA13C}" destId="{755744A1-CA59-452E-ACC8-880A50ADF836}" srcOrd="1" destOrd="0" presId="urn:microsoft.com/office/officeart/2008/layout/LinedList"/>
    <dgm:cxn modelId="{2679159A-9CFF-4BA1-BC93-0B3405C3B2E0}" type="presParOf" srcId="{755744A1-CA59-452E-ACC8-880A50ADF836}" destId="{22CFB439-C90E-465C-A5EC-F90259FE44E8}" srcOrd="0" destOrd="0" presId="urn:microsoft.com/office/officeart/2008/layout/LinedList"/>
    <dgm:cxn modelId="{6ACA0A35-B115-4F81-B5CF-D2BCD6E8886D}" type="presParOf" srcId="{755744A1-CA59-452E-ACC8-880A50ADF836}" destId="{4232382B-BDCC-44C7-8E63-DCE7672ABF3B}" srcOrd="1" destOrd="0" presId="urn:microsoft.com/office/officeart/2008/layout/LinedList"/>
    <dgm:cxn modelId="{1063B129-5DC0-40F5-B596-A8FE18D0B25A}" type="presParOf" srcId="{7EE55556-E543-40C9-B6EB-6DF4E0ECA13C}" destId="{D8CBFA32-B5D3-418C-AC43-C43839A07EDD}" srcOrd="2" destOrd="0" presId="urn:microsoft.com/office/officeart/2008/layout/LinedList"/>
    <dgm:cxn modelId="{39E538C7-6016-4453-BB72-447226160B4F}" type="presParOf" srcId="{7EE55556-E543-40C9-B6EB-6DF4E0ECA13C}" destId="{DF88A83C-19F0-4467-A79D-E9B956196F01}" srcOrd="3" destOrd="0" presId="urn:microsoft.com/office/officeart/2008/layout/LinedList"/>
    <dgm:cxn modelId="{8AB5B807-072D-4A47-AD8D-F5FCE74514BB}" type="presParOf" srcId="{DF88A83C-19F0-4467-A79D-E9B956196F01}" destId="{728C05BF-0209-4AD3-862F-C687C656160A}" srcOrd="0" destOrd="0" presId="urn:microsoft.com/office/officeart/2008/layout/LinedList"/>
    <dgm:cxn modelId="{EC50EA49-27C3-4926-BAAF-1485A0C003C6}" type="presParOf" srcId="{DF88A83C-19F0-4467-A79D-E9B956196F01}" destId="{BDCED7EA-D21E-479A-9448-F4288A285C45}" srcOrd="1" destOrd="0" presId="urn:microsoft.com/office/officeart/2008/layout/LinedList"/>
    <dgm:cxn modelId="{E8F21B5C-5D2E-4FDB-9C97-99C0B5E7D722}" type="presParOf" srcId="{7EE55556-E543-40C9-B6EB-6DF4E0ECA13C}" destId="{392A3D21-623B-46C8-8B17-B0FB4F25CE19}" srcOrd="4" destOrd="0" presId="urn:microsoft.com/office/officeart/2008/layout/LinedList"/>
    <dgm:cxn modelId="{03DDB65F-B7F7-4C1B-AE3F-886A07F88250}" type="presParOf" srcId="{7EE55556-E543-40C9-B6EB-6DF4E0ECA13C}" destId="{51F9E700-824C-45C5-8B3F-BF05942C1984}" srcOrd="5" destOrd="0" presId="urn:microsoft.com/office/officeart/2008/layout/LinedList"/>
    <dgm:cxn modelId="{C015D5CD-7104-4F94-88CB-43EC49A7063E}" type="presParOf" srcId="{51F9E700-824C-45C5-8B3F-BF05942C1984}" destId="{23D615A5-7546-44FF-9EBA-43973EC5CE5E}" srcOrd="0" destOrd="0" presId="urn:microsoft.com/office/officeart/2008/layout/LinedList"/>
    <dgm:cxn modelId="{C564F50A-EF15-4488-8D85-F920573E7E14}" type="presParOf" srcId="{51F9E700-824C-45C5-8B3F-BF05942C1984}" destId="{4E5E814B-D16D-42A2-A1C2-678CD434B5E1}" srcOrd="1" destOrd="0" presId="urn:microsoft.com/office/officeart/2008/layout/LinedList"/>
    <dgm:cxn modelId="{3385E06F-7923-4F49-A8C0-2D7FE89EFE27}" type="presParOf" srcId="{7EE55556-E543-40C9-B6EB-6DF4E0ECA13C}" destId="{F4CC60B2-1564-485F-9B94-FC51FF5AA630}" srcOrd="6" destOrd="0" presId="urn:microsoft.com/office/officeart/2008/layout/LinedList"/>
    <dgm:cxn modelId="{24599070-88B4-439F-A591-635CB144AD3A}" type="presParOf" srcId="{7EE55556-E543-40C9-B6EB-6DF4E0ECA13C}" destId="{085FBB5F-19FE-4CB3-A872-5CEE966B3F14}" srcOrd="7" destOrd="0" presId="urn:microsoft.com/office/officeart/2008/layout/LinedList"/>
    <dgm:cxn modelId="{5F221792-F855-45B3-99C9-38B8ABF29CDE}" type="presParOf" srcId="{085FBB5F-19FE-4CB3-A872-5CEE966B3F14}" destId="{8B39E5AD-6C0B-4E49-94D1-302C89AA891E}" srcOrd="0" destOrd="0" presId="urn:microsoft.com/office/officeart/2008/layout/LinedList"/>
    <dgm:cxn modelId="{1FA03307-2464-4FD8-B178-49CF7491848B}" type="presParOf" srcId="{085FBB5F-19FE-4CB3-A872-5CEE966B3F14}" destId="{E45A42CF-B501-4D15-8D8D-D2B4860D4755}" srcOrd="1" destOrd="0" presId="urn:microsoft.com/office/officeart/2008/layout/LinedList"/>
    <dgm:cxn modelId="{CA940513-213F-4818-96E1-42F0056487C1}" type="presParOf" srcId="{7EE55556-E543-40C9-B6EB-6DF4E0ECA13C}" destId="{CFCA61AC-71F0-4462-9D8B-AA7E885C4E9D}" srcOrd="8" destOrd="0" presId="urn:microsoft.com/office/officeart/2008/layout/LinedList"/>
    <dgm:cxn modelId="{73434E1B-ECE2-40EA-BFE4-A112E8C150DF}" type="presParOf" srcId="{7EE55556-E543-40C9-B6EB-6DF4E0ECA13C}" destId="{FE0D8DF6-8E94-4A58-88C5-FBDDCFED114A}" srcOrd="9" destOrd="0" presId="urn:microsoft.com/office/officeart/2008/layout/LinedList"/>
    <dgm:cxn modelId="{03F489A8-9756-43DF-A89A-AE4813EED81B}" type="presParOf" srcId="{FE0D8DF6-8E94-4A58-88C5-FBDDCFED114A}" destId="{72F8621D-1A5D-47C4-983C-6D26C22D1FA3}" srcOrd="0" destOrd="0" presId="urn:microsoft.com/office/officeart/2008/layout/LinedList"/>
    <dgm:cxn modelId="{6DE2FAC6-8698-4D19-BC9F-CACC7522E264}" type="presParOf" srcId="{FE0D8DF6-8E94-4A58-88C5-FBDDCFED114A}" destId="{EE164CA2-1A26-4380-A19E-F80050FDA65B}" srcOrd="1" destOrd="0" presId="urn:microsoft.com/office/officeart/2008/layout/LinedList"/>
    <dgm:cxn modelId="{009E397B-5D08-4D4B-B1D0-3B118371CCCC}" type="presParOf" srcId="{7EE55556-E543-40C9-B6EB-6DF4E0ECA13C}" destId="{B7AFDB70-AD88-4A8D-8B90-3A3DCEE67A6B}" srcOrd="10" destOrd="0" presId="urn:microsoft.com/office/officeart/2008/layout/LinedList"/>
    <dgm:cxn modelId="{0C2B57EB-0E2B-48E6-A10D-4B2B74588BEB}" type="presParOf" srcId="{7EE55556-E543-40C9-B6EB-6DF4E0ECA13C}" destId="{A09D87F5-188E-46FA-B228-EC6D051C7303}" srcOrd="11" destOrd="0" presId="urn:microsoft.com/office/officeart/2008/layout/LinedList"/>
    <dgm:cxn modelId="{BC629499-BF7C-4E92-8249-5075B98E8DE1}" type="presParOf" srcId="{A09D87F5-188E-46FA-B228-EC6D051C7303}" destId="{BAF0E296-9130-4005-8242-B71A25B50630}" srcOrd="0" destOrd="0" presId="urn:microsoft.com/office/officeart/2008/layout/LinedList"/>
    <dgm:cxn modelId="{BD1346D5-B70A-4C92-B38B-A4F95480B12A}" type="presParOf" srcId="{A09D87F5-188E-46FA-B228-EC6D051C7303}" destId="{992BA82B-DCCE-4E16-849A-1BBCB0BA6FB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C502D5-757C-44B8-BB2D-6AA0B8A4384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1D3EC9F-679E-4CC7-B306-A5C25C2BF7AA}">
      <dgm:prSet custT="1"/>
      <dgm:spPr/>
      <dgm:t>
        <a:bodyPr anchor="ctr"/>
        <a:lstStyle/>
        <a:p>
          <a:pPr algn="ctr"/>
          <a:r>
            <a:rPr lang="en-US" sz="1600"/>
            <a:t>This simulation demonstrates how </a:t>
          </a:r>
          <a:r>
            <a:rPr lang="en-US" sz="1600" b="1"/>
            <a:t>changes in interest rates affect borrower stress</a:t>
          </a:r>
          <a:r>
            <a:rPr lang="en-US" sz="1600"/>
            <a:t>.</a:t>
          </a:r>
        </a:p>
      </dgm:t>
    </dgm:pt>
    <dgm:pt modelId="{74A592A0-3C43-4413-A1F0-16ABF76605A9}" type="parTrans" cxnId="{BA6C55AD-0ECD-4CA2-9D59-A9AC33E9777C}">
      <dgm:prSet/>
      <dgm:spPr/>
      <dgm:t>
        <a:bodyPr/>
        <a:lstStyle/>
        <a:p>
          <a:endParaRPr lang="en-US"/>
        </a:p>
      </dgm:t>
    </dgm:pt>
    <dgm:pt modelId="{DA748CEB-3E7D-41A5-9CA4-BB22560F9833}" type="sibTrans" cxnId="{BA6C55AD-0ECD-4CA2-9D59-A9AC33E9777C}">
      <dgm:prSet/>
      <dgm:spPr/>
      <dgm:t>
        <a:bodyPr/>
        <a:lstStyle/>
        <a:p>
          <a:endParaRPr lang="en-US"/>
        </a:p>
      </dgm:t>
    </dgm:pt>
    <dgm:pt modelId="{C4BAC6B7-C9F1-4B7E-A02F-07C0CD9EC063}">
      <dgm:prSet custT="1"/>
      <dgm:spPr/>
      <dgm:t>
        <a:bodyPr anchor="ctr"/>
        <a:lstStyle/>
        <a:p>
          <a:pPr algn="ctr"/>
          <a:r>
            <a:rPr lang="en-US" sz="1600" dirty="0"/>
            <a:t>As the interest rate increases, the </a:t>
          </a:r>
          <a:r>
            <a:rPr lang="en-US" sz="1600" b="1" dirty="0"/>
            <a:t>adjusted interest burden rises steadily</a:t>
          </a:r>
          <a:r>
            <a:rPr lang="en-US" sz="1600" dirty="0"/>
            <a:t>, directly impacting monthly repayments.</a:t>
          </a:r>
        </a:p>
      </dgm:t>
    </dgm:pt>
    <dgm:pt modelId="{E1A6FCAA-B53D-4B3A-8319-DFF393B6D35E}" type="parTrans" cxnId="{4D12C377-7A11-4F38-B655-D7F553408FB2}">
      <dgm:prSet/>
      <dgm:spPr/>
      <dgm:t>
        <a:bodyPr/>
        <a:lstStyle/>
        <a:p>
          <a:endParaRPr lang="en-US"/>
        </a:p>
      </dgm:t>
    </dgm:pt>
    <dgm:pt modelId="{205A3998-3A9F-4A13-A862-5695EDFC786D}" type="sibTrans" cxnId="{4D12C377-7A11-4F38-B655-D7F553408FB2}">
      <dgm:prSet/>
      <dgm:spPr/>
      <dgm:t>
        <a:bodyPr/>
        <a:lstStyle/>
        <a:p>
          <a:endParaRPr lang="en-US"/>
        </a:p>
      </dgm:t>
    </dgm:pt>
    <dgm:pt modelId="{ABE05E93-01C1-4AE3-89B3-FBFB44ED85F6}">
      <dgm:prSet custT="1"/>
      <dgm:spPr/>
      <dgm:t>
        <a:bodyPr anchor="ctr"/>
        <a:lstStyle/>
        <a:p>
          <a:pPr algn="ctr"/>
          <a:r>
            <a:rPr lang="en-US" sz="1600" dirty="0"/>
            <a:t>Higher interest rates </a:t>
          </a:r>
          <a:r>
            <a:rPr lang="en-US" sz="1600" b="1" dirty="0"/>
            <a:t>increase default probability</a:t>
          </a:r>
          <a:r>
            <a:rPr lang="en-US" sz="1600" dirty="0"/>
            <a:t>, especially for already high-risk borrowers.</a:t>
          </a:r>
        </a:p>
      </dgm:t>
    </dgm:pt>
    <dgm:pt modelId="{572ECC03-0413-40CF-9536-A52D08283D4D}" type="parTrans" cxnId="{31313BBD-63B8-4461-AD4E-4011240EF010}">
      <dgm:prSet/>
      <dgm:spPr/>
      <dgm:t>
        <a:bodyPr/>
        <a:lstStyle/>
        <a:p>
          <a:endParaRPr lang="en-US"/>
        </a:p>
      </dgm:t>
    </dgm:pt>
    <dgm:pt modelId="{F120E7C4-7F35-428C-AE62-89EA986A3043}" type="sibTrans" cxnId="{31313BBD-63B8-4461-AD4E-4011240EF010}">
      <dgm:prSet/>
      <dgm:spPr/>
      <dgm:t>
        <a:bodyPr/>
        <a:lstStyle/>
        <a:p>
          <a:endParaRPr lang="en-US"/>
        </a:p>
      </dgm:t>
    </dgm:pt>
    <dgm:pt modelId="{02F22893-96D7-40D8-B6B2-05FA274781A4}">
      <dgm:prSet custT="1"/>
      <dgm:spPr/>
      <dgm:t>
        <a:bodyPr anchor="ctr"/>
        <a:lstStyle/>
        <a:p>
          <a:pPr algn="ctr"/>
          <a:r>
            <a:rPr lang="en-US" sz="1600"/>
            <a:t>Lower rates significantly </a:t>
          </a:r>
          <a:r>
            <a:rPr lang="en-US" sz="1600" b="1"/>
            <a:t>improve affordability and repayment capacity</a:t>
          </a:r>
          <a:r>
            <a:rPr lang="en-US" sz="1600"/>
            <a:t>.</a:t>
          </a:r>
        </a:p>
      </dgm:t>
    </dgm:pt>
    <dgm:pt modelId="{665F0FEA-3D9D-402A-A782-09F0672C10E7}" type="parTrans" cxnId="{63E6F4A8-0763-4B9B-85EA-E0C32460E2CD}">
      <dgm:prSet/>
      <dgm:spPr/>
      <dgm:t>
        <a:bodyPr/>
        <a:lstStyle/>
        <a:p>
          <a:endParaRPr lang="en-US"/>
        </a:p>
      </dgm:t>
    </dgm:pt>
    <dgm:pt modelId="{EC979057-64B9-4D20-97A5-1C189BC3BBAF}" type="sibTrans" cxnId="{63E6F4A8-0763-4B9B-85EA-E0C32460E2CD}">
      <dgm:prSet/>
      <dgm:spPr/>
      <dgm:t>
        <a:bodyPr/>
        <a:lstStyle/>
        <a:p>
          <a:endParaRPr lang="en-US"/>
        </a:p>
      </dgm:t>
    </dgm:pt>
    <dgm:pt modelId="{124D337A-54A2-4A70-81EC-87F5D844D9AE}">
      <dgm:prSet custT="1"/>
      <dgm:spPr/>
      <dgm:t>
        <a:bodyPr anchor="ctr"/>
        <a:lstStyle/>
        <a:p>
          <a:pPr algn="ctr"/>
          <a:r>
            <a:rPr lang="en-US" sz="1600"/>
            <a:t>This scenario analysis helps understand </a:t>
          </a:r>
          <a:r>
            <a:rPr lang="en-US" sz="1600" b="1"/>
            <a:t>how sensitive the portfolio is to rate changes</a:t>
          </a:r>
          <a:r>
            <a:rPr lang="en-US" sz="1600"/>
            <a:t>.</a:t>
          </a:r>
        </a:p>
      </dgm:t>
    </dgm:pt>
    <dgm:pt modelId="{B2A46DE8-2955-4FEC-BA3B-FBFF1D01BABA}" type="parTrans" cxnId="{12D95364-DFB4-474B-B8E7-E950E2EDD9D1}">
      <dgm:prSet/>
      <dgm:spPr/>
      <dgm:t>
        <a:bodyPr/>
        <a:lstStyle/>
        <a:p>
          <a:endParaRPr lang="en-US"/>
        </a:p>
      </dgm:t>
    </dgm:pt>
    <dgm:pt modelId="{58405CC3-6A08-4D50-B138-977A250A83E1}" type="sibTrans" cxnId="{12D95364-DFB4-474B-B8E7-E950E2EDD9D1}">
      <dgm:prSet/>
      <dgm:spPr/>
      <dgm:t>
        <a:bodyPr/>
        <a:lstStyle/>
        <a:p>
          <a:endParaRPr lang="en-US"/>
        </a:p>
      </dgm:t>
    </dgm:pt>
    <dgm:pt modelId="{4EE551F3-E3CA-4428-8BE4-110AFFD41A66}">
      <dgm:prSet custT="1"/>
      <dgm:spPr/>
      <dgm:t>
        <a:bodyPr anchor="ctr"/>
        <a:lstStyle/>
        <a:p>
          <a:pPr algn="ctr"/>
          <a:r>
            <a:rPr lang="en-US" sz="1600" dirty="0"/>
            <a:t>It supports </a:t>
          </a:r>
          <a:r>
            <a:rPr lang="en-US" sz="1600" b="1" dirty="0"/>
            <a:t>risk-based pricing decisions</a:t>
          </a:r>
          <a:r>
            <a:rPr lang="en-US" sz="1600" dirty="0"/>
            <a:t> and better loan structuring.</a:t>
          </a:r>
        </a:p>
      </dgm:t>
    </dgm:pt>
    <dgm:pt modelId="{EFAF450C-5621-4868-8177-BF2A2C23EFE5}" type="parTrans" cxnId="{D8B57C7C-01B3-4CCA-BC4E-5AC6431A3E8B}">
      <dgm:prSet/>
      <dgm:spPr/>
      <dgm:t>
        <a:bodyPr/>
        <a:lstStyle/>
        <a:p>
          <a:endParaRPr lang="en-US"/>
        </a:p>
      </dgm:t>
    </dgm:pt>
    <dgm:pt modelId="{A0793D4F-7B0C-42CD-900D-D1815301ECD2}" type="sibTrans" cxnId="{D8B57C7C-01B3-4CCA-BC4E-5AC6431A3E8B}">
      <dgm:prSet/>
      <dgm:spPr/>
      <dgm:t>
        <a:bodyPr/>
        <a:lstStyle/>
        <a:p>
          <a:endParaRPr lang="en-US"/>
        </a:p>
      </dgm:t>
    </dgm:pt>
    <dgm:pt modelId="{6B8E6AF2-F758-40A5-83F2-8FCF53ED2634}" type="pres">
      <dgm:prSet presAssocID="{86C502D5-757C-44B8-BB2D-6AA0B8A43840}" presName="vert0" presStyleCnt="0">
        <dgm:presLayoutVars>
          <dgm:dir/>
          <dgm:animOne val="branch"/>
          <dgm:animLvl val="lvl"/>
        </dgm:presLayoutVars>
      </dgm:prSet>
      <dgm:spPr/>
    </dgm:pt>
    <dgm:pt modelId="{045A4740-7A86-4604-BF63-304EA616193E}" type="pres">
      <dgm:prSet presAssocID="{D1D3EC9F-679E-4CC7-B306-A5C25C2BF7AA}" presName="thickLine" presStyleLbl="alignNode1" presStyleIdx="0" presStyleCnt="6"/>
      <dgm:spPr/>
    </dgm:pt>
    <dgm:pt modelId="{E22CC1E8-35F2-47F6-86F8-A2146AC0ACA1}" type="pres">
      <dgm:prSet presAssocID="{D1D3EC9F-679E-4CC7-B306-A5C25C2BF7AA}" presName="horz1" presStyleCnt="0"/>
      <dgm:spPr/>
    </dgm:pt>
    <dgm:pt modelId="{3577503C-9185-4316-A378-E76B5064D903}" type="pres">
      <dgm:prSet presAssocID="{D1D3EC9F-679E-4CC7-B306-A5C25C2BF7AA}" presName="tx1" presStyleLbl="revTx" presStyleIdx="0" presStyleCnt="6"/>
      <dgm:spPr/>
    </dgm:pt>
    <dgm:pt modelId="{A138051A-2395-4A74-95A6-EBBD301B4EF8}" type="pres">
      <dgm:prSet presAssocID="{D1D3EC9F-679E-4CC7-B306-A5C25C2BF7AA}" presName="vert1" presStyleCnt="0"/>
      <dgm:spPr/>
    </dgm:pt>
    <dgm:pt modelId="{F1815696-A645-442D-A097-A31FC37034A9}" type="pres">
      <dgm:prSet presAssocID="{C4BAC6B7-C9F1-4B7E-A02F-07C0CD9EC063}" presName="thickLine" presStyleLbl="alignNode1" presStyleIdx="1" presStyleCnt="6"/>
      <dgm:spPr/>
    </dgm:pt>
    <dgm:pt modelId="{554A1E6F-A34F-48BF-B5CB-3B7AB17B5894}" type="pres">
      <dgm:prSet presAssocID="{C4BAC6B7-C9F1-4B7E-A02F-07C0CD9EC063}" presName="horz1" presStyleCnt="0"/>
      <dgm:spPr/>
    </dgm:pt>
    <dgm:pt modelId="{AD4411F3-C7DA-41D6-95D5-778FB5B623B2}" type="pres">
      <dgm:prSet presAssocID="{C4BAC6B7-C9F1-4B7E-A02F-07C0CD9EC063}" presName="tx1" presStyleLbl="revTx" presStyleIdx="1" presStyleCnt="6"/>
      <dgm:spPr/>
    </dgm:pt>
    <dgm:pt modelId="{08C0AFC4-27FE-4815-AD50-C46DDDC0A6AE}" type="pres">
      <dgm:prSet presAssocID="{C4BAC6B7-C9F1-4B7E-A02F-07C0CD9EC063}" presName="vert1" presStyleCnt="0"/>
      <dgm:spPr/>
    </dgm:pt>
    <dgm:pt modelId="{1B097AAD-DBEB-433C-9ED0-998CECD7D9D5}" type="pres">
      <dgm:prSet presAssocID="{ABE05E93-01C1-4AE3-89B3-FBFB44ED85F6}" presName="thickLine" presStyleLbl="alignNode1" presStyleIdx="2" presStyleCnt="6"/>
      <dgm:spPr/>
    </dgm:pt>
    <dgm:pt modelId="{B008B0A7-ED11-4236-9E12-92CD0C89C94F}" type="pres">
      <dgm:prSet presAssocID="{ABE05E93-01C1-4AE3-89B3-FBFB44ED85F6}" presName="horz1" presStyleCnt="0"/>
      <dgm:spPr/>
    </dgm:pt>
    <dgm:pt modelId="{C14B239B-855F-4CC0-9AA1-EBF691ECB330}" type="pres">
      <dgm:prSet presAssocID="{ABE05E93-01C1-4AE3-89B3-FBFB44ED85F6}" presName="tx1" presStyleLbl="revTx" presStyleIdx="2" presStyleCnt="6"/>
      <dgm:spPr/>
    </dgm:pt>
    <dgm:pt modelId="{367312D1-E7BD-49B9-A1CD-C83E66238E0B}" type="pres">
      <dgm:prSet presAssocID="{ABE05E93-01C1-4AE3-89B3-FBFB44ED85F6}" presName="vert1" presStyleCnt="0"/>
      <dgm:spPr/>
    </dgm:pt>
    <dgm:pt modelId="{0ED23822-CAD3-4C5F-98ED-2EB151320883}" type="pres">
      <dgm:prSet presAssocID="{02F22893-96D7-40D8-B6B2-05FA274781A4}" presName="thickLine" presStyleLbl="alignNode1" presStyleIdx="3" presStyleCnt="6"/>
      <dgm:spPr/>
    </dgm:pt>
    <dgm:pt modelId="{C380F42D-1F64-493F-BA2D-BFB47D2D256B}" type="pres">
      <dgm:prSet presAssocID="{02F22893-96D7-40D8-B6B2-05FA274781A4}" presName="horz1" presStyleCnt="0"/>
      <dgm:spPr/>
    </dgm:pt>
    <dgm:pt modelId="{B6CDE25C-B24B-4407-BD4D-8791C914670D}" type="pres">
      <dgm:prSet presAssocID="{02F22893-96D7-40D8-B6B2-05FA274781A4}" presName="tx1" presStyleLbl="revTx" presStyleIdx="3" presStyleCnt="6"/>
      <dgm:spPr/>
    </dgm:pt>
    <dgm:pt modelId="{95B9EA0E-E1B6-4564-9CF1-943859085D18}" type="pres">
      <dgm:prSet presAssocID="{02F22893-96D7-40D8-B6B2-05FA274781A4}" presName="vert1" presStyleCnt="0"/>
      <dgm:spPr/>
    </dgm:pt>
    <dgm:pt modelId="{BDC137D1-2FA3-4DB3-BB61-E4C88B301111}" type="pres">
      <dgm:prSet presAssocID="{124D337A-54A2-4A70-81EC-87F5D844D9AE}" presName="thickLine" presStyleLbl="alignNode1" presStyleIdx="4" presStyleCnt="6"/>
      <dgm:spPr/>
    </dgm:pt>
    <dgm:pt modelId="{2C136FCB-DCA8-41DF-9595-9276CF52D453}" type="pres">
      <dgm:prSet presAssocID="{124D337A-54A2-4A70-81EC-87F5D844D9AE}" presName="horz1" presStyleCnt="0"/>
      <dgm:spPr/>
    </dgm:pt>
    <dgm:pt modelId="{F792BB67-D60B-4DAE-8EA7-BE38F220AB9B}" type="pres">
      <dgm:prSet presAssocID="{124D337A-54A2-4A70-81EC-87F5D844D9AE}" presName="tx1" presStyleLbl="revTx" presStyleIdx="4" presStyleCnt="6"/>
      <dgm:spPr/>
    </dgm:pt>
    <dgm:pt modelId="{839ED0FB-2549-4A3C-B783-729447C68558}" type="pres">
      <dgm:prSet presAssocID="{124D337A-54A2-4A70-81EC-87F5D844D9AE}" presName="vert1" presStyleCnt="0"/>
      <dgm:spPr/>
    </dgm:pt>
    <dgm:pt modelId="{97797247-7BAA-43D6-8BE2-6CA97839A49F}" type="pres">
      <dgm:prSet presAssocID="{4EE551F3-E3CA-4428-8BE4-110AFFD41A66}" presName="thickLine" presStyleLbl="alignNode1" presStyleIdx="5" presStyleCnt="6"/>
      <dgm:spPr/>
    </dgm:pt>
    <dgm:pt modelId="{64789532-308D-4AA1-99AA-7A79200DC538}" type="pres">
      <dgm:prSet presAssocID="{4EE551F3-E3CA-4428-8BE4-110AFFD41A66}" presName="horz1" presStyleCnt="0"/>
      <dgm:spPr/>
    </dgm:pt>
    <dgm:pt modelId="{E550BD3A-3FB8-497C-B2B9-1F9DCF361E4C}" type="pres">
      <dgm:prSet presAssocID="{4EE551F3-E3CA-4428-8BE4-110AFFD41A66}" presName="tx1" presStyleLbl="revTx" presStyleIdx="5" presStyleCnt="6"/>
      <dgm:spPr/>
    </dgm:pt>
    <dgm:pt modelId="{CD66AFE2-A2FF-4A23-92A8-F2EA2FA5FA11}" type="pres">
      <dgm:prSet presAssocID="{4EE551F3-E3CA-4428-8BE4-110AFFD41A66}" presName="vert1" presStyleCnt="0"/>
      <dgm:spPr/>
    </dgm:pt>
  </dgm:ptLst>
  <dgm:cxnLst>
    <dgm:cxn modelId="{0EA75D42-8C83-43FB-AA18-3B0700E77D5E}" type="presOf" srcId="{02F22893-96D7-40D8-B6B2-05FA274781A4}" destId="{B6CDE25C-B24B-4407-BD4D-8791C914670D}" srcOrd="0" destOrd="0" presId="urn:microsoft.com/office/officeart/2008/layout/LinedList"/>
    <dgm:cxn modelId="{12D95364-DFB4-474B-B8E7-E950E2EDD9D1}" srcId="{86C502D5-757C-44B8-BB2D-6AA0B8A43840}" destId="{124D337A-54A2-4A70-81EC-87F5D844D9AE}" srcOrd="4" destOrd="0" parTransId="{B2A46DE8-2955-4FEC-BA3B-FBFF1D01BABA}" sibTransId="{58405CC3-6A08-4D50-B138-977A250A83E1}"/>
    <dgm:cxn modelId="{CF3E1650-7864-4918-ACDD-165308060893}" type="presOf" srcId="{C4BAC6B7-C9F1-4B7E-A02F-07C0CD9EC063}" destId="{AD4411F3-C7DA-41D6-95D5-778FB5B623B2}" srcOrd="0" destOrd="0" presId="urn:microsoft.com/office/officeart/2008/layout/LinedList"/>
    <dgm:cxn modelId="{067E1A50-42B2-46C9-B94D-9414C758E29C}" type="presOf" srcId="{D1D3EC9F-679E-4CC7-B306-A5C25C2BF7AA}" destId="{3577503C-9185-4316-A378-E76B5064D903}" srcOrd="0" destOrd="0" presId="urn:microsoft.com/office/officeart/2008/layout/LinedList"/>
    <dgm:cxn modelId="{4D12C377-7A11-4F38-B655-D7F553408FB2}" srcId="{86C502D5-757C-44B8-BB2D-6AA0B8A43840}" destId="{C4BAC6B7-C9F1-4B7E-A02F-07C0CD9EC063}" srcOrd="1" destOrd="0" parTransId="{E1A6FCAA-B53D-4B3A-8319-DFF393B6D35E}" sibTransId="{205A3998-3A9F-4A13-A862-5695EDFC786D}"/>
    <dgm:cxn modelId="{D8B57C7C-01B3-4CCA-BC4E-5AC6431A3E8B}" srcId="{86C502D5-757C-44B8-BB2D-6AA0B8A43840}" destId="{4EE551F3-E3CA-4428-8BE4-110AFFD41A66}" srcOrd="5" destOrd="0" parTransId="{EFAF450C-5621-4868-8177-BF2A2C23EFE5}" sibTransId="{A0793D4F-7B0C-42CD-900D-D1815301ECD2}"/>
    <dgm:cxn modelId="{61E61190-DCE0-4780-936A-D0F8E69CBA09}" type="presOf" srcId="{ABE05E93-01C1-4AE3-89B3-FBFB44ED85F6}" destId="{C14B239B-855F-4CC0-9AA1-EBF691ECB330}" srcOrd="0" destOrd="0" presId="urn:microsoft.com/office/officeart/2008/layout/LinedList"/>
    <dgm:cxn modelId="{6A018DA3-2D4C-42BD-946B-600A00B2EC23}" type="presOf" srcId="{86C502D5-757C-44B8-BB2D-6AA0B8A43840}" destId="{6B8E6AF2-F758-40A5-83F2-8FCF53ED2634}" srcOrd="0" destOrd="0" presId="urn:microsoft.com/office/officeart/2008/layout/LinedList"/>
    <dgm:cxn modelId="{63E6F4A8-0763-4B9B-85EA-E0C32460E2CD}" srcId="{86C502D5-757C-44B8-BB2D-6AA0B8A43840}" destId="{02F22893-96D7-40D8-B6B2-05FA274781A4}" srcOrd="3" destOrd="0" parTransId="{665F0FEA-3D9D-402A-A782-09F0672C10E7}" sibTransId="{EC979057-64B9-4D20-97A5-1C189BC3BBAF}"/>
    <dgm:cxn modelId="{BA6C55AD-0ECD-4CA2-9D59-A9AC33E9777C}" srcId="{86C502D5-757C-44B8-BB2D-6AA0B8A43840}" destId="{D1D3EC9F-679E-4CC7-B306-A5C25C2BF7AA}" srcOrd="0" destOrd="0" parTransId="{74A592A0-3C43-4413-A1F0-16ABF76605A9}" sibTransId="{DA748CEB-3E7D-41A5-9CA4-BB22560F9833}"/>
    <dgm:cxn modelId="{B6852AB3-5BF6-41FA-9742-106E25C3AB78}" type="presOf" srcId="{124D337A-54A2-4A70-81EC-87F5D844D9AE}" destId="{F792BB67-D60B-4DAE-8EA7-BE38F220AB9B}" srcOrd="0" destOrd="0" presId="urn:microsoft.com/office/officeart/2008/layout/LinedList"/>
    <dgm:cxn modelId="{31313BBD-63B8-4461-AD4E-4011240EF010}" srcId="{86C502D5-757C-44B8-BB2D-6AA0B8A43840}" destId="{ABE05E93-01C1-4AE3-89B3-FBFB44ED85F6}" srcOrd="2" destOrd="0" parTransId="{572ECC03-0413-40CF-9536-A52D08283D4D}" sibTransId="{F120E7C4-7F35-428C-AE62-89EA986A3043}"/>
    <dgm:cxn modelId="{519132D0-4E57-49D3-A0AB-DCF326656C9F}" type="presOf" srcId="{4EE551F3-E3CA-4428-8BE4-110AFFD41A66}" destId="{E550BD3A-3FB8-497C-B2B9-1F9DCF361E4C}" srcOrd="0" destOrd="0" presId="urn:microsoft.com/office/officeart/2008/layout/LinedList"/>
    <dgm:cxn modelId="{2493852C-AB09-4F88-BFDA-681BEF455743}" type="presParOf" srcId="{6B8E6AF2-F758-40A5-83F2-8FCF53ED2634}" destId="{045A4740-7A86-4604-BF63-304EA616193E}" srcOrd="0" destOrd="0" presId="urn:microsoft.com/office/officeart/2008/layout/LinedList"/>
    <dgm:cxn modelId="{BFD97949-B5A5-4F88-85A9-C773AD09A77A}" type="presParOf" srcId="{6B8E6AF2-F758-40A5-83F2-8FCF53ED2634}" destId="{E22CC1E8-35F2-47F6-86F8-A2146AC0ACA1}" srcOrd="1" destOrd="0" presId="urn:microsoft.com/office/officeart/2008/layout/LinedList"/>
    <dgm:cxn modelId="{BB720927-43FA-41AD-952D-003BBDA0DDC3}" type="presParOf" srcId="{E22CC1E8-35F2-47F6-86F8-A2146AC0ACA1}" destId="{3577503C-9185-4316-A378-E76B5064D903}" srcOrd="0" destOrd="0" presId="urn:microsoft.com/office/officeart/2008/layout/LinedList"/>
    <dgm:cxn modelId="{8BF484E4-C6D8-4631-8A34-A2BC0D4BEAE2}" type="presParOf" srcId="{E22CC1E8-35F2-47F6-86F8-A2146AC0ACA1}" destId="{A138051A-2395-4A74-95A6-EBBD301B4EF8}" srcOrd="1" destOrd="0" presId="urn:microsoft.com/office/officeart/2008/layout/LinedList"/>
    <dgm:cxn modelId="{62797886-01E9-4491-8035-AFE861759BDC}" type="presParOf" srcId="{6B8E6AF2-F758-40A5-83F2-8FCF53ED2634}" destId="{F1815696-A645-442D-A097-A31FC37034A9}" srcOrd="2" destOrd="0" presId="urn:microsoft.com/office/officeart/2008/layout/LinedList"/>
    <dgm:cxn modelId="{0F5BF3EE-5CBB-45D7-A0C8-07C7E9FE4AC7}" type="presParOf" srcId="{6B8E6AF2-F758-40A5-83F2-8FCF53ED2634}" destId="{554A1E6F-A34F-48BF-B5CB-3B7AB17B5894}" srcOrd="3" destOrd="0" presId="urn:microsoft.com/office/officeart/2008/layout/LinedList"/>
    <dgm:cxn modelId="{4146FB0D-2574-4B90-96BF-FAD1D09E3B01}" type="presParOf" srcId="{554A1E6F-A34F-48BF-B5CB-3B7AB17B5894}" destId="{AD4411F3-C7DA-41D6-95D5-778FB5B623B2}" srcOrd="0" destOrd="0" presId="urn:microsoft.com/office/officeart/2008/layout/LinedList"/>
    <dgm:cxn modelId="{2ECF9B65-7F1F-4B00-8A47-81B06E4F8CA3}" type="presParOf" srcId="{554A1E6F-A34F-48BF-B5CB-3B7AB17B5894}" destId="{08C0AFC4-27FE-4815-AD50-C46DDDC0A6AE}" srcOrd="1" destOrd="0" presId="urn:microsoft.com/office/officeart/2008/layout/LinedList"/>
    <dgm:cxn modelId="{B8BD4501-BCAC-4A40-A92F-1AD4F3E5D843}" type="presParOf" srcId="{6B8E6AF2-F758-40A5-83F2-8FCF53ED2634}" destId="{1B097AAD-DBEB-433C-9ED0-998CECD7D9D5}" srcOrd="4" destOrd="0" presId="urn:microsoft.com/office/officeart/2008/layout/LinedList"/>
    <dgm:cxn modelId="{19B24E4B-6775-4E5E-90A9-778B99BFFF15}" type="presParOf" srcId="{6B8E6AF2-F758-40A5-83F2-8FCF53ED2634}" destId="{B008B0A7-ED11-4236-9E12-92CD0C89C94F}" srcOrd="5" destOrd="0" presId="urn:microsoft.com/office/officeart/2008/layout/LinedList"/>
    <dgm:cxn modelId="{6AF67297-13A6-486E-A98F-9CE9E8EAE387}" type="presParOf" srcId="{B008B0A7-ED11-4236-9E12-92CD0C89C94F}" destId="{C14B239B-855F-4CC0-9AA1-EBF691ECB330}" srcOrd="0" destOrd="0" presId="urn:microsoft.com/office/officeart/2008/layout/LinedList"/>
    <dgm:cxn modelId="{807F3DCD-DC6E-4395-A76D-FE0E74DA8ACC}" type="presParOf" srcId="{B008B0A7-ED11-4236-9E12-92CD0C89C94F}" destId="{367312D1-E7BD-49B9-A1CD-C83E66238E0B}" srcOrd="1" destOrd="0" presId="urn:microsoft.com/office/officeart/2008/layout/LinedList"/>
    <dgm:cxn modelId="{4A09B974-A9A8-45FA-B25B-138518DCF982}" type="presParOf" srcId="{6B8E6AF2-F758-40A5-83F2-8FCF53ED2634}" destId="{0ED23822-CAD3-4C5F-98ED-2EB151320883}" srcOrd="6" destOrd="0" presId="urn:microsoft.com/office/officeart/2008/layout/LinedList"/>
    <dgm:cxn modelId="{6514E212-BDFC-47CA-964A-DF1C288B21B1}" type="presParOf" srcId="{6B8E6AF2-F758-40A5-83F2-8FCF53ED2634}" destId="{C380F42D-1F64-493F-BA2D-BFB47D2D256B}" srcOrd="7" destOrd="0" presId="urn:microsoft.com/office/officeart/2008/layout/LinedList"/>
    <dgm:cxn modelId="{20CAB506-CE25-4C61-8D52-3B713D528D94}" type="presParOf" srcId="{C380F42D-1F64-493F-BA2D-BFB47D2D256B}" destId="{B6CDE25C-B24B-4407-BD4D-8791C914670D}" srcOrd="0" destOrd="0" presId="urn:microsoft.com/office/officeart/2008/layout/LinedList"/>
    <dgm:cxn modelId="{EA76D49A-55FC-4363-AA51-21A967CECDFE}" type="presParOf" srcId="{C380F42D-1F64-493F-BA2D-BFB47D2D256B}" destId="{95B9EA0E-E1B6-4564-9CF1-943859085D18}" srcOrd="1" destOrd="0" presId="urn:microsoft.com/office/officeart/2008/layout/LinedList"/>
    <dgm:cxn modelId="{1BD96350-7E0B-41B0-AC5B-991096C1CC9D}" type="presParOf" srcId="{6B8E6AF2-F758-40A5-83F2-8FCF53ED2634}" destId="{BDC137D1-2FA3-4DB3-BB61-E4C88B301111}" srcOrd="8" destOrd="0" presId="urn:microsoft.com/office/officeart/2008/layout/LinedList"/>
    <dgm:cxn modelId="{FBB2E59E-10EE-4644-BC90-0566E126C9D5}" type="presParOf" srcId="{6B8E6AF2-F758-40A5-83F2-8FCF53ED2634}" destId="{2C136FCB-DCA8-41DF-9595-9276CF52D453}" srcOrd="9" destOrd="0" presId="urn:microsoft.com/office/officeart/2008/layout/LinedList"/>
    <dgm:cxn modelId="{39B30D60-633E-42A6-A519-21CB0A1E3926}" type="presParOf" srcId="{2C136FCB-DCA8-41DF-9595-9276CF52D453}" destId="{F792BB67-D60B-4DAE-8EA7-BE38F220AB9B}" srcOrd="0" destOrd="0" presId="urn:microsoft.com/office/officeart/2008/layout/LinedList"/>
    <dgm:cxn modelId="{3990D053-3F0F-4825-9299-D4ECCBEC71C8}" type="presParOf" srcId="{2C136FCB-DCA8-41DF-9595-9276CF52D453}" destId="{839ED0FB-2549-4A3C-B783-729447C68558}" srcOrd="1" destOrd="0" presId="urn:microsoft.com/office/officeart/2008/layout/LinedList"/>
    <dgm:cxn modelId="{D830207B-DF7D-44A3-B9F5-3CCFE11B1587}" type="presParOf" srcId="{6B8E6AF2-F758-40A5-83F2-8FCF53ED2634}" destId="{97797247-7BAA-43D6-8BE2-6CA97839A49F}" srcOrd="10" destOrd="0" presId="urn:microsoft.com/office/officeart/2008/layout/LinedList"/>
    <dgm:cxn modelId="{3F974ED0-1D1B-4E0B-8557-0F005080E97E}" type="presParOf" srcId="{6B8E6AF2-F758-40A5-83F2-8FCF53ED2634}" destId="{64789532-308D-4AA1-99AA-7A79200DC538}" srcOrd="11" destOrd="0" presId="urn:microsoft.com/office/officeart/2008/layout/LinedList"/>
    <dgm:cxn modelId="{B0C19A60-D432-4A07-B99B-E44862933CA5}" type="presParOf" srcId="{64789532-308D-4AA1-99AA-7A79200DC538}" destId="{E550BD3A-3FB8-497C-B2B9-1F9DCF361E4C}" srcOrd="0" destOrd="0" presId="urn:microsoft.com/office/officeart/2008/layout/LinedList"/>
    <dgm:cxn modelId="{530D5728-65CF-480C-AB08-5343E6F0240B}" type="presParOf" srcId="{64789532-308D-4AA1-99AA-7A79200DC538}" destId="{CD66AFE2-A2FF-4A23-92A8-F2EA2FA5FA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424968-74EA-4CC8-A78C-047131990DE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99D989-7090-436C-BA42-19002CC1F9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slide explains how </a:t>
          </a:r>
          <a:r>
            <a:rPr lang="en-US" b="1"/>
            <a:t>data security is implemented in the dashboard</a:t>
          </a:r>
          <a:r>
            <a:rPr lang="en-US"/>
            <a:t>.</a:t>
          </a:r>
        </a:p>
      </dgm:t>
    </dgm:pt>
    <dgm:pt modelId="{5DA9D0C4-D6CD-4CA1-9DD0-C268EE9BC186}" type="parTrans" cxnId="{C8315E5F-3C27-440F-AA40-71D28A998E4C}">
      <dgm:prSet/>
      <dgm:spPr/>
      <dgm:t>
        <a:bodyPr/>
        <a:lstStyle/>
        <a:p>
          <a:endParaRPr lang="en-US"/>
        </a:p>
      </dgm:t>
    </dgm:pt>
    <dgm:pt modelId="{C29377C4-0132-455B-A2AC-6E1836C46D90}" type="sibTrans" cxnId="{C8315E5F-3C27-440F-AA40-71D28A998E4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626DB6-F6EE-455D-8B9D-4486045316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Row Level Security ensures users </a:t>
          </a:r>
          <a:r>
            <a:rPr lang="en-US" b="1"/>
            <a:t>only see data relevant to their assigned role</a:t>
          </a:r>
          <a:r>
            <a:rPr lang="en-US"/>
            <a:t>.</a:t>
          </a:r>
        </a:p>
      </dgm:t>
    </dgm:pt>
    <dgm:pt modelId="{3087B0CF-B6A9-4528-B732-F5E47CACAA19}" type="parTrans" cxnId="{480335C9-D5BC-4FCD-8215-54D24D77A77B}">
      <dgm:prSet/>
      <dgm:spPr/>
      <dgm:t>
        <a:bodyPr/>
        <a:lstStyle/>
        <a:p>
          <a:endParaRPr lang="en-US"/>
        </a:p>
      </dgm:t>
    </dgm:pt>
    <dgm:pt modelId="{CD765DBA-E164-476F-8526-AE9B02AA40C7}" type="sibTrans" cxnId="{480335C9-D5BC-4FCD-8215-54D24D77A7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D7D34F-7829-44BA-886A-42D70879DA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Separate roles were created for </a:t>
          </a:r>
          <a:r>
            <a:rPr lang="en-US" b="1"/>
            <a:t>Grade A, Grade B, and Grade C</a:t>
          </a:r>
          <a:r>
            <a:rPr lang="en-US"/>
            <a:t>, restricting access accordingly.</a:t>
          </a:r>
        </a:p>
      </dgm:t>
    </dgm:pt>
    <dgm:pt modelId="{22092518-5457-4308-8AD0-594ECA02D469}" type="parTrans" cxnId="{0FBDD06F-FB56-4168-897C-4661E3C7F43A}">
      <dgm:prSet/>
      <dgm:spPr/>
      <dgm:t>
        <a:bodyPr/>
        <a:lstStyle/>
        <a:p>
          <a:endParaRPr lang="en-US"/>
        </a:p>
      </dgm:t>
    </dgm:pt>
    <dgm:pt modelId="{1B1D37A2-F231-4D31-AD3E-1527393BE587}" type="sibTrans" cxnId="{0FBDD06F-FB56-4168-897C-4661E3C7F4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33DDB7-855F-4578-BEE5-B661A393C4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DAX filters enforce row-level restrictions</a:t>
          </a:r>
          <a:r>
            <a:rPr lang="en-US"/>
            <a:t>, preventing unauthorized data exposure.</a:t>
          </a:r>
        </a:p>
      </dgm:t>
    </dgm:pt>
    <dgm:pt modelId="{3E217DC2-50DB-4495-A08F-B5F4A9E93138}" type="parTrans" cxnId="{E6BF21B9-0FF0-4C9D-9AF3-F62E7A0235F2}">
      <dgm:prSet/>
      <dgm:spPr/>
      <dgm:t>
        <a:bodyPr/>
        <a:lstStyle/>
        <a:p>
          <a:endParaRPr lang="en-US"/>
        </a:p>
      </dgm:t>
    </dgm:pt>
    <dgm:pt modelId="{C5CF6BC5-9084-423A-9802-FE166DD763C8}" type="sibTrans" cxnId="{E6BF21B9-0FF0-4C9D-9AF3-F62E7A0235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00CF866-086A-42A4-98B5-02DDFD7A50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b="1"/>
            <a:t>‘View As’ feature</a:t>
          </a:r>
          <a:r>
            <a:rPr lang="en-US"/>
            <a:t> was used to test and validate each role’s access.</a:t>
          </a:r>
        </a:p>
      </dgm:t>
    </dgm:pt>
    <dgm:pt modelId="{04F08712-CD7F-422C-AFC3-2D2897CBF064}" type="parTrans" cxnId="{365479AA-0DC8-4F1A-8572-3CCA25F7388A}">
      <dgm:prSet/>
      <dgm:spPr/>
      <dgm:t>
        <a:bodyPr/>
        <a:lstStyle/>
        <a:p>
          <a:endParaRPr lang="en-US"/>
        </a:p>
      </dgm:t>
    </dgm:pt>
    <dgm:pt modelId="{978005C7-23FA-4D41-AA73-6F5849F41126}" type="sibTrans" cxnId="{365479AA-0DC8-4F1A-8572-3CCA25F738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DB2ADB-78EB-4465-B18C-D47AF52CFD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setup ensures </a:t>
          </a:r>
          <a:r>
            <a:rPr lang="en-US" b="1"/>
            <a:t>sensitive borrower information is protected</a:t>
          </a:r>
          <a:r>
            <a:rPr lang="en-US"/>
            <a:t>, aligning with real-world enterprise security practices.</a:t>
          </a:r>
        </a:p>
      </dgm:t>
    </dgm:pt>
    <dgm:pt modelId="{50760255-0D87-41C3-B302-4E76C066740F}" type="parTrans" cxnId="{A55E550C-D4C3-44AE-97E0-55EE93639DD0}">
      <dgm:prSet/>
      <dgm:spPr/>
      <dgm:t>
        <a:bodyPr/>
        <a:lstStyle/>
        <a:p>
          <a:endParaRPr lang="en-US"/>
        </a:p>
      </dgm:t>
    </dgm:pt>
    <dgm:pt modelId="{48274798-0576-48A2-A72F-E5012DF4C748}" type="sibTrans" cxnId="{A55E550C-D4C3-44AE-97E0-55EE93639DD0}">
      <dgm:prSet/>
      <dgm:spPr/>
      <dgm:t>
        <a:bodyPr/>
        <a:lstStyle/>
        <a:p>
          <a:endParaRPr lang="en-US"/>
        </a:p>
      </dgm:t>
    </dgm:pt>
    <dgm:pt modelId="{3EB8FD1A-2AC4-4DE2-88F5-A7A80A3004FC}" type="pres">
      <dgm:prSet presAssocID="{2B424968-74EA-4CC8-A78C-047131990DED}" presName="root" presStyleCnt="0">
        <dgm:presLayoutVars>
          <dgm:dir/>
          <dgm:resizeHandles val="exact"/>
        </dgm:presLayoutVars>
      </dgm:prSet>
      <dgm:spPr/>
    </dgm:pt>
    <dgm:pt modelId="{DB6A5501-E3DD-4AF1-B230-B40A4682A24A}" type="pres">
      <dgm:prSet presAssocID="{2B424968-74EA-4CC8-A78C-047131990DED}" presName="container" presStyleCnt="0">
        <dgm:presLayoutVars>
          <dgm:dir/>
          <dgm:resizeHandles val="exact"/>
        </dgm:presLayoutVars>
      </dgm:prSet>
      <dgm:spPr/>
    </dgm:pt>
    <dgm:pt modelId="{47646953-3ABF-46FF-AE5E-FE7C03DC1049}" type="pres">
      <dgm:prSet presAssocID="{2099D989-7090-436C-BA42-19002CC1F98B}" presName="compNode" presStyleCnt="0"/>
      <dgm:spPr/>
    </dgm:pt>
    <dgm:pt modelId="{3DF42FEB-F4CB-49C3-A05D-71CFE46F1975}" type="pres">
      <dgm:prSet presAssocID="{2099D989-7090-436C-BA42-19002CC1F98B}" presName="iconBgRect" presStyleLbl="bgShp" presStyleIdx="0" presStyleCnt="6"/>
      <dgm:spPr/>
    </dgm:pt>
    <dgm:pt modelId="{7AB0B0AC-25E1-404F-8E05-305B88D64D2F}" type="pres">
      <dgm:prSet presAssocID="{2099D989-7090-436C-BA42-19002CC1F98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617C5516-9338-4875-B94D-E064207DF56D}" type="pres">
      <dgm:prSet presAssocID="{2099D989-7090-436C-BA42-19002CC1F98B}" presName="spaceRect" presStyleCnt="0"/>
      <dgm:spPr/>
    </dgm:pt>
    <dgm:pt modelId="{C63C385E-E60D-4291-9B60-DB4C02E43F75}" type="pres">
      <dgm:prSet presAssocID="{2099D989-7090-436C-BA42-19002CC1F98B}" presName="textRect" presStyleLbl="revTx" presStyleIdx="0" presStyleCnt="6">
        <dgm:presLayoutVars>
          <dgm:chMax val="1"/>
          <dgm:chPref val="1"/>
        </dgm:presLayoutVars>
      </dgm:prSet>
      <dgm:spPr/>
    </dgm:pt>
    <dgm:pt modelId="{630DDA69-F3A7-410A-B254-636099DFDC0F}" type="pres">
      <dgm:prSet presAssocID="{C29377C4-0132-455B-A2AC-6E1836C46D90}" presName="sibTrans" presStyleLbl="sibTrans2D1" presStyleIdx="0" presStyleCnt="0"/>
      <dgm:spPr/>
    </dgm:pt>
    <dgm:pt modelId="{1526A335-0E46-486A-A5D0-966D7F10E3C6}" type="pres">
      <dgm:prSet presAssocID="{25626DB6-F6EE-455D-8B9D-4486045316B7}" presName="compNode" presStyleCnt="0"/>
      <dgm:spPr/>
    </dgm:pt>
    <dgm:pt modelId="{0BB511C3-5501-43CD-93F5-7C4D0723F6C3}" type="pres">
      <dgm:prSet presAssocID="{25626DB6-F6EE-455D-8B9D-4486045316B7}" presName="iconBgRect" presStyleLbl="bgShp" presStyleIdx="1" presStyleCnt="6"/>
      <dgm:spPr/>
    </dgm:pt>
    <dgm:pt modelId="{854FAD61-D8F4-4700-B950-199CFD9FCB33}" type="pres">
      <dgm:prSet presAssocID="{25626DB6-F6EE-455D-8B9D-4486045316B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97159A5-EA44-4746-AA63-3DC8FCF6C434}" type="pres">
      <dgm:prSet presAssocID="{25626DB6-F6EE-455D-8B9D-4486045316B7}" presName="spaceRect" presStyleCnt="0"/>
      <dgm:spPr/>
    </dgm:pt>
    <dgm:pt modelId="{30FE078B-3FA5-47F4-9EB8-C53D52066B10}" type="pres">
      <dgm:prSet presAssocID="{25626DB6-F6EE-455D-8B9D-4486045316B7}" presName="textRect" presStyleLbl="revTx" presStyleIdx="1" presStyleCnt="6">
        <dgm:presLayoutVars>
          <dgm:chMax val="1"/>
          <dgm:chPref val="1"/>
        </dgm:presLayoutVars>
      </dgm:prSet>
      <dgm:spPr/>
    </dgm:pt>
    <dgm:pt modelId="{B2D36BCE-4C9E-45C6-87F7-A81A1C672F5F}" type="pres">
      <dgm:prSet presAssocID="{CD765DBA-E164-476F-8526-AE9B02AA40C7}" presName="sibTrans" presStyleLbl="sibTrans2D1" presStyleIdx="0" presStyleCnt="0"/>
      <dgm:spPr/>
    </dgm:pt>
    <dgm:pt modelId="{77CE7007-E619-49A6-A1CC-1113E0464D96}" type="pres">
      <dgm:prSet presAssocID="{1ED7D34F-7829-44BA-886A-42D70879DA35}" presName="compNode" presStyleCnt="0"/>
      <dgm:spPr/>
    </dgm:pt>
    <dgm:pt modelId="{C5B54ADF-2293-4064-B70B-3E9426334B1A}" type="pres">
      <dgm:prSet presAssocID="{1ED7D34F-7829-44BA-886A-42D70879DA35}" presName="iconBgRect" presStyleLbl="bgShp" presStyleIdx="2" presStyleCnt="6"/>
      <dgm:spPr/>
    </dgm:pt>
    <dgm:pt modelId="{5C5B26F9-447C-4CB5-9663-5FEBCC91F001}" type="pres">
      <dgm:prSet presAssocID="{1ED7D34F-7829-44BA-886A-42D70879DA3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FE1534D-DCC2-4D48-86E3-3BC781516201}" type="pres">
      <dgm:prSet presAssocID="{1ED7D34F-7829-44BA-886A-42D70879DA35}" presName="spaceRect" presStyleCnt="0"/>
      <dgm:spPr/>
    </dgm:pt>
    <dgm:pt modelId="{3EB43310-BEEE-443D-9178-1B919FD4152C}" type="pres">
      <dgm:prSet presAssocID="{1ED7D34F-7829-44BA-886A-42D70879DA35}" presName="textRect" presStyleLbl="revTx" presStyleIdx="2" presStyleCnt="6">
        <dgm:presLayoutVars>
          <dgm:chMax val="1"/>
          <dgm:chPref val="1"/>
        </dgm:presLayoutVars>
      </dgm:prSet>
      <dgm:spPr/>
    </dgm:pt>
    <dgm:pt modelId="{398D38DE-72AF-4CCB-9ABE-74E46A5646A0}" type="pres">
      <dgm:prSet presAssocID="{1B1D37A2-F231-4D31-AD3E-1527393BE587}" presName="sibTrans" presStyleLbl="sibTrans2D1" presStyleIdx="0" presStyleCnt="0"/>
      <dgm:spPr/>
    </dgm:pt>
    <dgm:pt modelId="{A9DE3FC6-2750-4768-9F63-6F70A0ECF81E}" type="pres">
      <dgm:prSet presAssocID="{7533DDB7-855F-4578-BEE5-B661A393C46B}" presName="compNode" presStyleCnt="0"/>
      <dgm:spPr/>
    </dgm:pt>
    <dgm:pt modelId="{580FA3A1-6D04-4F2E-B744-485CE5DA5589}" type="pres">
      <dgm:prSet presAssocID="{7533DDB7-855F-4578-BEE5-B661A393C46B}" presName="iconBgRect" presStyleLbl="bgShp" presStyleIdx="3" presStyleCnt="6"/>
      <dgm:spPr/>
    </dgm:pt>
    <dgm:pt modelId="{901E6490-F4FE-4D0C-8DA6-DD79E8A0E241}" type="pres">
      <dgm:prSet presAssocID="{7533DDB7-855F-4578-BEE5-B661A393C46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32ACF59E-0C6E-421A-8636-4EC97E614F8E}" type="pres">
      <dgm:prSet presAssocID="{7533DDB7-855F-4578-BEE5-B661A393C46B}" presName="spaceRect" presStyleCnt="0"/>
      <dgm:spPr/>
    </dgm:pt>
    <dgm:pt modelId="{8B48664D-7DE5-447D-9BFE-0E990BBFDDC6}" type="pres">
      <dgm:prSet presAssocID="{7533DDB7-855F-4578-BEE5-B661A393C46B}" presName="textRect" presStyleLbl="revTx" presStyleIdx="3" presStyleCnt="6">
        <dgm:presLayoutVars>
          <dgm:chMax val="1"/>
          <dgm:chPref val="1"/>
        </dgm:presLayoutVars>
      </dgm:prSet>
      <dgm:spPr/>
    </dgm:pt>
    <dgm:pt modelId="{485698AB-A080-4495-ADD4-77E3983F3C01}" type="pres">
      <dgm:prSet presAssocID="{C5CF6BC5-9084-423A-9802-FE166DD763C8}" presName="sibTrans" presStyleLbl="sibTrans2D1" presStyleIdx="0" presStyleCnt="0"/>
      <dgm:spPr/>
    </dgm:pt>
    <dgm:pt modelId="{A61171F1-43A9-4193-99F2-3EF5507A398F}" type="pres">
      <dgm:prSet presAssocID="{400CF866-086A-42A4-98B5-02DDFD7A50B4}" presName="compNode" presStyleCnt="0"/>
      <dgm:spPr/>
    </dgm:pt>
    <dgm:pt modelId="{6E382155-BB12-48B3-A1CF-FB8A99EA6C4B}" type="pres">
      <dgm:prSet presAssocID="{400CF866-086A-42A4-98B5-02DDFD7A50B4}" presName="iconBgRect" presStyleLbl="bgShp" presStyleIdx="4" presStyleCnt="6"/>
      <dgm:spPr/>
    </dgm:pt>
    <dgm:pt modelId="{722750F5-C12F-4E66-996C-3A52A707D79A}" type="pres">
      <dgm:prSet presAssocID="{400CF866-086A-42A4-98B5-02DDFD7A50B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1F6686E-A972-4C9E-A5DB-97738AD18429}" type="pres">
      <dgm:prSet presAssocID="{400CF866-086A-42A4-98B5-02DDFD7A50B4}" presName="spaceRect" presStyleCnt="0"/>
      <dgm:spPr/>
    </dgm:pt>
    <dgm:pt modelId="{21AD7119-447B-41C1-AD62-6B95AB2AD2E0}" type="pres">
      <dgm:prSet presAssocID="{400CF866-086A-42A4-98B5-02DDFD7A50B4}" presName="textRect" presStyleLbl="revTx" presStyleIdx="4" presStyleCnt="6">
        <dgm:presLayoutVars>
          <dgm:chMax val="1"/>
          <dgm:chPref val="1"/>
        </dgm:presLayoutVars>
      </dgm:prSet>
      <dgm:spPr/>
    </dgm:pt>
    <dgm:pt modelId="{9195579F-1922-424C-AF7C-5CE87739D368}" type="pres">
      <dgm:prSet presAssocID="{978005C7-23FA-4D41-AA73-6F5849F41126}" presName="sibTrans" presStyleLbl="sibTrans2D1" presStyleIdx="0" presStyleCnt="0"/>
      <dgm:spPr/>
    </dgm:pt>
    <dgm:pt modelId="{D4CBBD24-A2AF-440C-B6D3-35F071A5E9EA}" type="pres">
      <dgm:prSet presAssocID="{BEDB2ADB-78EB-4465-B18C-D47AF52CFDA5}" presName="compNode" presStyleCnt="0"/>
      <dgm:spPr/>
    </dgm:pt>
    <dgm:pt modelId="{23581D4F-A2FD-41EF-A316-CB828AB4492F}" type="pres">
      <dgm:prSet presAssocID="{BEDB2ADB-78EB-4465-B18C-D47AF52CFDA5}" presName="iconBgRect" presStyleLbl="bgShp" presStyleIdx="5" presStyleCnt="6"/>
      <dgm:spPr/>
    </dgm:pt>
    <dgm:pt modelId="{E8465A23-B032-4EEE-BE23-29C3BD4DAB7B}" type="pres">
      <dgm:prSet presAssocID="{BEDB2ADB-78EB-4465-B18C-D47AF52CFDA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D59CECD-CE59-4E8D-B289-660C803E4A09}" type="pres">
      <dgm:prSet presAssocID="{BEDB2ADB-78EB-4465-B18C-D47AF52CFDA5}" presName="spaceRect" presStyleCnt="0"/>
      <dgm:spPr/>
    </dgm:pt>
    <dgm:pt modelId="{72C0431F-6EC3-4AA6-832D-E199B7552983}" type="pres">
      <dgm:prSet presAssocID="{BEDB2ADB-78EB-4465-B18C-D47AF52CFDA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C10120C-A301-429B-AF89-2FAB630B1647}" type="presOf" srcId="{2B424968-74EA-4CC8-A78C-047131990DED}" destId="{3EB8FD1A-2AC4-4DE2-88F5-A7A80A3004FC}" srcOrd="0" destOrd="0" presId="urn:microsoft.com/office/officeart/2018/2/layout/IconCircleList"/>
    <dgm:cxn modelId="{A55E550C-D4C3-44AE-97E0-55EE93639DD0}" srcId="{2B424968-74EA-4CC8-A78C-047131990DED}" destId="{BEDB2ADB-78EB-4465-B18C-D47AF52CFDA5}" srcOrd="5" destOrd="0" parTransId="{50760255-0D87-41C3-B302-4E76C066740F}" sibTransId="{48274798-0576-48A2-A72F-E5012DF4C748}"/>
    <dgm:cxn modelId="{A77B682B-56A8-4AE0-BEAF-961F6F0FE30C}" type="presOf" srcId="{1ED7D34F-7829-44BA-886A-42D70879DA35}" destId="{3EB43310-BEEE-443D-9178-1B919FD4152C}" srcOrd="0" destOrd="0" presId="urn:microsoft.com/office/officeart/2018/2/layout/IconCircleList"/>
    <dgm:cxn modelId="{AA98AB35-5E92-407C-9930-158696365445}" type="presOf" srcId="{1B1D37A2-F231-4D31-AD3E-1527393BE587}" destId="{398D38DE-72AF-4CCB-9ABE-74E46A5646A0}" srcOrd="0" destOrd="0" presId="urn:microsoft.com/office/officeart/2018/2/layout/IconCircleList"/>
    <dgm:cxn modelId="{81686936-4382-4390-89D8-8E81C49C2BF5}" type="presOf" srcId="{CD765DBA-E164-476F-8526-AE9B02AA40C7}" destId="{B2D36BCE-4C9E-45C6-87F7-A81A1C672F5F}" srcOrd="0" destOrd="0" presId="urn:microsoft.com/office/officeart/2018/2/layout/IconCircleList"/>
    <dgm:cxn modelId="{31236939-0D02-4FC3-B905-DB5BDA3D9374}" type="presOf" srcId="{BEDB2ADB-78EB-4465-B18C-D47AF52CFDA5}" destId="{72C0431F-6EC3-4AA6-832D-E199B7552983}" srcOrd="0" destOrd="0" presId="urn:microsoft.com/office/officeart/2018/2/layout/IconCircleList"/>
    <dgm:cxn modelId="{BACB9C5E-D223-4CF1-AFD1-512651A6C63B}" type="presOf" srcId="{2099D989-7090-436C-BA42-19002CC1F98B}" destId="{C63C385E-E60D-4291-9B60-DB4C02E43F75}" srcOrd="0" destOrd="0" presId="urn:microsoft.com/office/officeart/2018/2/layout/IconCircleList"/>
    <dgm:cxn modelId="{C8315E5F-3C27-440F-AA40-71D28A998E4C}" srcId="{2B424968-74EA-4CC8-A78C-047131990DED}" destId="{2099D989-7090-436C-BA42-19002CC1F98B}" srcOrd="0" destOrd="0" parTransId="{5DA9D0C4-D6CD-4CA1-9DD0-C268EE9BC186}" sibTransId="{C29377C4-0132-455B-A2AC-6E1836C46D90}"/>
    <dgm:cxn modelId="{BABBF362-3064-4618-9560-CCDF4AF11F56}" type="presOf" srcId="{C5CF6BC5-9084-423A-9802-FE166DD763C8}" destId="{485698AB-A080-4495-ADD4-77E3983F3C01}" srcOrd="0" destOrd="0" presId="urn:microsoft.com/office/officeart/2018/2/layout/IconCircleList"/>
    <dgm:cxn modelId="{A5E2B846-F908-437D-875D-8537547D2A92}" type="presOf" srcId="{400CF866-086A-42A4-98B5-02DDFD7A50B4}" destId="{21AD7119-447B-41C1-AD62-6B95AB2AD2E0}" srcOrd="0" destOrd="0" presId="urn:microsoft.com/office/officeart/2018/2/layout/IconCircleList"/>
    <dgm:cxn modelId="{E9833547-20AC-4774-BDC1-66A2A9608DF2}" type="presOf" srcId="{978005C7-23FA-4D41-AA73-6F5849F41126}" destId="{9195579F-1922-424C-AF7C-5CE87739D368}" srcOrd="0" destOrd="0" presId="urn:microsoft.com/office/officeart/2018/2/layout/IconCircleList"/>
    <dgm:cxn modelId="{C10E2E49-D0EB-4AA9-912D-26C089CD17DA}" type="presOf" srcId="{25626DB6-F6EE-455D-8B9D-4486045316B7}" destId="{30FE078B-3FA5-47F4-9EB8-C53D52066B10}" srcOrd="0" destOrd="0" presId="urn:microsoft.com/office/officeart/2018/2/layout/IconCircleList"/>
    <dgm:cxn modelId="{0FBDD06F-FB56-4168-897C-4661E3C7F43A}" srcId="{2B424968-74EA-4CC8-A78C-047131990DED}" destId="{1ED7D34F-7829-44BA-886A-42D70879DA35}" srcOrd="2" destOrd="0" parTransId="{22092518-5457-4308-8AD0-594ECA02D469}" sibTransId="{1B1D37A2-F231-4D31-AD3E-1527393BE587}"/>
    <dgm:cxn modelId="{365479AA-0DC8-4F1A-8572-3CCA25F7388A}" srcId="{2B424968-74EA-4CC8-A78C-047131990DED}" destId="{400CF866-086A-42A4-98B5-02DDFD7A50B4}" srcOrd="4" destOrd="0" parTransId="{04F08712-CD7F-422C-AFC3-2D2897CBF064}" sibTransId="{978005C7-23FA-4D41-AA73-6F5849F41126}"/>
    <dgm:cxn modelId="{8ED57BB3-5FC0-4C1C-8062-05062A14E6BD}" type="presOf" srcId="{C29377C4-0132-455B-A2AC-6E1836C46D90}" destId="{630DDA69-F3A7-410A-B254-636099DFDC0F}" srcOrd="0" destOrd="0" presId="urn:microsoft.com/office/officeart/2018/2/layout/IconCircleList"/>
    <dgm:cxn modelId="{E6BF21B9-0FF0-4C9D-9AF3-F62E7A0235F2}" srcId="{2B424968-74EA-4CC8-A78C-047131990DED}" destId="{7533DDB7-855F-4578-BEE5-B661A393C46B}" srcOrd="3" destOrd="0" parTransId="{3E217DC2-50DB-4495-A08F-B5F4A9E93138}" sibTransId="{C5CF6BC5-9084-423A-9802-FE166DD763C8}"/>
    <dgm:cxn modelId="{B0AAA1C3-A155-48AE-816C-4A49435CF454}" type="presOf" srcId="{7533DDB7-855F-4578-BEE5-B661A393C46B}" destId="{8B48664D-7DE5-447D-9BFE-0E990BBFDDC6}" srcOrd="0" destOrd="0" presId="urn:microsoft.com/office/officeart/2018/2/layout/IconCircleList"/>
    <dgm:cxn modelId="{480335C9-D5BC-4FCD-8215-54D24D77A77B}" srcId="{2B424968-74EA-4CC8-A78C-047131990DED}" destId="{25626DB6-F6EE-455D-8B9D-4486045316B7}" srcOrd="1" destOrd="0" parTransId="{3087B0CF-B6A9-4528-B732-F5E47CACAA19}" sibTransId="{CD765DBA-E164-476F-8526-AE9B02AA40C7}"/>
    <dgm:cxn modelId="{E99104D6-D5C8-4C6E-9F33-5EFFD28CD67A}" type="presParOf" srcId="{3EB8FD1A-2AC4-4DE2-88F5-A7A80A3004FC}" destId="{DB6A5501-E3DD-4AF1-B230-B40A4682A24A}" srcOrd="0" destOrd="0" presId="urn:microsoft.com/office/officeart/2018/2/layout/IconCircleList"/>
    <dgm:cxn modelId="{84906DDA-57FD-4EFC-A7F5-D7297BF6A95D}" type="presParOf" srcId="{DB6A5501-E3DD-4AF1-B230-B40A4682A24A}" destId="{47646953-3ABF-46FF-AE5E-FE7C03DC1049}" srcOrd="0" destOrd="0" presId="urn:microsoft.com/office/officeart/2018/2/layout/IconCircleList"/>
    <dgm:cxn modelId="{558D5A84-611F-4E3D-9C03-CCF642AF9A80}" type="presParOf" srcId="{47646953-3ABF-46FF-AE5E-FE7C03DC1049}" destId="{3DF42FEB-F4CB-49C3-A05D-71CFE46F1975}" srcOrd="0" destOrd="0" presId="urn:microsoft.com/office/officeart/2018/2/layout/IconCircleList"/>
    <dgm:cxn modelId="{A939326C-C938-4E9A-BF65-2E3D05DF4D6D}" type="presParOf" srcId="{47646953-3ABF-46FF-AE5E-FE7C03DC1049}" destId="{7AB0B0AC-25E1-404F-8E05-305B88D64D2F}" srcOrd="1" destOrd="0" presId="urn:microsoft.com/office/officeart/2018/2/layout/IconCircleList"/>
    <dgm:cxn modelId="{9068623A-C0B4-4A9B-BBD1-555A705ADDD6}" type="presParOf" srcId="{47646953-3ABF-46FF-AE5E-FE7C03DC1049}" destId="{617C5516-9338-4875-B94D-E064207DF56D}" srcOrd="2" destOrd="0" presId="urn:microsoft.com/office/officeart/2018/2/layout/IconCircleList"/>
    <dgm:cxn modelId="{90CBDCC4-AF7F-4AB4-BD85-4F0BEF88E2A6}" type="presParOf" srcId="{47646953-3ABF-46FF-AE5E-FE7C03DC1049}" destId="{C63C385E-E60D-4291-9B60-DB4C02E43F75}" srcOrd="3" destOrd="0" presId="urn:microsoft.com/office/officeart/2018/2/layout/IconCircleList"/>
    <dgm:cxn modelId="{D172FF68-3736-45E7-8589-A2165187FB14}" type="presParOf" srcId="{DB6A5501-E3DD-4AF1-B230-B40A4682A24A}" destId="{630DDA69-F3A7-410A-B254-636099DFDC0F}" srcOrd="1" destOrd="0" presId="urn:microsoft.com/office/officeart/2018/2/layout/IconCircleList"/>
    <dgm:cxn modelId="{701B6AC6-A18F-431E-B08E-A9087BA942D9}" type="presParOf" srcId="{DB6A5501-E3DD-4AF1-B230-B40A4682A24A}" destId="{1526A335-0E46-486A-A5D0-966D7F10E3C6}" srcOrd="2" destOrd="0" presId="urn:microsoft.com/office/officeart/2018/2/layout/IconCircleList"/>
    <dgm:cxn modelId="{901C98AD-8FC6-4709-9F00-8D454924B3C4}" type="presParOf" srcId="{1526A335-0E46-486A-A5D0-966D7F10E3C6}" destId="{0BB511C3-5501-43CD-93F5-7C4D0723F6C3}" srcOrd="0" destOrd="0" presId="urn:microsoft.com/office/officeart/2018/2/layout/IconCircleList"/>
    <dgm:cxn modelId="{534CD693-B710-4101-BF49-A0A8ADB7A143}" type="presParOf" srcId="{1526A335-0E46-486A-A5D0-966D7F10E3C6}" destId="{854FAD61-D8F4-4700-B950-199CFD9FCB33}" srcOrd="1" destOrd="0" presId="urn:microsoft.com/office/officeart/2018/2/layout/IconCircleList"/>
    <dgm:cxn modelId="{4B551ACA-2C2D-4EE6-88A4-80F303DEE089}" type="presParOf" srcId="{1526A335-0E46-486A-A5D0-966D7F10E3C6}" destId="{197159A5-EA44-4746-AA63-3DC8FCF6C434}" srcOrd="2" destOrd="0" presId="urn:microsoft.com/office/officeart/2018/2/layout/IconCircleList"/>
    <dgm:cxn modelId="{EB21B8A4-DB68-4D8B-A1B8-B61C8F31F5E1}" type="presParOf" srcId="{1526A335-0E46-486A-A5D0-966D7F10E3C6}" destId="{30FE078B-3FA5-47F4-9EB8-C53D52066B10}" srcOrd="3" destOrd="0" presId="urn:microsoft.com/office/officeart/2018/2/layout/IconCircleList"/>
    <dgm:cxn modelId="{D6F18C57-A7F6-43EA-BEB6-9A5582BFADFF}" type="presParOf" srcId="{DB6A5501-E3DD-4AF1-B230-B40A4682A24A}" destId="{B2D36BCE-4C9E-45C6-87F7-A81A1C672F5F}" srcOrd="3" destOrd="0" presId="urn:microsoft.com/office/officeart/2018/2/layout/IconCircleList"/>
    <dgm:cxn modelId="{0A3B4602-41E8-4EF2-9073-9277B127A898}" type="presParOf" srcId="{DB6A5501-E3DD-4AF1-B230-B40A4682A24A}" destId="{77CE7007-E619-49A6-A1CC-1113E0464D96}" srcOrd="4" destOrd="0" presId="urn:microsoft.com/office/officeart/2018/2/layout/IconCircleList"/>
    <dgm:cxn modelId="{88334618-EDC7-477D-A4C1-5D1956BF6D96}" type="presParOf" srcId="{77CE7007-E619-49A6-A1CC-1113E0464D96}" destId="{C5B54ADF-2293-4064-B70B-3E9426334B1A}" srcOrd="0" destOrd="0" presId="urn:microsoft.com/office/officeart/2018/2/layout/IconCircleList"/>
    <dgm:cxn modelId="{80487F4C-A9E0-41E2-81F0-40C7A41EDC08}" type="presParOf" srcId="{77CE7007-E619-49A6-A1CC-1113E0464D96}" destId="{5C5B26F9-447C-4CB5-9663-5FEBCC91F001}" srcOrd="1" destOrd="0" presId="urn:microsoft.com/office/officeart/2018/2/layout/IconCircleList"/>
    <dgm:cxn modelId="{45E52E96-9118-40CF-98F4-232C4C6C47AF}" type="presParOf" srcId="{77CE7007-E619-49A6-A1CC-1113E0464D96}" destId="{DFE1534D-DCC2-4D48-86E3-3BC781516201}" srcOrd="2" destOrd="0" presId="urn:microsoft.com/office/officeart/2018/2/layout/IconCircleList"/>
    <dgm:cxn modelId="{26475BCE-9041-490E-8DFF-C409B4EBBDDC}" type="presParOf" srcId="{77CE7007-E619-49A6-A1CC-1113E0464D96}" destId="{3EB43310-BEEE-443D-9178-1B919FD4152C}" srcOrd="3" destOrd="0" presId="urn:microsoft.com/office/officeart/2018/2/layout/IconCircleList"/>
    <dgm:cxn modelId="{9E7084F9-0D2D-49B6-B7EC-AA5F251AAE48}" type="presParOf" srcId="{DB6A5501-E3DD-4AF1-B230-B40A4682A24A}" destId="{398D38DE-72AF-4CCB-9ABE-74E46A5646A0}" srcOrd="5" destOrd="0" presId="urn:microsoft.com/office/officeart/2018/2/layout/IconCircleList"/>
    <dgm:cxn modelId="{7D0BE797-4B17-4F17-BBEE-8D4610B96A34}" type="presParOf" srcId="{DB6A5501-E3DD-4AF1-B230-B40A4682A24A}" destId="{A9DE3FC6-2750-4768-9F63-6F70A0ECF81E}" srcOrd="6" destOrd="0" presId="urn:microsoft.com/office/officeart/2018/2/layout/IconCircleList"/>
    <dgm:cxn modelId="{2DFFBAE6-4B7B-4341-BFC6-37478378AB62}" type="presParOf" srcId="{A9DE3FC6-2750-4768-9F63-6F70A0ECF81E}" destId="{580FA3A1-6D04-4F2E-B744-485CE5DA5589}" srcOrd="0" destOrd="0" presId="urn:microsoft.com/office/officeart/2018/2/layout/IconCircleList"/>
    <dgm:cxn modelId="{1EFAED32-DCA8-4479-9888-822E4F3D330D}" type="presParOf" srcId="{A9DE3FC6-2750-4768-9F63-6F70A0ECF81E}" destId="{901E6490-F4FE-4D0C-8DA6-DD79E8A0E241}" srcOrd="1" destOrd="0" presId="urn:microsoft.com/office/officeart/2018/2/layout/IconCircleList"/>
    <dgm:cxn modelId="{5E475D6F-4676-4492-9C43-63C5DE480C96}" type="presParOf" srcId="{A9DE3FC6-2750-4768-9F63-6F70A0ECF81E}" destId="{32ACF59E-0C6E-421A-8636-4EC97E614F8E}" srcOrd="2" destOrd="0" presId="urn:microsoft.com/office/officeart/2018/2/layout/IconCircleList"/>
    <dgm:cxn modelId="{CF4F1334-6E6A-4415-9F1C-50013411E05E}" type="presParOf" srcId="{A9DE3FC6-2750-4768-9F63-6F70A0ECF81E}" destId="{8B48664D-7DE5-447D-9BFE-0E990BBFDDC6}" srcOrd="3" destOrd="0" presId="urn:microsoft.com/office/officeart/2018/2/layout/IconCircleList"/>
    <dgm:cxn modelId="{9B190439-F028-4C0E-9305-8BD6021F0E3D}" type="presParOf" srcId="{DB6A5501-E3DD-4AF1-B230-B40A4682A24A}" destId="{485698AB-A080-4495-ADD4-77E3983F3C01}" srcOrd="7" destOrd="0" presId="urn:microsoft.com/office/officeart/2018/2/layout/IconCircleList"/>
    <dgm:cxn modelId="{EF876E8F-5EA3-4FBA-BD04-C0547D07E775}" type="presParOf" srcId="{DB6A5501-E3DD-4AF1-B230-B40A4682A24A}" destId="{A61171F1-43A9-4193-99F2-3EF5507A398F}" srcOrd="8" destOrd="0" presId="urn:microsoft.com/office/officeart/2018/2/layout/IconCircleList"/>
    <dgm:cxn modelId="{848A85AC-DDD9-4546-84F5-86C9A4396ECC}" type="presParOf" srcId="{A61171F1-43A9-4193-99F2-3EF5507A398F}" destId="{6E382155-BB12-48B3-A1CF-FB8A99EA6C4B}" srcOrd="0" destOrd="0" presId="urn:microsoft.com/office/officeart/2018/2/layout/IconCircleList"/>
    <dgm:cxn modelId="{79DA463D-9F70-47CE-9DF8-D441D5352649}" type="presParOf" srcId="{A61171F1-43A9-4193-99F2-3EF5507A398F}" destId="{722750F5-C12F-4E66-996C-3A52A707D79A}" srcOrd="1" destOrd="0" presId="urn:microsoft.com/office/officeart/2018/2/layout/IconCircleList"/>
    <dgm:cxn modelId="{9CDAC29B-409F-4C49-B93B-965661A557F8}" type="presParOf" srcId="{A61171F1-43A9-4193-99F2-3EF5507A398F}" destId="{61F6686E-A972-4C9E-A5DB-97738AD18429}" srcOrd="2" destOrd="0" presId="urn:microsoft.com/office/officeart/2018/2/layout/IconCircleList"/>
    <dgm:cxn modelId="{3D366B6F-A8AB-4AAA-84A0-A40732453CCF}" type="presParOf" srcId="{A61171F1-43A9-4193-99F2-3EF5507A398F}" destId="{21AD7119-447B-41C1-AD62-6B95AB2AD2E0}" srcOrd="3" destOrd="0" presId="urn:microsoft.com/office/officeart/2018/2/layout/IconCircleList"/>
    <dgm:cxn modelId="{481B523E-3CFB-4987-98B8-005B57038AB8}" type="presParOf" srcId="{DB6A5501-E3DD-4AF1-B230-B40A4682A24A}" destId="{9195579F-1922-424C-AF7C-5CE87739D368}" srcOrd="9" destOrd="0" presId="urn:microsoft.com/office/officeart/2018/2/layout/IconCircleList"/>
    <dgm:cxn modelId="{662806BF-82A3-44DE-8DF0-DBED0405C96C}" type="presParOf" srcId="{DB6A5501-E3DD-4AF1-B230-B40A4682A24A}" destId="{D4CBBD24-A2AF-440C-B6D3-35F071A5E9EA}" srcOrd="10" destOrd="0" presId="urn:microsoft.com/office/officeart/2018/2/layout/IconCircleList"/>
    <dgm:cxn modelId="{2A3E4565-8D99-46EC-B5B9-6C85712732E7}" type="presParOf" srcId="{D4CBBD24-A2AF-440C-B6D3-35F071A5E9EA}" destId="{23581D4F-A2FD-41EF-A316-CB828AB4492F}" srcOrd="0" destOrd="0" presId="urn:microsoft.com/office/officeart/2018/2/layout/IconCircleList"/>
    <dgm:cxn modelId="{D427A7A6-F84B-45F0-AE36-AAB8348136E1}" type="presParOf" srcId="{D4CBBD24-A2AF-440C-B6D3-35F071A5E9EA}" destId="{E8465A23-B032-4EEE-BE23-29C3BD4DAB7B}" srcOrd="1" destOrd="0" presId="urn:microsoft.com/office/officeart/2018/2/layout/IconCircleList"/>
    <dgm:cxn modelId="{02F70929-CD21-4F8D-A4A3-D00676446EBB}" type="presParOf" srcId="{D4CBBD24-A2AF-440C-B6D3-35F071A5E9EA}" destId="{6D59CECD-CE59-4E8D-B289-660C803E4A09}" srcOrd="2" destOrd="0" presId="urn:microsoft.com/office/officeart/2018/2/layout/IconCircleList"/>
    <dgm:cxn modelId="{850C1AF9-BC05-4422-91F5-A5C38D6FEBFD}" type="presParOf" srcId="{D4CBBD24-A2AF-440C-B6D3-35F071A5E9EA}" destId="{72C0431F-6EC3-4AA6-832D-E199B755298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4A19F6-C3F1-47F7-A52C-2434330218A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4475D8-52B8-4BF0-9860-A37036726A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dashboard provides a </a:t>
          </a:r>
          <a:r>
            <a:rPr lang="en-US" b="1"/>
            <a:t>comprehensive view of credit risk across multiple dimensions</a:t>
          </a:r>
          <a:r>
            <a:rPr lang="en-US"/>
            <a:t>.</a:t>
          </a:r>
        </a:p>
      </dgm:t>
    </dgm:pt>
    <dgm:pt modelId="{69537AF1-1E5D-4A52-95C1-F34133BF2DF7}" type="parTrans" cxnId="{A02E5F29-1C55-4639-8093-C1FC13B259A2}">
      <dgm:prSet/>
      <dgm:spPr/>
      <dgm:t>
        <a:bodyPr/>
        <a:lstStyle/>
        <a:p>
          <a:endParaRPr lang="en-US"/>
        </a:p>
      </dgm:t>
    </dgm:pt>
    <dgm:pt modelId="{266A44D2-6A08-4869-B8D5-3A9FACFB8191}" type="sibTrans" cxnId="{A02E5F29-1C55-4639-8093-C1FC13B259A2}">
      <dgm:prSet/>
      <dgm:spPr/>
      <dgm:t>
        <a:bodyPr/>
        <a:lstStyle/>
        <a:p>
          <a:endParaRPr lang="en-US"/>
        </a:p>
      </dgm:t>
    </dgm:pt>
    <dgm:pt modelId="{37BD1853-2D3E-4AC5-953D-D067016498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loan portfolio totals approximately </a:t>
          </a:r>
          <a:r>
            <a:rPr lang="en-US" b="1"/>
            <a:t>312M</a:t>
          </a:r>
          <a:r>
            <a:rPr lang="en-US"/>
            <a:t>, supported by a strong </a:t>
          </a:r>
          <a:r>
            <a:rPr lang="en-US" b="1"/>
            <a:t>average income of 66K</a:t>
          </a:r>
          <a:r>
            <a:rPr lang="en-US"/>
            <a:t>.</a:t>
          </a:r>
        </a:p>
      </dgm:t>
    </dgm:pt>
    <dgm:pt modelId="{616E26B5-EC54-449E-9DA8-7AB07664B8B9}" type="parTrans" cxnId="{3DD53596-1DF9-4E30-89F4-7EAF16C21634}">
      <dgm:prSet/>
      <dgm:spPr/>
      <dgm:t>
        <a:bodyPr/>
        <a:lstStyle/>
        <a:p>
          <a:endParaRPr lang="en-US"/>
        </a:p>
      </dgm:t>
    </dgm:pt>
    <dgm:pt modelId="{DD5C0EEF-168C-4E50-97F4-A57F11BEF007}" type="sibTrans" cxnId="{3DD53596-1DF9-4E30-89F4-7EAF16C21634}">
      <dgm:prSet/>
      <dgm:spPr/>
      <dgm:t>
        <a:bodyPr/>
        <a:lstStyle/>
        <a:p>
          <a:endParaRPr lang="en-US"/>
        </a:p>
      </dgm:t>
    </dgm:pt>
    <dgm:pt modelId="{9E6BB22C-3A8B-486E-9BD7-1030B22881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Employment length clearly influences default probability, especially for early-career borrowers.</a:t>
          </a:r>
        </a:p>
      </dgm:t>
    </dgm:pt>
    <dgm:pt modelId="{B9B2E357-D709-4A53-92E9-2645B4ECFCB4}" type="parTrans" cxnId="{2974CCE1-0517-4C0E-BC18-AB2A1E479220}">
      <dgm:prSet/>
      <dgm:spPr/>
      <dgm:t>
        <a:bodyPr/>
        <a:lstStyle/>
        <a:p>
          <a:endParaRPr lang="en-US"/>
        </a:p>
      </dgm:t>
    </dgm:pt>
    <dgm:pt modelId="{7DB2B63A-BB6B-4660-8D5D-2BDAA0148DCA}" type="sibTrans" cxnId="{2974CCE1-0517-4C0E-BC18-AB2A1E479220}">
      <dgm:prSet/>
      <dgm:spPr/>
      <dgm:t>
        <a:bodyPr/>
        <a:lstStyle/>
        <a:p>
          <a:endParaRPr lang="en-US"/>
        </a:p>
      </dgm:t>
    </dgm:pt>
    <dgm:pt modelId="{F63255D0-8873-40E9-8D2E-6EC692606C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Grades F and G consistently show the highest combined risk</a:t>
          </a:r>
          <a:r>
            <a:rPr lang="en-US"/>
            <a:t> across metrics.</a:t>
          </a:r>
        </a:p>
      </dgm:t>
    </dgm:pt>
    <dgm:pt modelId="{35D8DB22-14FC-47A3-861F-8A12D9899EED}" type="parTrans" cxnId="{A3CF6E3D-CAB6-4559-84AD-EC8461F83AF9}">
      <dgm:prSet/>
      <dgm:spPr/>
      <dgm:t>
        <a:bodyPr/>
        <a:lstStyle/>
        <a:p>
          <a:endParaRPr lang="en-US"/>
        </a:p>
      </dgm:t>
    </dgm:pt>
    <dgm:pt modelId="{9CB6ECD0-4DF6-4453-809B-9104186B467A}" type="sibTrans" cxnId="{A3CF6E3D-CAB6-4559-84AD-EC8461F83AF9}">
      <dgm:prSet/>
      <dgm:spPr/>
      <dgm:t>
        <a:bodyPr/>
        <a:lstStyle/>
        <a:p>
          <a:endParaRPr lang="en-US"/>
        </a:p>
      </dgm:t>
    </dgm:pt>
    <dgm:pt modelId="{BF60BB05-FAA3-4532-9D43-2730FFF25A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Medical and education loans indicate </a:t>
          </a:r>
          <a:r>
            <a:rPr lang="en-US" b="1"/>
            <a:t>higher borrowing stress</a:t>
          </a:r>
          <a:r>
            <a:rPr lang="en-US"/>
            <a:t> due to elevated loan-to-income ratios.</a:t>
          </a:r>
        </a:p>
      </dgm:t>
    </dgm:pt>
    <dgm:pt modelId="{963F5DE1-61C7-4AE5-AEE9-EA0B8FC4414A}" type="parTrans" cxnId="{88897617-FA96-4870-B8B7-4D9C99B9C787}">
      <dgm:prSet/>
      <dgm:spPr/>
      <dgm:t>
        <a:bodyPr/>
        <a:lstStyle/>
        <a:p>
          <a:endParaRPr lang="en-US"/>
        </a:p>
      </dgm:t>
    </dgm:pt>
    <dgm:pt modelId="{897FF01B-7BE1-41E0-BA32-C45016EF3FBD}" type="sibTrans" cxnId="{88897617-FA96-4870-B8B7-4D9C99B9C787}">
      <dgm:prSet/>
      <dgm:spPr/>
      <dgm:t>
        <a:bodyPr/>
        <a:lstStyle/>
        <a:p>
          <a:endParaRPr lang="en-US"/>
        </a:p>
      </dgm:t>
    </dgm:pt>
    <dgm:pt modelId="{60098919-70A4-4A20-A8CB-6AC1B69A5C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What-if analysis and segmentation features enable </a:t>
          </a:r>
          <a:r>
            <a:rPr lang="en-US" b="1"/>
            <a:t>data-driven risk assessment and decision-making</a:t>
          </a:r>
          <a:r>
            <a:rPr lang="en-US"/>
            <a:t>.</a:t>
          </a:r>
        </a:p>
      </dgm:t>
    </dgm:pt>
    <dgm:pt modelId="{BABB5596-2261-4F64-A7AB-0B0F6849B4C4}" type="parTrans" cxnId="{F2557DC6-3316-4CEF-A750-18C3368FDB54}">
      <dgm:prSet/>
      <dgm:spPr/>
      <dgm:t>
        <a:bodyPr/>
        <a:lstStyle/>
        <a:p>
          <a:endParaRPr lang="en-US"/>
        </a:p>
      </dgm:t>
    </dgm:pt>
    <dgm:pt modelId="{F5148B76-2EDD-4E62-948C-7CBB7B60EF77}" type="sibTrans" cxnId="{F2557DC6-3316-4CEF-A750-18C3368FDB54}">
      <dgm:prSet/>
      <dgm:spPr/>
      <dgm:t>
        <a:bodyPr/>
        <a:lstStyle/>
        <a:p>
          <a:endParaRPr lang="en-US"/>
        </a:p>
      </dgm:t>
    </dgm:pt>
    <dgm:pt modelId="{B3713B04-A461-4EF3-857E-BAC3BF4560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Overall, the dashboard allows stakeholders to </a:t>
          </a:r>
          <a:r>
            <a:rPr lang="en-US" b="1"/>
            <a:t>identify risk quickly and act proactively</a:t>
          </a:r>
          <a:r>
            <a:rPr lang="en-US"/>
            <a:t>.</a:t>
          </a:r>
        </a:p>
      </dgm:t>
    </dgm:pt>
    <dgm:pt modelId="{C5657BF5-0130-4B7C-B57A-C4553DF41BC6}" type="parTrans" cxnId="{0A47824C-3A3B-40E8-8BF0-E4832086FAE9}">
      <dgm:prSet/>
      <dgm:spPr/>
      <dgm:t>
        <a:bodyPr/>
        <a:lstStyle/>
        <a:p>
          <a:endParaRPr lang="en-US"/>
        </a:p>
      </dgm:t>
    </dgm:pt>
    <dgm:pt modelId="{6458BB58-B987-42A8-8EAA-38F5FCC8B7C5}" type="sibTrans" cxnId="{0A47824C-3A3B-40E8-8BF0-E4832086FAE9}">
      <dgm:prSet/>
      <dgm:spPr/>
      <dgm:t>
        <a:bodyPr/>
        <a:lstStyle/>
        <a:p>
          <a:endParaRPr lang="en-US"/>
        </a:p>
      </dgm:t>
    </dgm:pt>
    <dgm:pt modelId="{F2C388B9-7BD1-441A-812C-20A2A1670B8C}" type="pres">
      <dgm:prSet presAssocID="{EE4A19F6-C3F1-47F7-A52C-2434330218A6}" presName="root" presStyleCnt="0">
        <dgm:presLayoutVars>
          <dgm:dir/>
          <dgm:resizeHandles val="exact"/>
        </dgm:presLayoutVars>
      </dgm:prSet>
      <dgm:spPr/>
    </dgm:pt>
    <dgm:pt modelId="{13079992-9283-401C-AC5F-6C3D477A0A02}" type="pres">
      <dgm:prSet presAssocID="{DF4475D8-52B8-4BF0-9860-A37036726A2A}" presName="compNode" presStyleCnt="0"/>
      <dgm:spPr/>
    </dgm:pt>
    <dgm:pt modelId="{6653C95E-E737-4EF0-BA58-0ED5BE6720F6}" type="pres">
      <dgm:prSet presAssocID="{DF4475D8-52B8-4BF0-9860-A37036726A2A}" presName="bgRect" presStyleLbl="bgShp" presStyleIdx="0" presStyleCnt="7"/>
      <dgm:spPr/>
    </dgm:pt>
    <dgm:pt modelId="{87DB9795-6D5D-4BF6-9264-FD11165E8A7E}" type="pres">
      <dgm:prSet presAssocID="{DF4475D8-52B8-4BF0-9860-A37036726A2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9F75FBA-5922-47E9-929C-7268C79E2AA4}" type="pres">
      <dgm:prSet presAssocID="{DF4475D8-52B8-4BF0-9860-A37036726A2A}" presName="spaceRect" presStyleCnt="0"/>
      <dgm:spPr/>
    </dgm:pt>
    <dgm:pt modelId="{A8F1FE1D-C1F4-4933-BC1F-3AD0EFC61A47}" type="pres">
      <dgm:prSet presAssocID="{DF4475D8-52B8-4BF0-9860-A37036726A2A}" presName="parTx" presStyleLbl="revTx" presStyleIdx="0" presStyleCnt="7">
        <dgm:presLayoutVars>
          <dgm:chMax val="0"/>
          <dgm:chPref val="0"/>
        </dgm:presLayoutVars>
      </dgm:prSet>
      <dgm:spPr/>
    </dgm:pt>
    <dgm:pt modelId="{149E1165-F27E-4822-9207-7B9BEFDF17DF}" type="pres">
      <dgm:prSet presAssocID="{266A44D2-6A08-4869-B8D5-3A9FACFB8191}" presName="sibTrans" presStyleCnt="0"/>
      <dgm:spPr/>
    </dgm:pt>
    <dgm:pt modelId="{3F5FF364-8CD0-4052-A1ED-02F1A848952F}" type="pres">
      <dgm:prSet presAssocID="{37BD1853-2D3E-4AC5-953D-D0670164982E}" presName="compNode" presStyleCnt="0"/>
      <dgm:spPr/>
    </dgm:pt>
    <dgm:pt modelId="{2DF83B91-ECA6-4D8B-A8DC-FBF26D0DF840}" type="pres">
      <dgm:prSet presAssocID="{37BD1853-2D3E-4AC5-953D-D0670164982E}" presName="bgRect" presStyleLbl="bgShp" presStyleIdx="1" presStyleCnt="7"/>
      <dgm:spPr/>
    </dgm:pt>
    <dgm:pt modelId="{4F0747EE-7D7E-4BD1-ADE9-3643DF5F6121}" type="pres">
      <dgm:prSet presAssocID="{37BD1853-2D3E-4AC5-953D-D0670164982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DDF2E9C-ECC8-45CC-837F-15D6CFE79F84}" type="pres">
      <dgm:prSet presAssocID="{37BD1853-2D3E-4AC5-953D-D0670164982E}" presName="spaceRect" presStyleCnt="0"/>
      <dgm:spPr/>
    </dgm:pt>
    <dgm:pt modelId="{2AE6F93A-714F-4F69-9F7F-D32B94100E6A}" type="pres">
      <dgm:prSet presAssocID="{37BD1853-2D3E-4AC5-953D-D0670164982E}" presName="parTx" presStyleLbl="revTx" presStyleIdx="1" presStyleCnt="7">
        <dgm:presLayoutVars>
          <dgm:chMax val="0"/>
          <dgm:chPref val="0"/>
        </dgm:presLayoutVars>
      </dgm:prSet>
      <dgm:spPr/>
    </dgm:pt>
    <dgm:pt modelId="{EFEB2CCF-85A2-47CD-8467-F035FC6C1229}" type="pres">
      <dgm:prSet presAssocID="{DD5C0EEF-168C-4E50-97F4-A57F11BEF007}" presName="sibTrans" presStyleCnt="0"/>
      <dgm:spPr/>
    </dgm:pt>
    <dgm:pt modelId="{CAFFC36C-B081-40BB-85A3-F9A30381B275}" type="pres">
      <dgm:prSet presAssocID="{9E6BB22C-3A8B-486E-9BD7-1030B22881CB}" presName="compNode" presStyleCnt="0"/>
      <dgm:spPr/>
    </dgm:pt>
    <dgm:pt modelId="{54FA9827-FCFD-47C6-8F8C-F0398DF55E8A}" type="pres">
      <dgm:prSet presAssocID="{9E6BB22C-3A8B-486E-9BD7-1030B22881CB}" presName="bgRect" presStyleLbl="bgShp" presStyleIdx="2" presStyleCnt="7"/>
      <dgm:spPr/>
    </dgm:pt>
    <dgm:pt modelId="{1BE8A567-81EE-4E22-8E7F-215B9C00CA63}" type="pres">
      <dgm:prSet presAssocID="{9E6BB22C-3A8B-486E-9BD7-1030B22881CB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A36370A-FB98-4F47-BA2E-9429CD258517}" type="pres">
      <dgm:prSet presAssocID="{9E6BB22C-3A8B-486E-9BD7-1030B22881CB}" presName="spaceRect" presStyleCnt="0"/>
      <dgm:spPr/>
    </dgm:pt>
    <dgm:pt modelId="{88650120-F043-4D18-9AC5-B46097735E4D}" type="pres">
      <dgm:prSet presAssocID="{9E6BB22C-3A8B-486E-9BD7-1030B22881CB}" presName="parTx" presStyleLbl="revTx" presStyleIdx="2" presStyleCnt="7">
        <dgm:presLayoutVars>
          <dgm:chMax val="0"/>
          <dgm:chPref val="0"/>
        </dgm:presLayoutVars>
      </dgm:prSet>
      <dgm:spPr/>
    </dgm:pt>
    <dgm:pt modelId="{740FBA19-D4E2-4745-A06A-EBA759FC9CAF}" type="pres">
      <dgm:prSet presAssocID="{7DB2B63A-BB6B-4660-8D5D-2BDAA0148DCA}" presName="sibTrans" presStyleCnt="0"/>
      <dgm:spPr/>
    </dgm:pt>
    <dgm:pt modelId="{45018873-E13C-4051-BEDD-5AFFE3D5570A}" type="pres">
      <dgm:prSet presAssocID="{F63255D0-8873-40E9-8D2E-6EC692606CE7}" presName="compNode" presStyleCnt="0"/>
      <dgm:spPr/>
    </dgm:pt>
    <dgm:pt modelId="{A9290D1A-30C0-4F85-BCD9-2C0861E84C5B}" type="pres">
      <dgm:prSet presAssocID="{F63255D0-8873-40E9-8D2E-6EC692606CE7}" presName="bgRect" presStyleLbl="bgShp" presStyleIdx="3" presStyleCnt="7"/>
      <dgm:spPr/>
    </dgm:pt>
    <dgm:pt modelId="{D1C79339-9DCE-42A9-A6CD-781EE54B6DB0}" type="pres">
      <dgm:prSet presAssocID="{F63255D0-8873-40E9-8D2E-6EC692606CE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E93D6158-DD25-4E9A-87AF-133D64533C58}" type="pres">
      <dgm:prSet presAssocID="{F63255D0-8873-40E9-8D2E-6EC692606CE7}" presName="spaceRect" presStyleCnt="0"/>
      <dgm:spPr/>
    </dgm:pt>
    <dgm:pt modelId="{6813E9A2-B96A-490F-9253-B6870D40EBC3}" type="pres">
      <dgm:prSet presAssocID="{F63255D0-8873-40E9-8D2E-6EC692606CE7}" presName="parTx" presStyleLbl="revTx" presStyleIdx="3" presStyleCnt="7">
        <dgm:presLayoutVars>
          <dgm:chMax val="0"/>
          <dgm:chPref val="0"/>
        </dgm:presLayoutVars>
      </dgm:prSet>
      <dgm:spPr/>
    </dgm:pt>
    <dgm:pt modelId="{1B06CF6B-D757-4690-A3D9-CFE1BC2298AB}" type="pres">
      <dgm:prSet presAssocID="{9CB6ECD0-4DF6-4453-809B-9104186B467A}" presName="sibTrans" presStyleCnt="0"/>
      <dgm:spPr/>
    </dgm:pt>
    <dgm:pt modelId="{A24926FF-41C8-41C8-8730-89DC8E941AFE}" type="pres">
      <dgm:prSet presAssocID="{BF60BB05-FAA3-4532-9D43-2730FFF25A08}" presName="compNode" presStyleCnt="0"/>
      <dgm:spPr/>
    </dgm:pt>
    <dgm:pt modelId="{A4EB2349-E783-43C0-A74A-14B8C70F19FF}" type="pres">
      <dgm:prSet presAssocID="{BF60BB05-FAA3-4532-9D43-2730FFF25A08}" presName="bgRect" presStyleLbl="bgShp" presStyleIdx="4" presStyleCnt="7"/>
      <dgm:spPr/>
    </dgm:pt>
    <dgm:pt modelId="{038289C7-F18E-498A-ADB7-E1B44A659CB2}" type="pres">
      <dgm:prSet presAssocID="{BF60BB05-FAA3-4532-9D43-2730FFF25A08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790B946E-4992-4BE3-A1EB-B76ECD20035E}" type="pres">
      <dgm:prSet presAssocID="{BF60BB05-FAA3-4532-9D43-2730FFF25A08}" presName="spaceRect" presStyleCnt="0"/>
      <dgm:spPr/>
    </dgm:pt>
    <dgm:pt modelId="{738A5A2F-9E19-4A2D-9B78-0214B2627748}" type="pres">
      <dgm:prSet presAssocID="{BF60BB05-FAA3-4532-9D43-2730FFF25A08}" presName="parTx" presStyleLbl="revTx" presStyleIdx="4" presStyleCnt="7">
        <dgm:presLayoutVars>
          <dgm:chMax val="0"/>
          <dgm:chPref val="0"/>
        </dgm:presLayoutVars>
      </dgm:prSet>
      <dgm:spPr/>
    </dgm:pt>
    <dgm:pt modelId="{08EF9C8D-2DF0-4A2B-8A89-16888D03FF71}" type="pres">
      <dgm:prSet presAssocID="{897FF01B-7BE1-41E0-BA32-C45016EF3FBD}" presName="sibTrans" presStyleCnt="0"/>
      <dgm:spPr/>
    </dgm:pt>
    <dgm:pt modelId="{32C772A5-CDF6-44A3-91BF-C506B193743E}" type="pres">
      <dgm:prSet presAssocID="{60098919-70A4-4A20-A8CB-6AC1B69A5C50}" presName="compNode" presStyleCnt="0"/>
      <dgm:spPr/>
    </dgm:pt>
    <dgm:pt modelId="{E6CFC3E9-772A-4F84-9A4B-4A3E57FA417A}" type="pres">
      <dgm:prSet presAssocID="{60098919-70A4-4A20-A8CB-6AC1B69A5C50}" presName="bgRect" presStyleLbl="bgShp" presStyleIdx="5" presStyleCnt="7"/>
      <dgm:spPr/>
    </dgm:pt>
    <dgm:pt modelId="{907CF089-A77E-4B8B-810B-84CD5433657E}" type="pres">
      <dgm:prSet presAssocID="{60098919-70A4-4A20-A8CB-6AC1B69A5C50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392596D-9A70-457F-A522-A9008A808760}" type="pres">
      <dgm:prSet presAssocID="{60098919-70A4-4A20-A8CB-6AC1B69A5C50}" presName="spaceRect" presStyleCnt="0"/>
      <dgm:spPr/>
    </dgm:pt>
    <dgm:pt modelId="{9CB7872C-AE0F-4C33-AA70-4DC2F6F1C96A}" type="pres">
      <dgm:prSet presAssocID="{60098919-70A4-4A20-A8CB-6AC1B69A5C50}" presName="parTx" presStyleLbl="revTx" presStyleIdx="5" presStyleCnt="7">
        <dgm:presLayoutVars>
          <dgm:chMax val="0"/>
          <dgm:chPref val="0"/>
        </dgm:presLayoutVars>
      </dgm:prSet>
      <dgm:spPr/>
    </dgm:pt>
    <dgm:pt modelId="{F32EFFB9-1DDE-41CF-BD32-4B669576DB20}" type="pres">
      <dgm:prSet presAssocID="{F5148B76-2EDD-4E62-948C-7CBB7B60EF77}" presName="sibTrans" presStyleCnt="0"/>
      <dgm:spPr/>
    </dgm:pt>
    <dgm:pt modelId="{26D88988-4646-425D-8F8A-DD4646332855}" type="pres">
      <dgm:prSet presAssocID="{B3713B04-A461-4EF3-857E-BAC3BF45605B}" presName="compNode" presStyleCnt="0"/>
      <dgm:spPr/>
    </dgm:pt>
    <dgm:pt modelId="{03E23BB2-8379-4C8B-A956-E383C7CB6DBF}" type="pres">
      <dgm:prSet presAssocID="{B3713B04-A461-4EF3-857E-BAC3BF45605B}" presName="bgRect" presStyleLbl="bgShp" presStyleIdx="6" presStyleCnt="7"/>
      <dgm:spPr/>
    </dgm:pt>
    <dgm:pt modelId="{18E8DB0B-9A05-4D66-B732-E5F1372FBBB5}" type="pres">
      <dgm:prSet presAssocID="{B3713B04-A461-4EF3-857E-BAC3BF45605B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1D14F15-3D5A-491C-8F05-777DC37BB4FC}" type="pres">
      <dgm:prSet presAssocID="{B3713B04-A461-4EF3-857E-BAC3BF45605B}" presName="spaceRect" presStyleCnt="0"/>
      <dgm:spPr/>
    </dgm:pt>
    <dgm:pt modelId="{FE6EC104-D7A3-48FD-935E-E1F64AED2C48}" type="pres">
      <dgm:prSet presAssocID="{B3713B04-A461-4EF3-857E-BAC3BF45605B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8897617-FA96-4870-B8B7-4D9C99B9C787}" srcId="{EE4A19F6-C3F1-47F7-A52C-2434330218A6}" destId="{BF60BB05-FAA3-4532-9D43-2730FFF25A08}" srcOrd="4" destOrd="0" parTransId="{963F5DE1-61C7-4AE5-AEE9-EA0B8FC4414A}" sibTransId="{897FF01B-7BE1-41E0-BA32-C45016EF3FBD}"/>
    <dgm:cxn modelId="{A02E5F29-1C55-4639-8093-C1FC13B259A2}" srcId="{EE4A19F6-C3F1-47F7-A52C-2434330218A6}" destId="{DF4475D8-52B8-4BF0-9860-A37036726A2A}" srcOrd="0" destOrd="0" parTransId="{69537AF1-1E5D-4A52-95C1-F34133BF2DF7}" sibTransId="{266A44D2-6A08-4869-B8D5-3A9FACFB8191}"/>
    <dgm:cxn modelId="{A3CF6E3D-CAB6-4559-84AD-EC8461F83AF9}" srcId="{EE4A19F6-C3F1-47F7-A52C-2434330218A6}" destId="{F63255D0-8873-40E9-8D2E-6EC692606CE7}" srcOrd="3" destOrd="0" parTransId="{35D8DB22-14FC-47A3-861F-8A12D9899EED}" sibTransId="{9CB6ECD0-4DF6-4453-809B-9104186B467A}"/>
    <dgm:cxn modelId="{273B2467-2C14-4FD1-B713-39A5070A8C5B}" type="presOf" srcId="{EE4A19F6-C3F1-47F7-A52C-2434330218A6}" destId="{F2C388B9-7BD1-441A-812C-20A2A1670B8C}" srcOrd="0" destOrd="0" presId="urn:microsoft.com/office/officeart/2018/2/layout/IconVerticalSolidList"/>
    <dgm:cxn modelId="{22E47A69-79DD-4CE8-B7CA-24B19A1DEFA8}" type="presOf" srcId="{37BD1853-2D3E-4AC5-953D-D0670164982E}" destId="{2AE6F93A-714F-4F69-9F7F-D32B94100E6A}" srcOrd="0" destOrd="0" presId="urn:microsoft.com/office/officeart/2018/2/layout/IconVerticalSolidList"/>
    <dgm:cxn modelId="{0A47824C-3A3B-40E8-8BF0-E4832086FAE9}" srcId="{EE4A19F6-C3F1-47F7-A52C-2434330218A6}" destId="{B3713B04-A461-4EF3-857E-BAC3BF45605B}" srcOrd="6" destOrd="0" parTransId="{C5657BF5-0130-4B7C-B57A-C4553DF41BC6}" sibTransId="{6458BB58-B987-42A8-8EAA-38F5FCC8B7C5}"/>
    <dgm:cxn modelId="{2BAA5052-7169-409B-8ADC-2CBF9B8B9F1A}" type="presOf" srcId="{9E6BB22C-3A8B-486E-9BD7-1030B22881CB}" destId="{88650120-F043-4D18-9AC5-B46097735E4D}" srcOrd="0" destOrd="0" presId="urn:microsoft.com/office/officeart/2018/2/layout/IconVerticalSolidList"/>
    <dgm:cxn modelId="{D6671E74-A0B3-4C1D-9507-C81AAC4DD716}" type="presOf" srcId="{F63255D0-8873-40E9-8D2E-6EC692606CE7}" destId="{6813E9A2-B96A-490F-9253-B6870D40EBC3}" srcOrd="0" destOrd="0" presId="urn:microsoft.com/office/officeart/2018/2/layout/IconVerticalSolidList"/>
    <dgm:cxn modelId="{D101B456-241F-4210-B08F-8C2138C8B479}" type="presOf" srcId="{B3713B04-A461-4EF3-857E-BAC3BF45605B}" destId="{FE6EC104-D7A3-48FD-935E-E1F64AED2C48}" srcOrd="0" destOrd="0" presId="urn:microsoft.com/office/officeart/2018/2/layout/IconVerticalSolidList"/>
    <dgm:cxn modelId="{3DD53596-1DF9-4E30-89F4-7EAF16C21634}" srcId="{EE4A19F6-C3F1-47F7-A52C-2434330218A6}" destId="{37BD1853-2D3E-4AC5-953D-D0670164982E}" srcOrd="1" destOrd="0" parTransId="{616E26B5-EC54-449E-9DA8-7AB07664B8B9}" sibTransId="{DD5C0EEF-168C-4E50-97F4-A57F11BEF007}"/>
    <dgm:cxn modelId="{62222DBC-7B70-4B51-A114-68B0565FAEE4}" type="presOf" srcId="{BF60BB05-FAA3-4532-9D43-2730FFF25A08}" destId="{738A5A2F-9E19-4A2D-9B78-0214B2627748}" srcOrd="0" destOrd="0" presId="urn:microsoft.com/office/officeart/2018/2/layout/IconVerticalSolidList"/>
    <dgm:cxn modelId="{CEA6F6C1-321A-410F-BE7B-F84589158E90}" type="presOf" srcId="{DF4475D8-52B8-4BF0-9860-A37036726A2A}" destId="{A8F1FE1D-C1F4-4933-BC1F-3AD0EFC61A47}" srcOrd="0" destOrd="0" presId="urn:microsoft.com/office/officeart/2018/2/layout/IconVerticalSolidList"/>
    <dgm:cxn modelId="{F2557DC6-3316-4CEF-A750-18C3368FDB54}" srcId="{EE4A19F6-C3F1-47F7-A52C-2434330218A6}" destId="{60098919-70A4-4A20-A8CB-6AC1B69A5C50}" srcOrd="5" destOrd="0" parTransId="{BABB5596-2261-4F64-A7AB-0B0F6849B4C4}" sibTransId="{F5148B76-2EDD-4E62-948C-7CBB7B60EF77}"/>
    <dgm:cxn modelId="{2974CCE1-0517-4C0E-BC18-AB2A1E479220}" srcId="{EE4A19F6-C3F1-47F7-A52C-2434330218A6}" destId="{9E6BB22C-3A8B-486E-9BD7-1030B22881CB}" srcOrd="2" destOrd="0" parTransId="{B9B2E357-D709-4A53-92E9-2645B4ECFCB4}" sibTransId="{7DB2B63A-BB6B-4660-8D5D-2BDAA0148DCA}"/>
    <dgm:cxn modelId="{F9BC02F0-BEBC-44AF-BD1B-BD236E4446A0}" type="presOf" srcId="{60098919-70A4-4A20-A8CB-6AC1B69A5C50}" destId="{9CB7872C-AE0F-4C33-AA70-4DC2F6F1C96A}" srcOrd="0" destOrd="0" presId="urn:microsoft.com/office/officeart/2018/2/layout/IconVerticalSolidList"/>
    <dgm:cxn modelId="{BF3E7AF7-8F85-4D2A-ACC5-8AD5E41ED825}" type="presParOf" srcId="{F2C388B9-7BD1-441A-812C-20A2A1670B8C}" destId="{13079992-9283-401C-AC5F-6C3D477A0A02}" srcOrd="0" destOrd="0" presId="urn:microsoft.com/office/officeart/2018/2/layout/IconVerticalSolidList"/>
    <dgm:cxn modelId="{A7B20E16-3A02-4872-BAC6-287D0AD05342}" type="presParOf" srcId="{13079992-9283-401C-AC5F-6C3D477A0A02}" destId="{6653C95E-E737-4EF0-BA58-0ED5BE6720F6}" srcOrd="0" destOrd="0" presId="urn:microsoft.com/office/officeart/2018/2/layout/IconVerticalSolidList"/>
    <dgm:cxn modelId="{CF4BDA20-E836-4C83-9343-A507940F5939}" type="presParOf" srcId="{13079992-9283-401C-AC5F-6C3D477A0A02}" destId="{87DB9795-6D5D-4BF6-9264-FD11165E8A7E}" srcOrd="1" destOrd="0" presId="urn:microsoft.com/office/officeart/2018/2/layout/IconVerticalSolidList"/>
    <dgm:cxn modelId="{1AF36B9A-8631-4A79-BD5A-16F0B1D2D9FD}" type="presParOf" srcId="{13079992-9283-401C-AC5F-6C3D477A0A02}" destId="{E9F75FBA-5922-47E9-929C-7268C79E2AA4}" srcOrd="2" destOrd="0" presId="urn:microsoft.com/office/officeart/2018/2/layout/IconVerticalSolidList"/>
    <dgm:cxn modelId="{85DD8DDC-A348-49E3-B5BF-D4708584B500}" type="presParOf" srcId="{13079992-9283-401C-AC5F-6C3D477A0A02}" destId="{A8F1FE1D-C1F4-4933-BC1F-3AD0EFC61A47}" srcOrd="3" destOrd="0" presId="urn:microsoft.com/office/officeart/2018/2/layout/IconVerticalSolidList"/>
    <dgm:cxn modelId="{3EBE5E8E-0ACE-482C-A855-93338A5D2403}" type="presParOf" srcId="{F2C388B9-7BD1-441A-812C-20A2A1670B8C}" destId="{149E1165-F27E-4822-9207-7B9BEFDF17DF}" srcOrd="1" destOrd="0" presId="urn:microsoft.com/office/officeart/2018/2/layout/IconVerticalSolidList"/>
    <dgm:cxn modelId="{C68F872D-D632-47D8-804F-5C7921B40F22}" type="presParOf" srcId="{F2C388B9-7BD1-441A-812C-20A2A1670B8C}" destId="{3F5FF364-8CD0-4052-A1ED-02F1A848952F}" srcOrd="2" destOrd="0" presId="urn:microsoft.com/office/officeart/2018/2/layout/IconVerticalSolidList"/>
    <dgm:cxn modelId="{F7FA69B6-1048-42FA-B893-B49183A4E89B}" type="presParOf" srcId="{3F5FF364-8CD0-4052-A1ED-02F1A848952F}" destId="{2DF83B91-ECA6-4D8B-A8DC-FBF26D0DF840}" srcOrd="0" destOrd="0" presId="urn:microsoft.com/office/officeart/2018/2/layout/IconVerticalSolidList"/>
    <dgm:cxn modelId="{2584CDF2-2128-4359-B7A2-F52B87FAEF38}" type="presParOf" srcId="{3F5FF364-8CD0-4052-A1ED-02F1A848952F}" destId="{4F0747EE-7D7E-4BD1-ADE9-3643DF5F6121}" srcOrd="1" destOrd="0" presId="urn:microsoft.com/office/officeart/2018/2/layout/IconVerticalSolidList"/>
    <dgm:cxn modelId="{C186A0B1-C103-4903-8F38-98CD258EF53A}" type="presParOf" srcId="{3F5FF364-8CD0-4052-A1ED-02F1A848952F}" destId="{3DDF2E9C-ECC8-45CC-837F-15D6CFE79F84}" srcOrd="2" destOrd="0" presId="urn:microsoft.com/office/officeart/2018/2/layout/IconVerticalSolidList"/>
    <dgm:cxn modelId="{1510D326-07C4-4FC2-9B88-456F60979D00}" type="presParOf" srcId="{3F5FF364-8CD0-4052-A1ED-02F1A848952F}" destId="{2AE6F93A-714F-4F69-9F7F-D32B94100E6A}" srcOrd="3" destOrd="0" presId="urn:microsoft.com/office/officeart/2018/2/layout/IconVerticalSolidList"/>
    <dgm:cxn modelId="{38CB43F3-1671-44D6-83F3-D9053392A06F}" type="presParOf" srcId="{F2C388B9-7BD1-441A-812C-20A2A1670B8C}" destId="{EFEB2CCF-85A2-47CD-8467-F035FC6C1229}" srcOrd="3" destOrd="0" presId="urn:microsoft.com/office/officeart/2018/2/layout/IconVerticalSolidList"/>
    <dgm:cxn modelId="{05DAAE6F-C544-4A06-9AC0-F68D0830F088}" type="presParOf" srcId="{F2C388B9-7BD1-441A-812C-20A2A1670B8C}" destId="{CAFFC36C-B081-40BB-85A3-F9A30381B275}" srcOrd="4" destOrd="0" presId="urn:microsoft.com/office/officeart/2018/2/layout/IconVerticalSolidList"/>
    <dgm:cxn modelId="{84A2E96E-0A55-44BE-8216-D1C0819C8EEA}" type="presParOf" srcId="{CAFFC36C-B081-40BB-85A3-F9A30381B275}" destId="{54FA9827-FCFD-47C6-8F8C-F0398DF55E8A}" srcOrd="0" destOrd="0" presId="urn:microsoft.com/office/officeart/2018/2/layout/IconVerticalSolidList"/>
    <dgm:cxn modelId="{70F1377E-BE89-4231-BB49-8D740D37E44E}" type="presParOf" srcId="{CAFFC36C-B081-40BB-85A3-F9A30381B275}" destId="{1BE8A567-81EE-4E22-8E7F-215B9C00CA63}" srcOrd="1" destOrd="0" presId="urn:microsoft.com/office/officeart/2018/2/layout/IconVerticalSolidList"/>
    <dgm:cxn modelId="{9DA21B19-2B7F-464D-B462-21B814B45EC0}" type="presParOf" srcId="{CAFFC36C-B081-40BB-85A3-F9A30381B275}" destId="{0A36370A-FB98-4F47-BA2E-9429CD258517}" srcOrd="2" destOrd="0" presId="urn:microsoft.com/office/officeart/2018/2/layout/IconVerticalSolidList"/>
    <dgm:cxn modelId="{136FEBDD-80D3-43C1-84DC-106F22816067}" type="presParOf" srcId="{CAFFC36C-B081-40BB-85A3-F9A30381B275}" destId="{88650120-F043-4D18-9AC5-B46097735E4D}" srcOrd="3" destOrd="0" presId="urn:microsoft.com/office/officeart/2018/2/layout/IconVerticalSolidList"/>
    <dgm:cxn modelId="{6DB4ABBE-0C5E-4D69-9EB6-D649967FB1B5}" type="presParOf" srcId="{F2C388B9-7BD1-441A-812C-20A2A1670B8C}" destId="{740FBA19-D4E2-4745-A06A-EBA759FC9CAF}" srcOrd="5" destOrd="0" presId="urn:microsoft.com/office/officeart/2018/2/layout/IconVerticalSolidList"/>
    <dgm:cxn modelId="{D0EA778D-EC9D-44F5-87F0-D7AB5D63F6A1}" type="presParOf" srcId="{F2C388B9-7BD1-441A-812C-20A2A1670B8C}" destId="{45018873-E13C-4051-BEDD-5AFFE3D5570A}" srcOrd="6" destOrd="0" presId="urn:microsoft.com/office/officeart/2018/2/layout/IconVerticalSolidList"/>
    <dgm:cxn modelId="{848DBF84-C3C1-4095-BC8B-D2062B787055}" type="presParOf" srcId="{45018873-E13C-4051-BEDD-5AFFE3D5570A}" destId="{A9290D1A-30C0-4F85-BCD9-2C0861E84C5B}" srcOrd="0" destOrd="0" presId="urn:microsoft.com/office/officeart/2018/2/layout/IconVerticalSolidList"/>
    <dgm:cxn modelId="{719F4A24-98F4-421C-B057-ED7D9DCA0433}" type="presParOf" srcId="{45018873-E13C-4051-BEDD-5AFFE3D5570A}" destId="{D1C79339-9DCE-42A9-A6CD-781EE54B6DB0}" srcOrd="1" destOrd="0" presId="urn:microsoft.com/office/officeart/2018/2/layout/IconVerticalSolidList"/>
    <dgm:cxn modelId="{4A5E2DAD-0123-47FE-A8EB-2FFFF8BB1C6B}" type="presParOf" srcId="{45018873-E13C-4051-BEDD-5AFFE3D5570A}" destId="{E93D6158-DD25-4E9A-87AF-133D64533C58}" srcOrd="2" destOrd="0" presId="urn:microsoft.com/office/officeart/2018/2/layout/IconVerticalSolidList"/>
    <dgm:cxn modelId="{92E999D8-2E21-473F-83C9-75B581F9DCD9}" type="presParOf" srcId="{45018873-E13C-4051-BEDD-5AFFE3D5570A}" destId="{6813E9A2-B96A-490F-9253-B6870D40EBC3}" srcOrd="3" destOrd="0" presId="urn:microsoft.com/office/officeart/2018/2/layout/IconVerticalSolidList"/>
    <dgm:cxn modelId="{CB36EE84-9DEE-4DE1-A43C-3B3C484D3D1C}" type="presParOf" srcId="{F2C388B9-7BD1-441A-812C-20A2A1670B8C}" destId="{1B06CF6B-D757-4690-A3D9-CFE1BC2298AB}" srcOrd="7" destOrd="0" presId="urn:microsoft.com/office/officeart/2018/2/layout/IconVerticalSolidList"/>
    <dgm:cxn modelId="{277B04BE-BA02-4236-981A-F481F1796CB8}" type="presParOf" srcId="{F2C388B9-7BD1-441A-812C-20A2A1670B8C}" destId="{A24926FF-41C8-41C8-8730-89DC8E941AFE}" srcOrd="8" destOrd="0" presId="urn:microsoft.com/office/officeart/2018/2/layout/IconVerticalSolidList"/>
    <dgm:cxn modelId="{4896E1E8-FBD1-47A3-B182-47BD857961E6}" type="presParOf" srcId="{A24926FF-41C8-41C8-8730-89DC8E941AFE}" destId="{A4EB2349-E783-43C0-A74A-14B8C70F19FF}" srcOrd="0" destOrd="0" presId="urn:microsoft.com/office/officeart/2018/2/layout/IconVerticalSolidList"/>
    <dgm:cxn modelId="{6D59839E-3ED2-4F95-B0DB-696C8D562746}" type="presParOf" srcId="{A24926FF-41C8-41C8-8730-89DC8E941AFE}" destId="{038289C7-F18E-498A-ADB7-E1B44A659CB2}" srcOrd="1" destOrd="0" presId="urn:microsoft.com/office/officeart/2018/2/layout/IconVerticalSolidList"/>
    <dgm:cxn modelId="{D4F34808-5F08-47D0-B4A0-938EB73ABB7F}" type="presParOf" srcId="{A24926FF-41C8-41C8-8730-89DC8E941AFE}" destId="{790B946E-4992-4BE3-A1EB-B76ECD20035E}" srcOrd="2" destOrd="0" presId="urn:microsoft.com/office/officeart/2018/2/layout/IconVerticalSolidList"/>
    <dgm:cxn modelId="{5352E530-2AFD-421A-956D-1BB22854D65F}" type="presParOf" srcId="{A24926FF-41C8-41C8-8730-89DC8E941AFE}" destId="{738A5A2F-9E19-4A2D-9B78-0214B2627748}" srcOrd="3" destOrd="0" presId="urn:microsoft.com/office/officeart/2018/2/layout/IconVerticalSolidList"/>
    <dgm:cxn modelId="{ED8D4B4E-79B1-49F4-BD8D-3451302A1F8D}" type="presParOf" srcId="{F2C388B9-7BD1-441A-812C-20A2A1670B8C}" destId="{08EF9C8D-2DF0-4A2B-8A89-16888D03FF71}" srcOrd="9" destOrd="0" presId="urn:microsoft.com/office/officeart/2018/2/layout/IconVerticalSolidList"/>
    <dgm:cxn modelId="{57CAC0DB-2A15-4457-BE73-F5EA5C33A123}" type="presParOf" srcId="{F2C388B9-7BD1-441A-812C-20A2A1670B8C}" destId="{32C772A5-CDF6-44A3-91BF-C506B193743E}" srcOrd="10" destOrd="0" presId="urn:microsoft.com/office/officeart/2018/2/layout/IconVerticalSolidList"/>
    <dgm:cxn modelId="{8A717701-AE52-4717-98C2-365F73C9BB84}" type="presParOf" srcId="{32C772A5-CDF6-44A3-91BF-C506B193743E}" destId="{E6CFC3E9-772A-4F84-9A4B-4A3E57FA417A}" srcOrd="0" destOrd="0" presId="urn:microsoft.com/office/officeart/2018/2/layout/IconVerticalSolidList"/>
    <dgm:cxn modelId="{82687385-929B-4866-AA56-3D39864CA077}" type="presParOf" srcId="{32C772A5-CDF6-44A3-91BF-C506B193743E}" destId="{907CF089-A77E-4B8B-810B-84CD5433657E}" srcOrd="1" destOrd="0" presId="urn:microsoft.com/office/officeart/2018/2/layout/IconVerticalSolidList"/>
    <dgm:cxn modelId="{13BC8F07-58E8-417B-97F3-E5C48C33B9C5}" type="presParOf" srcId="{32C772A5-CDF6-44A3-91BF-C506B193743E}" destId="{8392596D-9A70-457F-A522-A9008A808760}" srcOrd="2" destOrd="0" presId="urn:microsoft.com/office/officeart/2018/2/layout/IconVerticalSolidList"/>
    <dgm:cxn modelId="{4F733793-DEF2-4EE6-9960-85F96F7C5792}" type="presParOf" srcId="{32C772A5-CDF6-44A3-91BF-C506B193743E}" destId="{9CB7872C-AE0F-4C33-AA70-4DC2F6F1C96A}" srcOrd="3" destOrd="0" presId="urn:microsoft.com/office/officeart/2018/2/layout/IconVerticalSolidList"/>
    <dgm:cxn modelId="{8B50627F-7DF6-41D5-9B9A-29D20C15CF8C}" type="presParOf" srcId="{F2C388B9-7BD1-441A-812C-20A2A1670B8C}" destId="{F32EFFB9-1DDE-41CF-BD32-4B669576DB20}" srcOrd="11" destOrd="0" presId="urn:microsoft.com/office/officeart/2018/2/layout/IconVerticalSolidList"/>
    <dgm:cxn modelId="{AD91A5F2-1ACE-4883-8DE7-6276A1900AF4}" type="presParOf" srcId="{F2C388B9-7BD1-441A-812C-20A2A1670B8C}" destId="{26D88988-4646-425D-8F8A-DD4646332855}" srcOrd="12" destOrd="0" presId="urn:microsoft.com/office/officeart/2018/2/layout/IconVerticalSolidList"/>
    <dgm:cxn modelId="{CB818FBA-0D63-4AC2-899F-664C4D80F7E1}" type="presParOf" srcId="{26D88988-4646-425D-8F8A-DD4646332855}" destId="{03E23BB2-8379-4C8B-A956-E383C7CB6DBF}" srcOrd="0" destOrd="0" presId="urn:microsoft.com/office/officeart/2018/2/layout/IconVerticalSolidList"/>
    <dgm:cxn modelId="{1D26C04F-B427-4289-BDBC-482929968189}" type="presParOf" srcId="{26D88988-4646-425D-8F8A-DD4646332855}" destId="{18E8DB0B-9A05-4D66-B732-E5F1372FBBB5}" srcOrd="1" destOrd="0" presId="urn:microsoft.com/office/officeart/2018/2/layout/IconVerticalSolidList"/>
    <dgm:cxn modelId="{4F54F29B-610C-434A-B4F2-AF27069A20DC}" type="presParOf" srcId="{26D88988-4646-425D-8F8A-DD4646332855}" destId="{41D14F15-3D5A-491C-8F05-777DC37BB4FC}" srcOrd="2" destOrd="0" presId="urn:microsoft.com/office/officeart/2018/2/layout/IconVerticalSolidList"/>
    <dgm:cxn modelId="{27DAB0ED-7848-4692-A145-7473C33159E4}" type="presParOf" srcId="{26D88988-4646-425D-8F8A-DD4646332855}" destId="{FE6EC104-D7A3-48FD-935E-E1F64AED2C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D723043-908A-4074-889A-640504A23F8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0D2DFE-5DA1-4A18-894E-BBFC38AD2E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Once the analysis and dashboard were finalized, the next step was to make the report accessible to others in a controlled and secure way.</a:t>
          </a:r>
        </a:p>
      </dgm:t>
    </dgm:pt>
    <dgm:pt modelId="{81F22AA4-B704-4AB1-9A0B-2BC246DCF451}" type="parTrans" cxnId="{A8B0E98B-A6BD-41D3-808F-0A158A8BB79D}">
      <dgm:prSet/>
      <dgm:spPr/>
      <dgm:t>
        <a:bodyPr/>
        <a:lstStyle/>
        <a:p>
          <a:endParaRPr lang="en-US"/>
        </a:p>
      </dgm:t>
    </dgm:pt>
    <dgm:pt modelId="{C8D9690B-C43B-4AA4-A61A-E8CA7E1CBFE2}" type="sibTrans" cxnId="{A8B0E98B-A6BD-41D3-808F-0A158A8BB79D}">
      <dgm:prSet/>
      <dgm:spPr/>
      <dgm:t>
        <a:bodyPr/>
        <a:lstStyle/>
        <a:p>
          <a:endParaRPr lang="en-US"/>
        </a:p>
      </dgm:t>
    </dgm:pt>
    <dgm:pt modelId="{74455AC2-3787-46F5-8634-9BB8B68E6D1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The report was </a:t>
          </a:r>
          <a:r>
            <a:rPr lang="en-US" sz="1600" b="1" dirty="0"/>
            <a:t>published from Power BI Desktop to the Power BI Service</a:t>
          </a:r>
          <a:r>
            <a:rPr lang="en-US" sz="1600" dirty="0"/>
            <a:t> using the path </a:t>
          </a:r>
          <a:r>
            <a:rPr lang="en-US" sz="1600" b="1" dirty="0"/>
            <a:t>Home → Publish → My Workspace</a:t>
          </a:r>
          <a:r>
            <a:rPr lang="en-US" sz="1600" dirty="0"/>
            <a:t>, making it available online.</a:t>
          </a:r>
        </a:p>
      </dgm:t>
    </dgm:pt>
    <dgm:pt modelId="{4E7B5D77-ED86-4922-8DCF-3900AF5312C5}" type="parTrans" cxnId="{48DC131E-48FF-4289-BD4B-E4119499868F}">
      <dgm:prSet/>
      <dgm:spPr/>
      <dgm:t>
        <a:bodyPr/>
        <a:lstStyle/>
        <a:p>
          <a:endParaRPr lang="en-US"/>
        </a:p>
      </dgm:t>
    </dgm:pt>
    <dgm:pt modelId="{96F269FE-68EF-4456-B183-14F2E86C8022}" type="sibTrans" cxnId="{48DC131E-48FF-4289-BD4B-E4119499868F}">
      <dgm:prSet/>
      <dgm:spPr/>
      <dgm:t>
        <a:bodyPr/>
        <a:lstStyle/>
        <a:p>
          <a:endParaRPr lang="en-US"/>
        </a:p>
      </dgm:t>
    </dgm:pt>
    <dgm:pt modelId="{04391935-007B-41DB-81CD-967A27B829B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In the Power BI Service, a </a:t>
          </a:r>
          <a:r>
            <a:rPr lang="en-US" sz="1600" b="1" dirty="0"/>
            <a:t>dashboard was created by pinning important visuals</a:t>
          </a:r>
          <a:r>
            <a:rPr lang="en-US" sz="1600" dirty="0"/>
            <a:t> from the report. This helps stakeholders quickly view key KPIs without opening the full report.</a:t>
          </a:r>
        </a:p>
      </dgm:t>
    </dgm:pt>
    <dgm:pt modelId="{541F09EB-2FF3-43E5-A604-581888A0A828}" type="parTrans" cxnId="{F788074D-7E86-49EB-98B7-1337EA9802BB}">
      <dgm:prSet/>
      <dgm:spPr/>
      <dgm:t>
        <a:bodyPr/>
        <a:lstStyle/>
        <a:p>
          <a:endParaRPr lang="en-US"/>
        </a:p>
      </dgm:t>
    </dgm:pt>
    <dgm:pt modelId="{0626FDE9-BED1-487A-9D34-1724484892A1}" type="sibTrans" cxnId="{F788074D-7E86-49EB-98B7-1337EA9802BB}">
      <dgm:prSet/>
      <dgm:spPr/>
      <dgm:t>
        <a:bodyPr/>
        <a:lstStyle/>
        <a:p>
          <a:endParaRPr lang="en-US"/>
        </a:p>
      </dgm:t>
    </dgm:pt>
    <dgm:pt modelId="{F88FCAC4-BF9D-42BE-A8D3-EB46D3B8E3C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The dashboard and report were </a:t>
          </a:r>
          <a:r>
            <a:rPr lang="en-US" sz="1600" b="1"/>
            <a:t>shared with stakeholders</a:t>
          </a:r>
          <a:r>
            <a:rPr lang="en-US" sz="1600"/>
            <a:t> using the </a:t>
          </a:r>
          <a:r>
            <a:rPr lang="en-US" sz="1600" b="1"/>
            <a:t>Share option</a:t>
          </a:r>
          <a:r>
            <a:rPr lang="en-US" sz="1600"/>
            <a:t>, either directly with specific people or through workspace-level access.</a:t>
          </a:r>
        </a:p>
      </dgm:t>
    </dgm:pt>
    <dgm:pt modelId="{DF7A349C-29CE-47E5-916E-85E9D76ADCB3}" type="parTrans" cxnId="{BA611BD6-94B4-4207-8228-3660B1485A81}">
      <dgm:prSet/>
      <dgm:spPr/>
      <dgm:t>
        <a:bodyPr/>
        <a:lstStyle/>
        <a:p>
          <a:endParaRPr lang="en-US"/>
        </a:p>
      </dgm:t>
    </dgm:pt>
    <dgm:pt modelId="{A86C459C-3A9C-4FDB-85E3-B51C943E08F1}" type="sibTrans" cxnId="{BA611BD6-94B4-4207-8228-3660B1485A81}">
      <dgm:prSet/>
      <dgm:spPr/>
      <dgm:t>
        <a:bodyPr/>
        <a:lstStyle/>
        <a:p>
          <a:endParaRPr lang="en-US"/>
        </a:p>
      </dgm:t>
    </dgm:pt>
    <dgm:pt modelId="{577C3A68-B4B6-42DF-A1F2-8957CF765B3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An </a:t>
          </a:r>
          <a:r>
            <a:rPr lang="en-US" sz="1600" b="1"/>
            <a:t>App Workspace</a:t>
          </a:r>
          <a:r>
            <a:rPr lang="en-US" sz="1600"/>
            <a:t> was used to support collaboration, allowing team members to view, comment, and manage different versions of the report.</a:t>
          </a:r>
        </a:p>
      </dgm:t>
    </dgm:pt>
    <dgm:pt modelId="{C09E6BBE-3CC2-4E70-91E0-04BC4C688432}" type="parTrans" cxnId="{B0AA1BA7-240E-49FB-B1EB-1D2A852F8773}">
      <dgm:prSet/>
      <dgm:spPr/>
      <dgm:t>
        <a:bodyPr/>
        <a:lstStyle/>
        <a:p>
          <a:endParaRPr lang="en-US"/>
        </a:p>
      </dgm:t>
    </dgm:pt>
    <dgm:pt modelId="{0785C6D1-CD05-4899-A0E5-4A074F6320F4}" type="sibTrans" cxnId="{B0AA1BA7-240E-49FB-B1EB-1D2A852F8773}">
      <dgm:prSet/>
      <dgm:spPr/>
      <dgm:t>
        <a:bodyPr/>
        <a:lstStyle/>
        <a:p>
          <a:endParaRPr lang="en-US"/>
        </a:p>
      </dgm:t>
    </dgm:pt>
    <dgm:pt modelId="{440311F6-A090-425A-9EF1-B43D6DE0240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Scheduled refresh</a:t>
          </a:r>
          <a:r>
            <a:rPr lang="en-US" sz="1600"/>
            <a:t> was configured so that the data updates automatically at regular intervals, ensuring users always see the latest information.</a:t>
          </a:r>
        </a:p>
      </dgm:t>
    </dgm:pt>
    <dgm:pt modelId="{486F613F-519E-43A1-BEEF-707847E1A361}" type="parTrans" cxnId="{710C7EFA-30F6-4517-AB83-0F7C248863C2}">
      <dgm:prSet/>
      <dgm:spPr/>
      <dgm:t>
        <a:bodyPr/>
        <a:lstStyle/>
        <a:p>
          <a:endParaRPr lang="en-US"/>
        </a:p>
      </dgm:t>
    </dgm:pt>
    <dgm:pt modelId="{B41AF741-174F-41CC-96AB-DD86CB515700}" type="sibTrans" cxnId="{710C7EFA-30F6-4517-AB83-0F7C248863C2}">
      <dgm:prSet/>
      <dgm:spPr/>
      <dgm:t>
        <a:bodyPr/>
        <a:lstStyle/>
        <a:p>
          <a:endParaRPr lang="en-US"/>
        </a:p>
      </dgm:t>
    </dgm:pt>
    <dgm:pt modelId="{116C7A11-7100-49A7-BCBE-670C5F27A6D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Row Level Security (RLS)</a:t>
          </a:r>
          <a:r>
            <a:rPr lang="en-US" sz="1600"/>
            <a:t> was applied to make sure each user can only view the data they are authorized to access, maintaining data privacy and governance.</a:t>
          </a:r>
        </a:p>
      </dgm:t>
    </dgm:pt>
    <dgm:pt modelId="{EA2DD595-B05B-4A71-BA9B-931640F3B940}" type="parTrans" cxnId="{C32EC575-C88A-4089-AD91-9BEA16BDF98B}">
      <dgm:prSet/>
      <dgm:spPr/>
      <dgm:t>
        <a:bodyPr/>
        <a:lstStyle/>
        <a:p>
          <a:endParaRPr lang="en-US"/>
        </a:p>
      </dgm:t>
    </dgm:pt>
    <dgm:pt modelId="{39169D6B-2E65-4173-9B3E-E03ED726FB76}" type="sibTrans" cxnId="{C32EC575-C88A-4089-AD91-9BEA16BDF98B}">
      <dgm:prSet/>
      <dgm:spPr/>
      <dgm:t>
        <a:bodyPr/>
        <a:lstStyle/>
        <a:p>
          <a:endParaRPr lang="en-US"/>
        </a:p>
      </dgm:t>
    </dgm:pt>
    <dgm:pt modelId="{64918224-E27F-4D68-89C9-3A025A8070C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Overall, this process ensures that insights are </a:t>
          </a:r>
          <a:r>
            <a:rPr lang="en-US" sz="1600" b="1" dirty="0"/>
            <a:t>easily accessible, securely shared, and always up to date</a:t>
          </a:r>
          <a:r>
            <a:rPr lang="en-US" sz="1600" dirty="0"/>
            <a:t>, which is critical in real business environments.</a:t>
          </a:r>
        </a:p>
      </dgm:t>
    </dgm:pt>
    <dgm:pt modelId="{0318B8D1-2750-4FD5-ACD8-2DEBE5052B85}" type="parTrans" cxnId="{62C43717-B549-4101-BDA9-7AED6F716CE3}">
      <dgm:prSet/>
      <dgm:spPr/>
      <dgm:t>
        <a:bodyPr/>
        <a:lstStyle/>
        <a:p>
          <a:endParaRPr lang="en-US"/>
        </a:p>
      </dgm:t>
    </dgm:pt>
    <dgm:pt modelId="{6D8C9501-9CAD-46A4-8674-F5948DE6C38A}" type="sibTrans" cxnId="{62C43717-B549-4101-BDA9-7AED6F716CE3}">
      <dgm:prSet/>
      <dgm:spPr/>
      <dgm:t>
        <a:bodyPr/>
        <a:lstStyle/>
        <a:p>
          <a:endParaRPr lang="en-US"/>
        </a:p>
      </dgm:t>
    </dgm:pt>
    <dgm:pt modelId="{9B633662-D18E-42B3-8561-F873AA2020B0}" type="pres">
      <dgm:prSet presAssocID="{BD723043-908A-4074-889A-640504A23F83}" presName="root" presStyleCnt="0">
        <dgm:presLayoutVars>
          <dgm:dir/>
          <dgm:resizeHandles val="exact"/>
        </dgm:presLayoutVars>
      </dgm:prSet>
      <dgm:spPr/>
    </dgm:pt>
    <dgm:pt modelId="{F094F301-FD00-4D0C-BD83-377696EC6D15}" type="pres">
      <dgm:prSet presAssocID="{E20D2DFE-5DA1-4A18-894E-BBFC38AD2ED8}" presName="compNode" presStyleCnt="0"/>
      <dgm:spPr/>
    </dgm:pt>
    <dgm:pt modelId="{D3E7E338-7573-4AB9-8D74-3F22CB1A6ED2}" type="pres">
      <dgm:prSet presAssocID="{E20D2DFE-5DA1-4A18-894E-BBFC38AD2ED8}" presName="bgRect" presStyleLbl="bgShp" presStyleIdx="0" presStyleCnt="8"/>
      <dgm:spPr/>
    </dgm:pt>
    <dgm:pt modelId="{96614F9F-1D23-47FF-BF4D-59E4292173EF}" type="pres">
      <dgm:prSet presAssocID="{E20D2DFE-5DA1-4A18-894E-BBFC38AD2ED8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7569139-8028-40B1-9D14-CAD45263F91C}" type="pres">
      <dgm:prSet presAssocID="{E20D2DFE-5DA1-4A18-894E-BBFC38AD2ED8}" presName="spaceRect" presStyleCnt="0"/>
      <dgm:spPr/>
    </dgm:pt>
    <dgm:pt modelId="{DE1FA22E-BE4B-4F5F-BB54-FC4DF13EC34D}" type="pres">
      <dgm:prSet presAssocID="{E20D2DFE-5DA1-4A18-894E-BBFC38AD2ED8}" presName="parTx" presStyleLbl="revTx" presStyleIdx="0" presStyleCnt="8">
        <dgm:presLayoutVars>
          <dgm:chMax val="0"/>
          <dgm:chPref val="0"/>
        </dgm:presLayoutVars>
      </dgm:prSet>
      <dgm:spPr/>
    </dgm:pt>
    <dgm:pt modelId="{D145D057-DF39-47B1-B040-E261FE96F22A}" type="pres">
      <dgm:prSet presAssocID="{C8D9690B-C43B-4AA4-A61A-E8CA7E1CBFE2}" presName="sibTrans" presStyleCnt="0"/>
      <dgm:spPr/>
    </dgm:pt>
    <dgm:pt modelId="{0881537F-C7A8-4B9D-96D6-5E47BCDF5033}" type="pres">
      <dgm:prSet presAssocID="{74455AC2-3787-46F5-8634-9BB8B68E6D1F}" presName="compNode" presStyleCnt="0"/>
      <dgm:spPr/>
    </dgm:pt>
    <dgm:pt modelId="{301007FC-3166-45A4-81AE-9BAECF634110}" type="pres">
      <dgm:prSet presAssocID="{74455AC2-3787-46F5-8634-9BB8B68E6D1F}" presName="bgRect" presStyleLbl="bgShp" presStyleIdx="1" presStyleCnt="8"/>
      <dgm:spPr/>
    </dgm:pt>
    <dgm:pt modelId="{CA1D6F57-C05C-49C1-BE61-3E84A45602BB}" type="pres">
      <dgm:prSet presAssocID="{74455AC2-3787-46F5-8634-9BB8B68E6D1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5B1CCC50-774C-4925-B245-324C34B2447A}" type="pres">
      <dgm:prSet presAssocID="{74455AC2-3787-46F5-8634-9BB8B68E6D1F}" presName="spaceRect" presStyleCnt="0"/>
      <dgm:spPr/>
    </dgm:pt>
    <dgm:pt modelId="{9BCF831A-C9FA-4B0C-8D10-4A5D80807C85}" type="pres">
      <dgm:prSet presAssocID="{74455AC2-3787-46F5-8634-9BB8B68E6D1F}" presName="parTx" presStyleLbl="revTx" presStyleIdx="1" presStyleCnt="8">
        <dgm:presLayoutVars>
          <dgm:chMax val="0"/>
          <dgm:chPref val="0"/>
        </dgm:presLayoutVars>
      </dgm:prSet>
      <dgm:spPr/>
    </dgm:pt>
    <dgm:pt modelId="{48CD1287-146A-4053-85CC-9201301FE903}" type="pres">
      <dgm:prSet presAssocID="{96F269FE-68EF-4456-B183-14F2E86C8022}" presName="sibTrans" presStyleCnt="0"/>
      <dgm:spPr/>
    </dgm:pt>
    <dgm:pt modelId="{09E02E20-9B5A-4704-A717-CCA42F6EAFD2}" type="pres">
      <dgm:prSet presAssocID="{04391935-007B-41DB-81CD-967A27B829BD}" presName="compNode" presStyleCnt="0"/>
      <dgm:spPr/>
    </dgm:pt>
    <dgm:pt modelId="{BDF9BB08-5A39-4512-81C6-16C01600C270}" type="pres">
      <dgm:prSet presAssocID="{04391935-007B-41DB-81CD-967A27B829BD}" presName="bgRect" presStyleLbl="bgShp" presStyleIdx="2" presStyleCnt="8"/>
      <dgm:spPr/>
    </dgm:pt>
    <dgm:pt modelId="{3DB03124-0786-4807-BF9F-93549E93FD5D}" type="pres">
      <dgm:prSet presAssocID="{04391935-007B-41DB-81CD-967A27B829BD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3D6ECE8-19C2-4694-9A56-6C563560CCFA}" type="pres">
      <dgm:prSet presAssocID="{04391935-007B-41DB-81CD-967A27B829BD}" presName="spaceRect" presStyleCnt="0"/>
      <dgm:spPr/>
    </dgm:pt>
    <dgm:pt modelId="{7526857F-9489-41D9-9511-64F21957DA77}" type="pres">
      <dgm:prSet presAssocID="{04391935-007B-41DB-81CD-967A27B829BD}" presName="parTx" presStyleLbl="revTx" presStyleIdx="2" presStyleCnt="8">
        <dgm:presLayoutVars>
          <dgm:chMax val="0"/>
          <dgm:chPref val="0"/>
        </dgm:presLayoutVars>
      </dgm:prSet>
      <dgm:spPr/>
    </dgm:pt>
    <dgm:pt modelId="{027DBCF9-1049-4814-BA4D-8FEBEE3A48A2}" type="pres">
      <dgm:prSet presAssocID="{0626FDE9-BED1-487A-9D34-1724484892A1}" presName="sibTrans" presStyleCnt="0"/>
      <dgm:spPr/>
    </dgm:pt>
    <dgm:pt modelId="{8B685384-57AF-4CCE-9A5E-E45478B49DBF}" type="pres">
      <dgm:prSet presAssocID="{F88FCAC4-BF9D-42BE-A8D3-EB46D3B8E3C0}" presName="compNode" presStyleCnt="0"/>
      <dgm:spPr/>
    </dgm:pt>
    <dgm:pt modelId="{B505ED52-79A8-4951-9E22-6C9F9A7C0569}" type="pres">
      <dgm:prSet presAssocID="{F88FCAC4-BF9D-42BE-A8D3-EB46D3B8E3C0}" presName="bgRect" presStyleLbl="bgShp" presStyleIdx="3" presStyleCnt="8"/>
      <dgm:spPr/>
    </dgm:pt>
    <dgm:pt modelId="{BFD191B8-E499-47DE-955B-78AA6AD6C68E}" type="pres">
      <dgm:prSet presAssocID="{F88FCAC4-BF9D-42BE-A8D3-EB46D3B8E3C0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22810AF-70BC-4C34-A613-2FD27E91E1CC}" type="pres">
      <dgm:prSet presAssocID="{F88FCAC4-BF9D-42BE-A8D3-EB46D3B8E3C0}" presName="spaceRect" presStyleCnt="0"/>
      <dgm:spPr/>
    </dgm:pt>
    <dgm:pt modelId="{4C914275-44AB-42C0-9DEB-61710FC5097D}" type="pres">
      <dgm:prSet presAssocID="{F88FCAC4-BF9D-42BE-A8D3-EB46D3B8E3C0}" presName="parTx" presStyleLbl="revTx" presStyleIdx="3" presStyleCnt="8">
        <dgm:presLayoutVars>
          <dgm:chMax val="0"/>
          <dgm:chPref val="0"/>
        </dgm:presLayoutVars>
      </dgm:prSet>
      <dgm:spPr/>
    </dgm:pt>
    <dgm:pt modelId="{ACC1096A-2977-41E7-9D51-986CB2D7D50D}" type="pres">
      <dgm:prSet presAssocID="{A86C459C-3A9C-4FDB-85E3-B51C943E08F1}" presName="sibTrans" presStyleCnt="0"/>
      <dgm:spPr/>
    </dgm:pt>
    <dgm:pt modelId="{EE05F510-4531-4CE6-A9D5-09DE45AA8FAD}" type="pres">
      <dgm:prSet presAssocID="{577C3A68-B4B6-42DF-A1F2-8957CF765B3F}" presName="compNode" presStyleCnt="0"/>
      <dgm:spPr/>
    </dgm:pt>
    <dgm:pt modelId="{FC67B6DB-4877-46FE-A7AA-C5EBDB4F1D78}" type="pres">
      <dgm:prSet presAssocID="{577C3A68-B4B6-42DF-A1F2-8957CF765B3F}" presName="bgRect" presStyleLbl="bgShp" presStyleIdx="4" presStyleCnt="8"/>
      <dgm:spPr/>
    </dgm:pt>
    <dgm:pt modelId="{B1ADB2D5-94D8-4A8F-8A11-59B56D039D5B}" type="pres">
      <dgm:prSet presAssocID="{577C3A68-B4B6-42DF-A1F2-8957CF765B3F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462376E-6F27-4E33-A931-8C9E94FF6E17}" type="pres">
      <dgm:prSet presAssocID="{577C3A68-B4B6-42DF-A1F2-8957CF765B3F}" presName="spaceRect" presStyleCnt="0"/>
      <dgm:spPr/>
    </dgm:pt>
    <dgm:pt modelId="{5A23F9A2-7F58-49EC-A311-9951474CEB35}" type="pres">
      <dgm:prSet presAssocID="{577C3A68-B4B6-42DF-A1F2-8957CF765B3F}" presName="parTx" presStyleLbl="revTx" presStyleIdx="4" presStyleCnt="8">
        <dgm:presLayoutVars>
          <dgm:chMax val="0"/>
          <dgm:chPref val="0"/>
        </dgm:presLayoutVars>
      </dgm:prSet>
      <dgm:spPr/>
    </dgm:pt>
    <dgm:pt modelId="{19BCE7A3-4C81-48B5-A9D9-BF87CB5226B6}" type="pres">
      <dgm:prSet presAssocID="{0785C6D1-CD05-4899-A0E5-4A074F6320F4}" presName="sibTrans" presStyleCnt="0"/>
      <dgm:spPr/>
    </dgm:pt>
    <dgm:pt modelId="{F5C11167-4C5F-4E4F-89DC-94B54FEE5105}" type="pres">
      <dgm:prSet presAssocID="{440311F6-A090-425A-9EF1-B43D6DE02401}" presName="compNode" presStyleCnt="0"/>
      <dgm:spPr/>
    </dgm:pt>
    <dgm:pt modelId="{870059F1-907E-4C77-9682-1443FF57A1AE}" type="pres">
      <dgm:prSet presAssocID="{440311F6-A090-425A-9EF1-B43D6DE02401}" presName="bgRect" presStyleLbl="bgShp" presStyleIdx="5" presStyleCnt="8"/>
      <dgm:spPr/>
    </dgm:pt>
    <dgm:pt modelId="{69BB13F6-81C3-44BF-95EC-5E86375A7EE2}" type="pres">
      <dgm:prSet presAssocID="{440311F6-A090-425A-9EF1-B43D6DE02401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984DEAE6-1EFC-474D-BEEC-038523693CBB}" type="pres">
      <dgm:prSet presAssocID="{440311F6-A090-425A-9EF1-B43D6DE02401}" presName="spaceRect" presStyleCnt="0"/>
      <dgm:spPr/>
    </dgm:pt>
    <dgm:pt modelId="{A11E71D0-1D98-4927-B8C7-64F711DF9823}" type="pres">
      <dgm:prSet presAssocID="{440311F6-A090-425A-9EF1-B43D6DE02401}" presName="parTx" presStyleLbl="revTx" presStyleIdx="5" presStyleCnt="8">
        <dgm:presLayoutVars>
          <dgm:chMax val="0"/>
          <dgm:chPref val="0"/>
        </dgm:presLayoutVars>
      </dgm:prSet>
      <dgm:spPr/>
    </dgm:pt>
    <dgm:pt modelId="{40DFA67B-BA6F-4F1E-892F-BF8DC3759453}" type="pres">
      <dgm:prSet presAssocID="{B41AF741-174F-41CC-96AB-DD86CB515700}" presName="sibTrans" presStyleCnt="0"/>
      <dgm:spPr/>
    </dgm:pt>
    <dgm:pt modelId="{D28B0517-7137-4300-B1E3-AD85EE6B3A6D}" type="pres">
      <dgm:prSet presAssocID="{116C7A11-7100-49A7-BCBE-670C5F27A6DE}" presName="compNode" presStyleCnt="0"/>
      <dgm:spPr/>
    </dgm:pt>
    <dgm:pt modelId="{1B26AFAC-2355-44EF-AF5C-098ABDDA530A}" type="pres">
      <dgm:prSet presAssocID="{116C7A11-7100-49A7-BCBE-670C5F27A6DE}" presName="bgRect" presStyleLbl="bgShp" presStyleIdx="6" presStyleCnt="8"/>
      <dgm:spPr/>
    </dgm:pt>
    <dgm:pt modelId="{7B2A4860-B0B9-4418-B3FA-CB0B152FFA16}" type="pres">
      <dgm:prSet presAssocID="{116C7A11-7100-49A7-BCBE-670C5F27A6DE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B7B2AC8E-8992-4410-BD7D-52F141C7FC43}" type="pres">
      <dgm:prSet presAssocID="{116C7A11-7100-49A7-BCBE-670C5F27A6DE}" presName="spaceRect" presStyleCnt="0"/>
      <dgm:spPr/>
    </dgm:pt>
    <dgm:pt modelId="{85031F1D-A678-484E-A9A7-3B4C68DC01E9}" type="pres">
      <dgm:prSet presAssocID="{116C7A11-7100-49A7-BCBE-670C5F27A6DE}" presName="parTx" presStyleLbl="revTx" presStyleIdx="6" presStyleCnt="8">
        <dgm:presLayoutVars>
          <dgm:chMax val="0"/>
          <dgm:chPref val="0"/>
        </dgm:presLayoutVars>
      </dgm:prSet>
      <dgm:spPr/>
    </dgm:pt>
    <dgm:pt modelId="{12BF9DEF-0711-4319-BEC5-64CDF7602C9E}" type="pres">
      <dgm:prSet presAssocID="{39169D6B-2E65-4173-9B3E-E03ED726FB76}" presName="sibTrans" presStyleCnt="0"/>
      <dgm:spPr/>
    </dgm:pt>
    <dgm:pt modelId="{DBB23B3E-A5D1-4444-9991-F7EB0186EFD7}" type="pres">
      <dgm:prSet presAssocID="{64918224-E27F-4D68-89C9-3A025A8070C4}" presName="compNode" presStyleCnt="0"/>
      <dgm:spPr/>
    </dgm:pt>
    <dgm:pt modelId="{4EB6DA4C-9328-48E3-8DB6-4A6563F231E0}" type="pres">
      <dgm:prSet presAssocID="{64918224-E27F-4D68-89C9-3A025A8070C4}" presName="bgRect" presStyleLbl="bgShp" presStyleIdx="7" presStyleCnt="8"/>
      <dgm:spPr/>
    </dgm:pt>
    <dgm:pt modelId="{47782E65-0F06-4EE0-8B54-7F1755682016}" type="pres">
      <dgm:prSet presAssocID="{64918224-E27F-4D68-89C9-3A025A8070C4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EDD81323-3721-4BE1-85F0-63D639D91878}" type="pres">
      <dgm:prSet presAssocID="{64918224-E27F-4D68-89C9-3A025A8070C4}" presName="spaceRect" presStyleCnt="0"/>
      <dgm:spPr/>
    </dgm:pt>
    <dgm:pt modelId="{834094EF-3F93-4C98-9F63-36AB5D2C4F9C}" type="pres">
      <dgm:prSet presAssocID="{64918224-E27F-4D68-89C9-3A025A8070C4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3E6FD10B-938A-47E1-B9ED-37F5E39B93D6}" type="presOf" srcId="{440311F6-A090-425A-9EF1-B43D6DE02401}" destId="{A11E71D0-1D98-4927-B8C7-64F711DF9823}" srcOrd="0" destOrd="0" presId="urn:microsoft.com/office/officeart/2018/2/layout/IconVerticalSolidList"/>
    <dgm:cxn modelId="{62C43717-B549-4101-BDA9-7AED6F716CE3}" srcId="{BD723043-908A-4074-889A-640504A23F83}" destId="{64918224-E27F-4D68-89C9-3A025A8070C4}" srcOrd="7" destOrd="0" parTransId="{0318B8D1-2750-4FD5-ACD8-2DEBE5052B85}" sibTransId="{6D8C9501-9CAD-46A4-8674-F5948DE6C38A}"/>
    <dgm:cxn modelId="{48E9D817-0B4A-4D73-BBD4-62D34D078942}" type="presOf" srcId="{E20D2DFE-5DA1-4A18-894E-BBFC38AD2ED8}" destId="{DE1FA22E-BE4B-4F5F-BB54-FC4DF13EC34D}" srcOrd="0" destOrd="0" presId="urn:microsoft.com/office/officeart/2018/2/layout/IconVerticalSolidList"/>
    <dgm:cxn modelId="{48DC131E-48FF-4289-BD4B-E4119499868F}" srcId="{BD723043-908A-4074-889A-640504A23F83}" destId="{74455AC2-3787-46F5-8634-9BB8B68E6D1F}" srcOrd="1" destOrd="0" parTransId="{4E7B5D77-ED86-4922-8DCF-3900AF5312C5}" sibTransId="{96F269FE-68EF-4456-B183-14F2E86C8022}"/>
    <dgm:cxn modelId="{E9796F3A-59F2-4BB6-AC73-A79981675926}" type="presOf" srcId="{116C7A11-7100-49A7-BCBE-670C5F27A6DE}" destId="{85031F1D-A678-484E-A9A7-3B4C68DC01E9}" srcOrd="0" destOrd="0" presId="urn:microsoft.com/office/officeart/2018/2/layout/IconVerticalSolidList"/>
    <dgm:cxn modelId="{5DF09E60-1DC6-4ADD-AE09-49032B302DA6}" type="presOf" srcId="{F88FCAC4-BF9D-42BE-A8D3-EB46D3B8E3C0}" destId="{4C914275-44AB-42C0-9DEB-61710FC5097D}" srcOrd="0" destOrd="0" presId="urn:microsoft.com/office/officeart/2018/2/layout/IconVerticalSolidList"/>
    <dgm:cxn modelId="{75F2244B-10E1-4A8D-A619-9F37B8C162BF}" type="presOf" srcId="{577C3A68-B4B6-42DF-A1F2-8957CF765B3F}" destId="{5A23F9A2-7F58-49EC-A311-9951474CEB35}" srcOrd="0" destOrd="0" presId="urn:microsoft.com/office/officeart/2018/2/layout/IconVerticalSolidList"/>
    <dgm:cxn modelId="{F788074D-7E86-49EB-98B7-1337EA9802BB}" srcId="{BD723043-908A-4074-889A-640504A23F83}" destId="{04391935-007B-41DB-81CD-967A27B829BD}" srcOrd="2" destOrd="0" parTransId="{541F09EB-2FF3-43E5-A604-581888A0A828}" sibTransId="{0626FDE9-BED1-487A-9D34-1724484892A1}"/>
    <dgm:cxn modelId="{7208396F-8851-4EF5-B11D-A8C1BC795D5E}" type="presOf" srcId="{64918224-E27F-4D68-89C9-3A025A8070C4}" destId="{834094EF-3F93-4C98-9F63-36AB5D2C4F9C}" srcOrd="0" destOrd="0" presId="urn:microsoft.com/office/officeart/2018/2/layout/IconVerticalSolidList"/>
    <dgm:cxn modelId="{5AACAF53-2A6F-465C-963F-5F1A8082B6BC}" type="presOf" srcId="{04391935-007B-41DB-81CD-967A27B829BD}" destId="{7526857F-9489-41D9-9511-64F21957DA77}" srcOrd="0" destOrd="0" presId="urn:microsoft.com/office/officeart/2018/2/layout/IconVerticalSolidList"/>
    <dgm:cxn modelId="{C32EC575-C88A-4089-AD91-9BEA16BDF98B}" srcId="{BD723043-908A-4074-889A-640504A23F83}" destId="{116C7A11-7100-49A7-BCBE-670C5F27A6DE}" srcOrd="6" destOrd="0" parTransId="{EA2DD595-B05B-4A71-BA9B-931640F3B940}" sibTransId="{39169D6B-2E65-4173-9B3E-E03ED726FB76}"/>
    <dgm:cxn modelId="{4F792679-582D-4AF1-8E5F-E75FEAE793F5}" type="presOf" srcId="{74455AC2-3787-46F5-8634-9BB8B68E6D1F}" destId="{9BCF831A-C9FA-4B0C-8D10-4A5D80807C85}" srcOrd="0" destOrd="0" presId="urn:microsoft.com/office/officeart/2018/2/layout/IconVerticalSolidList"/>
    <dgm:cxn modelId="{34A4D086-8C5A-4E5F-9491-56A73A43D806}" type="presOf" srcId="{BD723043-908A-4074-889A-640504A23F83}" destId="{9B633662-D18E-42B3-8561-F873AA2020B0}" srcOrd="0" destOrd="0" presId="urn:microsoft.com/office/officeart/2018/2/layout/IconVerticalSolidList"/>
    <dgm:cxn modelId="{A8B0E98B-A6BD-41D3-808F-0A158A8BB79D}" srcId="{BD723043-908A-4074-889A-640504A23F83}" destId="{E20D2DFE-5DA1-4A18-894E-BBFC38AD2ED8}" srcOrd="0" destOrd="0" parTransId="{81F22AA4-B704-4AB1-9A0B-2BC246DCF451}" sibTransId="{C8D9690B-C43B-4AA4-A61A-E8CA7E1CBFE2}"/>
    <dgm:cxn modelId="{B0AA1BA7-240E-49FB-B1EB-1D2A852F8773}" srcId="{BD723043-908A-4074-889A-640504A23F83}" destId="{577C3A68-B4B6-42DF-A1F2-8957CF765B3F}" srcOrd="4" destOrd="0" parTransId="{C09E6BBE-3CC2-4E70-91E0-04BC4C688432}" sibTransId="{0785C6D1-CD05-4899-A0E5-4A074F6320F4}"/>
    <dgm:cxn modelId="{BA611BD6-94B4-4207-8228-3660B1485A81}" srcId="{BD723043-908A-4074-889A-640504A23F83}" destId="{F88FCAC4-BF9D-42BE-A8D3-EB46D3B8E3C0}" srcOrd="3" destOrd="0" parTransId="{DF7A349C-29CE-47E5-916E-85E9D76ADCB3}" sibTransId="{A86C459C-3A9C-4FDB-85E3-B51C943E08F1}"/>
    <dgm:cxn modelId="{710C7EFA-30F6-4517-AB83-0F7C248863C2}" srcId="{BD723043-908A-4074-889A-640504A23F83}" destId="{440311F6-A090-425A-9EF1-B43D6DE02401}" srcOrd="5" destOrd="0" parTransId="{486F613F-519E-43A1-BEEF-707847E1A361}" sibTransId="{B41AF741-174F-41CC-96AB-DD86CB515700}"/>
    <dgm:cxn modelId="{5CF31848-F1F3-46FB-8F74-C8D02B31A433}" type="presParOf" srcId="{9B633662-D18E-42B3-8561-F873AA2020B0}" destId="{F094F301-FD00-4D0C-BD83-377696EC6D15}" srcOrd="0" destOrd="0" presId="urn:microsoft.com/office/officeart/2018/2/layout/IconVerticalSolidList"/>
    <dgm:cxn modelId="{2181E1B7-B411-4CC9-87B6-13B42E19E880}" type="presParOf" srcId="{F094F301-FD00-4D0C-BD83-377696EC6D15}" destId="{D3E7E338-7573-4AB9-8D74-3F22CB1A6ED2}" srcOrd="0" destOrd="0" presId="urn:microsoft.com/office/officeart/2018/2/layout/IconVerticalSolidList"/>
    <dgm:cxn modelId="{10322AA5-9C47-4D2E-A6EB-2A0CB519EE07}" type="presParOf" srcId="{F094F301-FD00-4D0C-BD83-377696EC6D15}" destId="{96614F9F-1D23-47FF-BF4D-59E4292173EF}" srcOrd="1" destOrd="0" presId="urn:microsoft.com/office/officeart/2018/2/layout/IconVerticalSolidList"/>
    <dgm:cxn modelId="{E139A4AC-E55A-48E3-898A-044EB537F327}" type="presParOf" srcId="{F094F301-FD00-4D0C-BD83-377696EC6D15}" destId="{77569139-8028-40B1-9D14-CAD45263F91C}" srcOrd="2" destOrd="0" presId="urn:microsoft.com/office/officeart/2018/2/layout/IconVerticalSolidList"/>
    <dgm:cxn modelId="{62719247-EDC1-4834-9D5C-795A7F363961}" type="presParOf" srcId="{F094F301-FD00-4D0C-BD83-377696EC6D15}" destId="{DE1FA22E-BE4B-4F5F-BB54-FC4DF13EC34D}" srcOrd="3" destOrd="0" presId="urn:microsoft.com/office/officeart/2018/2/layout/IconVerticalSolidList"/>
    <dgm:cxn modelId="{6401E759-5D5E-4C8B-8432-F26C0EA51B66}" type="presParOf" srcId="{9B633662-D18E-42B3-8561-F873AA2020B0}" destId="{D145D057-DF39-47B1-B040-E261FE96F22A}" srcOrd="1" destOrd="0" presId="urn:microsoft.com/office/officeart/2018/2/layout/IconVerticalSolidList"/>
    <dgm:cxn modelId="{2112D14F-AFEF-4378-AEDF-C55BA2C78184}" type="presParOf" srcId="{9B633662-D18E-42B3-8561-F873AA2020B0}" destId="{0881537F-C7A8-4B9D-96D6-5E47BCDF5033}" srcOrd="2" destOrd="0" presId="urn:microsoft.com/office/officeart/2018/2/layout/IconVerticalSolidList"/>
    <dgm:cxn modelId="{50E046B9-CAE4-4354-A08B-32B1AF99AB73}" type="presParOf" srcId="{0881537F-C7A8-4B9D-96D6-5E47BCDF5033}" destId="{301007FC-3166-45A4-81AE-9BAECF634110}" srcOrd="0" destOrd="0" presId="urn:microsoft.com/office/officeart/2018/2/layout/IconVerticalSolidList"/>
    <dgm:cxn modelId="{0E13A8CA-5EC3-4702-9A86-19B52DC41631}" type="presParOf" srcId="{0881537F-C7A8-4B9D-96D6-5E47BCDF5033}" destId="{CA1D6F57-C05C-49C1-BE61-3E84A45602BB}" srcOrd="1" destOrd="0" presId="urn:microsoft.com/office/officeart/2018/2/layout/IconVerticalSolidList"/>
    <dgm:cxn modelId="{FFBD62F9-57E7-4D19-A3E2-F20B2CC0ADF4}" type="presParOf" srcId="{0881537F-C7A8-4B9D-96D6-5E47BCDF5033}" destId="{5B1CCC50-774C-4925-B245-324C34B2447A}" srcOrd="2" destOrd="0" presId="urn:microsoft.com/office/officeart/2018/2/layout/IconVerticalSolidList"/>
    <dgm:cxn modelId="{E65E5C3E-0CF8-457A-899A-0F93F30EA38E}" type="presParOf" srcId="{0881537F-C7A8-4B9D-96D6-5E47BCDF5033}" destId="{9BCF831A-C9FA-4B0C-8D10-4A5D80807C85}" srcOrd="3" destOrd="0" presId="urn:microsoft.com/office/officeart/2018/2/layout/IconVerticalSolidList"/>
    <dgm:cxn modelId="{D9584788-0C0D-4CEC-8FE9-EB597A81AEA1}" type="presParOf" srcId="{9B633662-D18E-42B3-8561-F873AA2020B0}" destId="{48CD1287-146A-4053-85CC-9201301FE903}" srcOrd="3" destOrd="0" presId="urn:microsoft.com/office/officeart/2018/2/layout/IconVerticalSolidList"/>
    <dgm:cxn modelId="{EE9E0235-8907-4D23-921D-97633E1CD593}" type="presParOf" srcId="{9B633662-D18E-42B3-8561-F873AA2020B0}" destId="{09E02E20-9B5A-4704-A717-CCA42F6EAFD2}" srcOrd="4" destOrd="0" presId="urn:microsoft.com/office/officeart/2018/2/layout/IconVerticalSolidList"/>
    <dgm:cxn modelId="{3CFEF1D5-7660-4908-8483-0761C0034AA1}" type="presParOf" srcId="{09E02E20-9B5A-4704-A717-CCA42F6EAFD2}" destId="{BDF9BB08-5A39-4512-81C6-16C01600C270}" srcOrd="0" destOrd="0" presId="urn:microsoft.com/office/officeart/2018/2/layout/IconVerticalSolidList"/>
    <dgm:cxn modelId="{37254BF7-7B11-4990-BEB6-143F5D06C212}" type="presParOf" srcId="{09E02E20-9B5A-4704-A717-CCA42F6EAFD2}" destId="{3DB03124-0786-4807-BF9F-93549E93FD5D}" srcOrd="1" destOrd="0" presId="urn:microsoft.com/office/officeart/2018/2/layout/IconVerticalSolidList"/>
    <dgm:cxn modelId="{13F9692C-A840-44B1-BB32-A1F6349F8AAC}" type="presParOf" srcId="{09E02E20-9B5A-4704-A717-CCA42F6EAFD2}" destId="{73D6ECE8-19C2-4694-9A56-6C563560CCFA}" srcOrd="2" destOrd="0" presId="urn:microsoft.com/office/officeart/2018/2/layout/IconVerticalSolidList"/>
    <dgm:cxn modelId="{63C6917D-F32C-4C2F-8B85-3625B018C69B}" type="presParOf" srcId="{09E02E20-9B5A-4704-A717-CCA42F6EAFD2}" destId="{7526857F-9489-41D9-9511-64F21957DA77}" srcOrd="3" destOrd="0" presId="urn:microsoft.com/office/officeart/2018/2/layout/IconVerticalSolidList"/>
    <dgm:cxn modelId="{D39A835B-82B2-4B93-A776-D792EC56162E}" type="presParOf" srcId="{9B633662-D18E-42B3-8561-F873AA2020B0}" destId="{027DBCF9-1049-4814-BA4D-8FEBEE3A48A2}" srcOrd="5" destOrd="0" presId="urn:microsoft.com/office/officeart/2018/2/layout/IconVerticalSolidList"/>
    <dgm:cxn modelId="{A7A131EB-A9FB-4734-9EBF-04DDFA47F7CC}" type="presParOf" srcId="{9B633662-D18E-42B3-8561-F873AA2020B0}" destId="{8B685384-57AF-4CCE-9A5E-E45478B49DBF}" srcOrd="6" destOrd="0" presId="urn:microsoft.com/office/officeart/2018/2/layout/IconVerticalSolidList"/>
    <dgm:cxn modelId="{73142BCD-899D-441C-B561-A10C15E80047}" type="presParOf" srcId="{8B685384-57AF-4CCE-9A5E-E45478B49DBF}" destId="{B505ED52-79A8-4951-9E22-6C9F9A7C0569}" srcOrd="0" destOrd="0" presId="urn:microsoft.com/office/officeart/2018/2/layout/IconVerticalSolidList"/>
    <dgm:cxn modelId="{CCC8615D-63E1-47DD-8811-66E364A672B8}" type="presParOf" srcId="{8B685384-57AF-4CCE-9A5E-E45478B49DBF}" destId="{BFD191B8-E499-47DE-955B-78AA6AD6C68E}" srcOrd="1" destOrd="0" presId="urn:microsoft.com/office/officeart/2018/2/layout/IconVerticalSolidList"/>
    <dgm:cxn modelId="{301CB329-7D01-412D-8594-0E2DA36EE4AF}" type="presParOf" srcId="{8B685384-57AF-4CCE-9A5E-E45478B49DBF}" destId="{F22810AF-70BC-4C34-A613-2FD27E91E1CC}" srcOrd="2" destOrd="0" presId="urn:microsoft.com/office/officeart/2018/2/layout/IconVerticalSolidList"/>
    <dgm:cxn modelId="{68817B75-B0FC-4F6A-9524-1DF4413AB641}" type="presParOf" srcId="{8B685384-57AF-4CCE-9A5E-E45478B49DBF}" destId="{4C914275-44AB-42C0-9DEB-61710FC5097D}" srcOrd="3" destOrd="0" presId="urn:microsoft.com/office/officeart/2018/2/layout/IconVerticalSolidList"/>
    <dgm:cxn modelId="{AB6300E6-9D88-4249-8482-624CD88ECE42}" type="presParOf" srcId="{9B633662-D18E-42B3-8561-F873AA2020B0}" destId="{ACC1096A-2977-41E7-9D51-986CB2D7D50D}" srcOrd="7" destOrd="0" presId="urn:microsoft.com/office/officeart/2018/2/layout/IconVerticalSolidList"/>
    <dgm:cxn modelId="{8F18E544-2563-4998-AEA3-68A06E886063}" type="presParOf" srcId="{9B633662-D18E-42B3-8561-F873AA2020B0}" destId="{EE05F510-4531-4CE6-A9D5-09DE45AA8FAD}" srcOrd="8" destOrd="0" presId="urn:microsoft.com/office/officeart/2018/2/layout/IconVerticalSolidList"/>
    <dgm:cxn modelId="{F79ACB07-9737-46A6-9419-8CF9485D5CAA}" type="presParOf" srcId="{EE05F510-4531-4CE6-A9D5-09DE45AA8FAD}" destId="{FC67B6DB-4877-46FE-A7AA-C5EBDB4F1D78}" srcOrd="0" destOrd="0" presId="urn:microsoft.com/office/officeart/2018/2/layout/IconVerticalSolidList"/>
    <dgm:cxn modelId="{595C9723-0AE5-4FA4-B1C7-0AFD1646737F}" type="presParOf" srcId="{EE05F510-4531-4CE6-A9D5-09DE45AA8FAD}" destId="{B1ADB2D5-94D8-4A8F-8A11-59B56D039D5B}" srcOrd="1" destOrd="0" presId="urn:microsoft.com/office/officeart/2018/2/layout/IconVerticalSolidList"/>
    <dgm:cxn modelId="{3AEFD74F-A826-430F-9A89-7D9F90F866CE}" type="presParOf" srcId="{EE05F510-4531-4CE6-A9D5-09DE45AA8FAD}" destId="{B462376E-6F27-4E33-A931-8C9E94FF6E17}" srcOrd="2" destOrd="0" presId="urn:microsoft.com/office/officeart/2018/2/layout/IconVerticalSolidList"/>
    <dgm:cxn modelId="{9525C827-22FB-484A-B116-A01CD0373418}" type="presParOf" srcId="{EE05F510-4531-4CE6-A9D5-09DE45AA8FAD}" destId="{5A23F9A2-7F58-49EC-A311-9951474CEB35}" srcOrd="3" destOrd="0" presId="urn:microsoft.com/office/officeart/2018/2/layout/IconVerticalSolidList"/>
    <dgm:cxn modelId="{639A3E48-08E5-4223-AF8A-C056A07BB04B}" type="presParOf" srcId="{9B633662-D18E-42B3-8561-F873AA2020B0}" destId="{19BCE7A3-4C81-48B5-A9D9-BF87CB5226B6}" srcOrd="9" destOrd="0" presId="urn:microsoft.com/office/officeart/2018/2/layout/IconVerticalSolidList"/>
    <dgm:cxn modelId="{45BCE967-5A22-4F26-A661-0D39B39F77F5}" type="presParOf" srcId="{9B633662-D18E-42B3-8561-F873AA2020B0}" destId="{F5C11167-4C5F-4E4F-89DC-94B54FEE5105}" srcOrd="10" destOrd="0" presId="urn:microsoft.com/office/officeart/2018/2/layout/IconVerticalSolidList"/>
    <dgm:cxn modelId="{94811890-CED4-4A2B-AF02-1B5336068312}" type="presParOf" srcId="{F5C11167-4C5F-4E4F-89DC-94B54FEE5105}" destId="{870059F1-907E-4C77-9682-1443FF57A1AE}" srcOrd="0" destOrd="0" presId="urn:microsoft.com/office/officeart/2018/2/layout/IconVerticalSolidList"/>
    <dgm:cxn modelId="{234AFC44-5AF5-4D83-8E98-3961CFF125E6}" type="presParOf" srcId="{F5C11167-4C5F-4E4F-89DC-94B54FEE5105}" destId="{69BB13F6-81C3-44BF-95EC-5E86375A7EE2}" srcOrd="1" destOrd="0" presId="urn:microsoft.com/office/officeart/2018/2/layout/IconVerticalSolidList"/>
    <dgm:cxn modelId="{A961AF53-C95D-466C-9AAB-075223707810}" type="presParOf" srcId="{F5C11167-4C5F-4E4F-89DC-94B54FEE5105}" destId="{984DEAE6-1EFC-474D-BEEC-038523693CBB}" srcOrd="2" destOrd="0" presId="urn:microsoft.com/office/officeart/2018/2/layout/IconVerticalSolidList"/>
    <dgm:cxn modelId="{C29D1389-649E-4DC1-9FDF-1918AE94EC74}" type="presParOf" srcId="{F5C11167-4C5F-4E4F-89DC-94B54FEE5105}" destId="{A11E71D0-1D98-4927-B8C7-64F711DF9823}" srcOrd="3" destOrd="0" presId="urn:microsoft.com/office/officeart/2018/2/layout/IconVerticalSolidList"/>
    <dgm:cxn modelId="{2B5EAC9C-BF36-48DD-A24C-A72453B22572}" type="presParOf" srcId="{9B633662-D18E-42B3-8561-F873AA2020B0}" destId="{40DFA67B-BA6F-4F1E-892F-BF8DC3759453}" srcOrd="11" destOrd="0" presId="urn:microsoft.com/office/officeart/2018/2/layout/IconVerticalSolidList"/>
    <dgm:cxn modelId="{49819BC2-D375-4A2A-8180-18D46CA69522}" type="presParOf" srcId="{9B633662-D18E-42B3-8561-F873AA2020B0}" destId="{D28B0517-7137-4300-B1E3-AD85EE6B3A6D}" srcOrd="12" destOrd="0" presId="urn:microsoft.com/office/officeart/2018/2/layout/IconVerticalSolidList"/>
    <dgm:cxn modelId="{FC00D47C-2F9D-404B-941C-DD6B090666EB}" type="presParOf" srcId="{D28B0517-7137-4300-B1E3-AD85EE6B3A6D}" destId="{1B26AFAC-2355-44EF-AF5C-098ABDDA530A}" srcOrd="0" destOrd="0" presId="urn:microsoft.com/office/officeart/2018/2/layout/IconVerticalSolidList"/>
    <dgm:cxn modelId="{37E06224-5F2E-4330-805E-35D0E5B03F67}" type="presParOf" srcId="{D28B0517-7137-4300-B1E3-AD85EE6B3A6D}" destId="{7B2A4860-B0B9-4418-B3FA-CB0B152FFA16}" srcOrd="1" destOrd="0" presId="urn:microsoft.com/office/officeart/2018/2/layout/IconVerticalSolidList"/>
    <dgm:cxn modelId="{DB456E71-421B-4F93-9C92-1F6CE3C4C8E0}" type="presParOf" srcId="{D28B0517-7137-4300-B1E3-AD85EE6B3A6D}" destId="{B7B2AC8E-8992-4410-BD7D-52F141C7FC43}" srcOrd="2" destOrd="0" presId="urn:microsoft.com/office/officeart/2018/2/layout/IconVerticalSolidList"/>
    <dgm:cxn modelId="{85B950BF-9B45-48DF-9A87-195A38FEFD85}" type="presParOf" srcId="{D28B0517-7137-4300-B1E3-AD85EE6B3A6D}" destId="{85031F1D-A678-484E-A9A7-3B4C68DC01E9}" srcOrd="3" destOrd="0" presId="urn:microsoft.com/office/officeart/2018/2/layout/IconVerticalSolidList"/>
    <dgm:cxn modelId="{4981C718-B58F-4E72-9CDB-6AE6D5130EFC}" type="presParOf" srcId="{9B633662-D18E-42B3-8561-F873AA2020B0}" destId="{12BF9DEF-0711-4319-BEC5-64CDF7602C9E}" srcOrd="13" destOrd="0" presId="urn:microsoft.com/office/officeart/2018/2/layout/IconVerticalSolidList"/>
    <dgm:cxn modelId="{56071277-4894-4771-866C-6E102C2E6CCE}" type="presParOf" srcId="{9B633662-D18E-42B3-8561-F873AA2020B0}" destId="{DBB23B3E-A5D1-4444-9991-F7EB0186EFD7}" srcOrd="14" destOrd="0" presId="urn:microsoft.com/office/officeart/2018/2/layout/IconVerticalSolidList"/>
    <dgm:cxn modelId="{742A3098-1922-408D-AC06-A9161B4E155E}" type="presParOf" srcId="{DBB23B3E-A5D1-4444-9991-F7EB0186EFD7}" destId="{4EB6DA4C-9328-48E3-8DB6-4A6563F231E0}" srcOrd="0" destOrd="0" presId="urn:microsoft.com/office/officeart/2018/2/layout/IconVerticalSolidList"/>
    <dgm:cxn modelId="{2A1473E1-BCFF-49A6-A41F-E35D4796D66C}" type="presParOf" srcId="{DBB23B3E-A5D1-4444-9991-F7EB0186EFD7}" destId="{47782E65-0F06-4EE0-8B54-7F1755682016}" srcOrd="1" destOrd="0" presId="urn:microsoft.com/office/officeart/2018/2/layout/IconVerticalSolidList"/>
    <dgm:cxn modelId="{E97C535D-9A03-4B34-AB6E-0BE926E7336E}" type="presParOf" srcId="{DBB23B3E-A5D1-4444-9991-F7EB0186EFD7}" destId="{EDD81323-3721-4BE1-85F0-63D639D91878}" srcOrd="2" destOrd="0" presId="urn:microsoft.com/office/officeart/2018/2/layout/IconVerticalSolidList"/>
    <dgm:cxn modelId="{F6096C6B-863D-4C5D-A945-AC9F2B45A69C}" type="presParOf" srcId="{DBB23B3E-A5D1-4444-9991-F7EB0186EFD7}" destId="{834094EF-3F93-4C98-9F63-36AB5D2C4F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48ACE0-2679-4ED3-9BDB-0BF02DD69A03}">
      <dsp:nvSpPr>
        <dsp:cNvPr id="0" name=""/>
        <dsp:cNvSpPr/>
      </dsp:nvSpPr>
      <dsp:spPr>
        <a:xfrm>
          <a:off x="0" y="120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06106-9E59-4080-8B87-529E0B7C3ADE}">
      <dsp:nvSpPr>
        <dsp:cNvPr id="0" name=""/>
        <dsp:cNvSpPr/>
      </dsp:nvSpPr>
      <dsp:spPr>
        <a:xfrm>
          <a:off x="0" y="1202"/>
          <a:ext cx="8229600" cy="410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This analysis compares </a:t>
          </a:r>
          <a:r>
            <a:rPr lang="en-US" sz="1100" b="1" kern="1200"/>
            <a:t>average loan amount, interest rate, and default rate across loan grades</a:t>
          </a:r>
          <a:r>
            <a:rPr lang="en-US" sz="1100" kern="1200"/>
            <a:t>.</a:t>
          </a:r>
        </a:p>
      </dsp:txBody>
      <dsp:txXfrm>
        <a:off x="0" y="1202"/>
        <a:ext cx="8229600" cy="410148"/>
      </dsp:txXfrm>
    </dsp:sp>
    <dsp:sp modelId="{6216FF97-5AFE-4743-822F-E04F9B171032}">
      <dsp:nvSpPr>
        <dsp:cNvPr id="0" name=""/>
        <dsp:cNvSpPr/>
      </dsp:nvSpPr>
      <dsp:spPr>
        <a:xfrm>
          <a:off x="0" y="41135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15920-B461-4363-96FA-6C4ABB8BE0F7}">
      <dsp:nvSpPr>
        <dsp:cNvPr id="0" name=""/>
        <dsp:cNvSpPr/>
      </dsp:nvSpPr>
      <dsp:spPr>
        <a:xfrm>
          <a:off x="0" y="411351"/>
          <a:ext cx="8229600" cy="410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Borrowers in </a:t>
          </a:r>
          <a:r>
            <a:rPr lang="en-US" sz="1100" b="1" kern="1200"/>
            <a:t>lower grades (G, F, and E)</a:t>
          </a:r>
          <a:r>
            <a:rPr lang="en-US" sz="1100" kern="1200"/>
            <a:t> tend to take </a:t>
          </a:r>
          <a:r>
            <a:rPr lang="en-US" sz="1100" b="1" kern="1200"/>
            <a:t>higher loan amounts</a:t>
          </a:r>
          <a:r>
            <a:rPr lang="en-US" sz="1100" kern="1200"/>
            <a:t>, even though their credit quality is weaker.</a:t>
          </a:r>
        </a:p>
      </dsp:txBody>
      <dsp:txXfrm>
        <a:off x="0" y="411351"/>
        <a:ext cx="8229600" cy="410148"/>
      </dsp:txXfrm>
    </dsp:sp>
    <dsp:sp modelId="{CBC4545D-4BC6-43B0-8F6D-5A9C07A1BFA2}">
      <dsp:nvSpPr>
        <dsp:cNvPr id="0" name=""/>
        <dsp:cNvSpPr/>
      </dsp:nvSpPr>
      <dsp:spPr>
        <a:xfrm>
          <a:off x="0" y="8215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E0BBB-4941-4AC4-AC30-62DC850E3264}">
      <dsp:nvSpPr>
        <dsp:cNvPr id="0" name=""/>
        <dsp:cNvSpPr/>
      </dsp:nvSpPr>
      <dsp:spPr>
        <a:xfrm>
          <a:off x="0" y="821500"/>
          <a:ext cx="8229600" cy="410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Interest rates </a:t>
          </a:r>
          <a:r>
            <a:rPr lang="en-US" sz="1100" b="1" kern="1200"/>
            <a:t>gradually decrease from Grade G to Grade A</a:t>
          </a:r>
          <a:r>
            <a:rPr lang="en-US" sz="1100" kern="1200"/>
            <a:t>, which clearly reflects improving borrower reliability and lower perceived risk.</a:t>
          </a:r>
        </a:p>
      </dsp:txBody>
      <dsp:txXfrm>
        <a:off x="0" y="821500"/>
        <a:ext cx="8229600" cy="410148"/>
      </dsp:txXfrm>
    </dsp:sp>
    <dsp:sp modelId="{6B262C77-26D0-4DB9-B343-95CD27559DCB}">
      <dsp:nvSpPr>
        <dsp:cNvPr id="0" name=""/>
        <dsp:cNvSpPr/>
      </dsp:nvSpPr>
      <dsp:spPr>
        <a:xfrm>
          <a:off x="0" y="123164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2C3AE-2017-4A99-8CBF-EF8CB8A1CE1E}">
      <dsp:nvSpPr>
        <dsp:cNvPr id="0" name=""/>
        <dsp:cNvSpPr/>
      </dsp:nvSpPr>
      <dsp:spPr>
        <a:xfrm>
          <a:off x="0" y="1231649"/>
          <a:ext cx="8229600" cy="410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Default rates are highest in grades G to E</a:t>
          </a:r>
          <a:r>
            <a:rPr lang="en-US" sz="1100" kern="1200"/>
            <a:t>, showing that weaker credit profiles struggle more with repayment.</a:t>
          </a:r>
        </a:p>
      </dsp:txBody>
      <dsp:txXfrm>
        <a:off x="0" y="1231649"/>
        <a:ext cx="8229600" cy="410148"/>
      </dsp:txXfrm>
    </dsp:sp>
    <dsp:sp modelId="{A6388F40-3CAF-45A7-B578-6792E9187E5C}">
      <dsp:nvSpPr>
        <dsp:cNvPr id="0" name=""/>
        <dsp:cNvSpPr/>
      </dsp:nvSpPr>
      <dsp:spPr>
        <a:xfrm>
          <a:off x="0" y="164179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26F5F-134B-4DDE-9F85-73B18FFAE5FA}">
      <dsp:nvSpPr>
        <dsp:cNvPr id="0" name=""/>
        <dsp:cNvSpPr/>
      </dsp:nvSpPr>
      <dsp:spPr>
        <a:xfrm>
          <a:off x="0" y="1641797"/>
          <a:ext cx="8229600" cy="410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Grades A and B stand out as the safest segments</a:t>
          </a:r>
          <a:r>
            <a:rPr lang="en-US" sz="1100" kern="1200"/>
            <a:t>, with lower loan amounts, lower interest rates, and minimal defaults.</a:t>
          </a:r>
        </a:p>
      </dsp:txBody>
      <dsp:txXfrm>
        <a:off x="0" y="1641797"/>
        <a:ext cx="8229600" cy="410148"/>
      </dsp:txXfrm>
    </dsp:sp>
    <dsp:sp modelId="{1DEDE4F6-2F62-4EB9-A7A1-8CA932B12B25}">
      <dsp:nvSpPr>
        <dsp:cNvPr id="0" name=""/>
        <dsp:cNvSpPr/>
      </dsp:nvSpPr>
      <dsp:spPr>
        <a:xfrm>
          <a:off x="0" y="205194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4EE8C-2C37-4BA1-B0F0-6E36F2270279}">
      <dsp:nvSpPr>
        <dsp:cNvPr id="0" name=""/>
        <dsp:cNvSpPr/>
      </dsp:nvSpPr>
      <dsp:spPr>
        <a:xfrm>
          <a:off x="0" y="2051946"/>
          <a:ext cx="8229600" cy="410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Overall, this confirms that </a:t>
          </a:r>
          <a:r>
            <a:rPr lang="en-US" sz="1100" b="1" kern="1200"/>
            <a:t>high loan amount combined with high interest rate significantly increases default risk</a:t>
          </a:r>
          <a:r>
            <a:rPr lang="en-US" sz="1100" kern="1200"/>
            <a:t>, especially in lower grades.</a:t>
          </a:r>
        </a:p>
      </dsp:txBody>
      <dsp:txXfrm>
        <a:off x="0" y="2051946"/>
        <a:ext cx="8229600" cy="410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95FD79-56EA-40E7-89BF-EFCF8F3E3417}">
      <dsp:nvSpPr>
        <dsp:cNvPr id="0" name=""/>
        <dsp:cNvSpPr/>
      </dsp:nvSpPr>
      <dsp:spPr>
        <a:xfrm>
          <a:off x="0" y="1516"/>
          <a:ext cx="3228682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7DDD0D-CBCB-47D4-8279-EB1EE0C8EA68}">
      <dsp:nvSpPr>
        <dsp:cNvPr id="0" name=""/>
        <dsp:cNvSpPr/>
      </dsp:nvSpPr>
      <dsp:spPr>
        <a:xfrm>
          <a:off x="0" y="1516"/>
          <a:ext cx="3228682" cy="837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This Graph shows how </a:t>
          </a:r>
          <a:r>
            <a:rPr lang="en-US" sz="1200" b="1" kern="1200" dirty="0"/>
            <a:t>employment stability impacts loan repayment behavior</a:t>
          </a:r>
          <a:r>
            <a:rPr lang="en-US" sz="1200" kern="1200" dirty="0"/>
            <a:t>.</a:t>
          </a:r>
        </a:p>
      </dsp:txBody>
      <dsp:txXfrm>
        <a:off x="0" y="1516"/>
        <a:ext cx="3228682" cy="837753"/>
      </dsp:txXfrm>
    </dsp:sp>
    <dsp:sp modelId="{65F83CAC-7C11-47C1-80FE-85A5AB24CDA3}">
      <dsp:nvSpPr>
        <dsp:cNvPr id="0" name=""/>
        <dsp:cNvSpPr/>
      </dsp:nvSpPr>
      <dsp:spPr>
        <a:xfrm>
          <a:off x="0" y="839269"/>
          <a:ext cx="3228682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F08D7CA-3150-4B5E-BC64-9EC57CE1499A}">
      <dsp:nvSpPr>
        <dsp:cNvPr id="0" name=""/>
        <dsp:cNvSpPr/>
      </dsp:nvSpPr>
      <dsp:spPr>
        <a:xfrm>
          <a:off x="0" y="839269"/>
          <a:ext cx="3228682" cy="837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Borrowers with </a:t>
          </a:r>
          <a:r>
            <a:rPr lang="en-US" sz="1200" b="1" kern="1200" dirty="0"/>
            <a:t>0–5 years of employment</a:t>
          </a:r>
          <a:r>
            <a:rPr lang="en-US" sz="1200" kern="1200" dirty="0"/>
            <a:t> form the </a:t>
          </a:r>
          <a:r>
            <a:rPr lang="en-US" sz="1200" b="1" kern="1200" dirty="0"/>
            <a:t>largest applicant group</a:t>
          </a:r>
          <a:r>
            <a:rPr lang="en-US" sz="1200" kern="1200" dirty="0"/>
            <a:t>, but they also contribute the </a:t>
          </a:r>
          <a:r>
            <a:rPr lang="en-US" sz="1200" b="1" kern="1200" dirty="0"/>
            <a:t>highest number of defaults</a:t>
          </a:r>
          <a:r>
            <a:rPr lang="en-US" sz="1200" kern="1200" dirty="0"/>
            <a:t>.</a:t>
          </a:r>
        </a:p>
      </dsp:txBody>
      <dsp:txXfrm>
        <a:off x="0" y="839269"/>
        <a:ext cx="3228682" cy="837753"/>
      </dsp:txXfrm>
    </dsp:sp>
    <dsp:sp modelId="{4257DD16-93C6-48DD-9B2E-98335F875DB7}">
      <dsp:nvSpPr>
        <dsp:cNvPr id="0" name=""/>
        <dsp:cNvSpPr/>
      </dsp:nvSpPr>
      <dsp:spPr>
        <a:xfrm>
          <a:off x="0" y="1677023"/>
          <a:ext cx="3228682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0BEAA4F-529D-4A08-969D-6AD3CA669F19}">
      <dsp:nvSpPr>
        <dsp:cNvPr id="0" name=""/>
        <dsp:cNvSpPr/>
      </dsp:nvSpPr>
      <dsp:spPr>
        <a:xfrm>
          <a:off x="0" y="1677023"/>
          <a:ext cx="3228682" cy="837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Individuals with </a:t>
          </a:r>
          <a:r>
            <a:rPr lang="en-US" sz="1200" b="1" kern="1200" dirty="0"/>
            <a:t>less than 10 years of work experience</a:t>
          </a:r>
          <a:r>
            <a:rPr lang="en-US" sz="1200" kern="1200" dirty="0"/>
            <a:t> show noticeably </a:t>
          </a:r>
          <a:r>
            <a:rPr lang="en-US" sz="1200" b="1" kern="1200" dirty="0"/>
            <a:t>higher repayment risk</a:t>
          </a:r>
          <a:r>
            <a:rPr lang="en-US" sz="1200" kern="1200" dirty="0"/>
            <a:t>, likely due to income instability.</a:t>
          </a:r>
        </a:p>
      </dsp:txBody>
      <dsp:txXfrm>
        <a:off x="0" y="1677023"/>
        <a:ext cx="3228682" cy="837753"/>
      </dsp:txXfrm>
    </dsp:sp>
    <dsp:sp modelId="{7EB9CC03-4D14-4C6B-8DC8-D7BAFB1B99C7}">
      <dsp:nvSpPr>
        <dsp:cNvPr id="0" name=""/>
        <dsp:cNvSpPr/>
      </dsp:nvSpPr>
      <dsp:spPr>
        <a:xfrm>
          <a:off x="0" y="2514776"/>
          <a:ext cx="3228682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4D16ED9-9F1C-477E-AF3F-752BABDFF783}">
      <dsp:nvSpPr>
        <dsp:cNvPr id="0" name=""/>
        <dsp:cNvSpPr/>
      </dsp:nvSpPr>
      <dsp:spPr>
        <a:xfrm>
          <a:off x="0" y="2514776"/>
          <a:ext cx="3228682" cy="837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As employment length increases, </a:t>
          </a:r>
          <a:r>
            <a:rPr lang="en-US" sz="1200" b="1" kern="1200" dirty="0"/>
            <a:t>default rates decline steadily</a:t>
          </a:r>
          <a:r>
            <a:rPr lang="en-US" sz="1200" kern="1200" dirty="0"/>
            <a:t>, indicating stronger financial discipline and stability.</a:t>
          </a:r>
        </a:p>
      </dsp:txBody>
      <dsp:txXfrm>
        <a:off x="0" y="2514776"/>
        <a:ext cx="3228682" cy="837753"/>
      </dsp:txXfrm>
    </dsp:sp>
    <dsp:sp modelId="{A385C11D-98FD-4A07-A9FC-D4AFCC95FB33}">
      <dsp:nvSpPr>
        <dsp:cNvPr id="0" name=""/>
        <dsp:cNvSpPr/>
      </dsp:nvSpPr>
      <dsp:spPr>
        <a:xfrm>
          <a:off x="0" y="3352529"/>
          <a:ext cx="3228682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5288E1A-2559-4F70-BB08-EA3FB403D125}">
      <dsp:nvSpPr>
        <dsp:cNvPr id="0" name=""/>
        <dsp:cNvSpPr/>
      </dsp:nvSpPr>
      <dsp:spPr>
        <a:xfrm>
          <a:off x="0" y="3352529"/>
          <a:ext cx="3228682" cy="837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Long-term employees are generally </a:t>
          </a:r>
          <a:r>
            <a:rPr lang="en-US" sz="1200" b="1" kern="1200" dirty="0"/>
            <a:t>more reliable borrowers</a:t>
          </a:r>
          <a:r>
            <a:rPr lang="en-US" sz="1200" kern="1200" dirty="0"/>
            <a:t>, with fewer defaults despite similar loan exposure.</a:t>
          </a:r>
        </a:p>
      </dsp:txBody>
      <dsp:txXfrm>
        <a:off x="0" y="3352529"/>
        <a:ext cx="3228682" cy="837753"/>
      </dsp:txXfrm>
    </dsp:sp>
    <dsp:sp modelId="{23840EE8-7037-4390-A44B-3478C9D18B48}">
      <dsp:nvSpPr>
        <dsp:cNvPr id="0" name=""/>
        <dsp:cNvSpPr/>
      </dsp:nvSpPr>
      <dsp:spPr>
        <a:xfrm>
          <a:off x="0" y="4190283"/>
          <a:ext cx="3228682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A8BFC26-0DB1-467B-BDBC-07A399C12C9D}">
      <dsp:nvSpPr>
        <dsp:cNvPr id="0" name=""/>
        <dsp:cNvSpPr/>
      </dsp:nvSpPr>
      <dsp:spPr>
        <a:xfrm>
          <a:off x="0" y="4190283"/>
          <a:ext cx="3228682" cy="837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This makes </a:t>
          </a:r>
          <a:r>
            <a:rPr lang="en-US" sz="1200" b="1" kern="1200" dirty="0"/>
            <a:t>short employment duration a key risk indicator</a:t>
          </a:r>
          <a:r>
            <a:rPr lang="en-US" sz="1200" kern="1200" dirty="0"/>
            <a:t>, especially when combined with other risk factors.</a:t>
          </a:r>
        </a:p>
      </dsp:txBody>
      <dsp:txXfrm>
        <a:off x="0" y="4190283"/>
        <a:ext cx="3228682" cy="8377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AE8D50-005E-4DA9-B3DC-2F8CD848B408}">
      <dsp:nvSpPr>
        <dsp:cNvPr id="0" name=""/>
        <dsp:cNvSpPr/>
      </dsp:nvSpPr>
      <dsp:spPr>
        <a:xfrm>
          <a:off x="0" y="133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25F86-6698-4EFA-84ED-AEE274BDD70B}">
      <dsp:nvSpPr>
        <dsp:cNvPr id="0" name=""/>
        <dsp:cNvSpPr/>
      </dsp:nvSpPr>
      <dsp:spPr>
        <a:xfrm>
          <a:off x="0" y="1336"/>
          <a:ext cx="8229600" cy="45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slide compares </a:t>
          </a:r>
          <a:r>
            <a:rPr lang="en-US" sz="1400" b="1" kern="1200"/>
            <a:t>average income and loan amount across different loan purposes</a:t>
          </a:r>
          <a:r>
            <a:rPr lang="en-US" sz="1400" kern="1200"/>
            <a:t>.</a:t>
          </a:r>
        </a:p>
      </dsp:txBody>
      <dsp:txXfrm>
        <a:off x="0" y="1336"/>
        <a:ext cx="8229600" cy="455859"/>
      </dsp:txXfrm>
    </dsp:sp>
    <dsp:sp modelId="{BCE53B61-A8FA-4C63-BDD4-E4A5CBF736DD}">
      <dsp:nvSpPr>
        <dsp:cNvPr id="0" name=""/>
        <dsp:cNvSpPr/>
      </dsp:nvSpPr>
      <dsp:spPr>
        <a:xfrm>
          <a:off x="0" y="45719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66654-35F7-4066-BE27-0B5454FA0F73}">
      <dsp:nvSpPr>
        <dsp:cNvPr id="0" name=""/>
        <dsp:cNvSpPr/>
      </dsp:nvSpPr>
      <dsp:spPr>
        <a:xfrm>
          <a:off x="0" y="457196"/>
          <a:ext cx="8229600" cy="45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Debt consolidation borrowers</a:t>
          </a:r>
          <a:r>
            <a:rPr lang="en-US" sz="1400" kern="1200" dirty="0"/>
            <a:t> typically take the </a:t>
          </a:r>
          <a:r>
            <a:rPr lang="en-US" sz="1400" b="1" kern="1200" dirty="0"/>
            <a:t>largest loan amounts</a:t>
          </a:r>
          <a:r>
            <a:rPr lang="en-US" sz="1400" kern="1200" dirty="0"/>
            <a:t>, likely to manage multiple existing liabilities.</a:t>
          </a:r>
        </a:p>
      </dsp:txBody>
      <dsp:txXfrm>
        <a:off x="0" y="457196"/>
        <a:ext cx="8229600" cy="455859"/>
      </dsp:txXfrm>
    </dsp:sp>
    <dsp:sp modelId="{6E0E1D23-AED4-42FA-B9EE-CDCDCE5087B9}">
      <dsp:nvSpPr>
        <dsp:cNvPr id="0" name=""/>
        <dsp:cNvSpPr/>
      </dsp:nvSpPr>
      <dsp:spPr>
        <a:xfrm>
          <a:off x="0" y="91305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2B059-598E-4E20-85D0-1B59E052484B}">
      <dsp:nvSpPr>
        <dsp:cNvPr id="0" name=""/>
        <dsp:cNvSpPr/>
      </dsp:nvSpPr>
      <dsp:spPr>
        <a:xfrm>
          <a:off x="0" y="913056"/>
          <a:ext cx="8229600" cy="45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Medical and education loans show high loan-to-income ratios</a:t>
          </a:r>
          <a:r>
            <a:rPr lang="en-US" sz="1400" kern="1200"/>
            <a:t>, indicating borrowers are stretching finances to meet urgent or long-term needs.</a:t>
          </a:r>
        </a:p>
      </dsp:txBody>
      <dsp:txXfrm>
        <a:off x="0" y="913056"/>
        <a:ext cx="8229600" cy="455859"/>
      </dsp:txXfrm>
    </dsp:sp>
    <dsp:sp modelId="{E85B5E28-36C2-4CA1-81EC-C766D4B2D1B4}">
      <dsp:nvSpPr>
        <dsp:cNvPr id="0" name=""/>
        <dsp:cNvSpPr/>
      </dsp:nvSpPr>
      <dsp:spPr>
        <a:xfrm>
          <a:off x="0" y="136891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527B6-FF89-4A4C-B039-9E0CFFD1F812}">
      <dsp:nvSpPr>
        <dsp:cNvPr id="0" name=""/>
        <dsp:cNvSpPr/>
      </dsp:nvSpPr>
      <dsp:spPr>
        <a:xfrm>
          <a:off x="0" y="1368916"/>
          <a:ext cx="8229600" cy="45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Personal and home improvement loans</a:t>
          </a:r>
          <a:r>
            <a:rPr lang="en-US" sz="1400" kern="1200"/>
            <a:t> fall in a </a:t>
          </a:r>
          <a:r>
            <a:rPr lang="en-US" sz="1400" b="1" kern="1200"/>
            <a:t>moderate range</a:t>
          </a:r>
          <a:r>
            <a:rPr lang="en-US" sz="1400" kern="1200"/>
            <a:t>, suggesting relatively balanced borrowing behavior.</a:t>
          </a:r>
        </a:p>
      </dsp:txBody>
      <dsp:txXfrm>
        <a:off x="0" y="1368916"/>
        <a:ext cx="8229600" cy="455859"/>
      </dsp:txXfrm>
    </dsp:sp>
    <dsp:sp modelId="{072128A3-8A23-4B79-9F12-63CD05303DA2}">
      <dsp:nvSpPr>
        <dsp:cNvPr id="0" name=""/>
        <dsp:cNvSpPr/>
      </dsp:nvSpPr>
      <dsp:spPr>
        <a:xfrm>
          <a:off x="0" y="182477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9FB9C-3E9C-4004-AC09-2AC4B83498FA}">
      <dsp:nvSpPr>
        <dsp:cNvPr id="0" name=""/>
        <dsp:cNvSpPr/>
      </dsp:nvSpPr>
      <dsp:spPr>
        <a:xfrm>
          <a:off x="0" y="1824776"/>
          <a:ext cx="8229600" cy="45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Venture loans show </a:t>
          </a:r>
          <a:r>
            <a:rPr lang="en-US" sz="1400" b="1" kern="1200"/>
            <a:t>stable income with controlled borrowing</a:t>
          </a:r>
          <a:r>
            <a:rPr lang="en-US" sz="1400" kern="1200"/>
            <a:t>, reflecting cautious financial planning.</a:t>
          </a:r>
        </a:p>
      </dsp:txBody>
      <dsp:txXfrm>
        <a:off x="0" y="1824776"/>
        <a:ext cx="8229600" cy="455859"/>
      </dsp:txXfrm>
    </dsp:sp>
    <dsp:sp modelId="{1B6B5DE9-4E1B-42CD-9860-9BA5FFC1A066}">
      <dsp:nvSpPr>
        <dsp:cNvPr id="0" name=""/>
        <dsp:cNvSpPr/>
      </dsp:nvSpPr>
      <dsp:spPr>
        <a:xfrm>
          <a:off x="0" y="228063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67C91-A433-464A-B6E4-862D19CDE33C}">
      <dsp:nvSpPr>
        <dsp:cNvPr id="0" name=""/>
        <dsp:cNvSpPr/>
      </dsp:nvSpPr>
      <dsp:spPr>
        <a:xfrm>
          <a:off x="0" y="2280636"/>
          <a:ext cx="8229600" cy="45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High loan-to-income categories clearly require </a:t>
          </a:r>
          <a:r>
            <a:rPr lang="en-US" sz="1400" b="1" kern="1200" dirty="0"/>
            <a:t>closer monitoring</a:t>
          </a:r>
          <a:r>
            <a:rPr lang="en-US" sz="1400" kern="1200" dirty="0"/>
            <a:t>, as repayment pressure is higher.</a:t>
          </a:r>
        </a:p>
      </dsp:txBody>
      <dsp:txXfrm>
        <a:off x="0" y="2280636"/>
        <a:ext cx="8229600" cy="4558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125F1-73CE-45F1-A931-81C4C278D69D}">
      <dsp:nvSpPr>
        <dsp:cNvPr id="0" name=""/>
        <dsp:cNvSpPr/>
      </dsp:nvSpPr>
      <dsp:spPr>
        <a:xfrm>
          <a:off x="0" y="132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FB439-C90E-465C-A5EC-F90259FE44E8}">
      <dsp:nvSpPr>
        <dsp:cNvPr id="0" name=""/>
        <dsp:cNvSpPr/>
      </dsp:nvSpPr>
      <dsp:spPr>
        <a:xfrm>
          <a:off x="0" y="1323"/>
          <a:ext cx="8229600" cy="4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analysis focuses on how </a:t>
          </a:r>
          <a:r>
            <a:rPr lang="en-US" sz="1400" b="1" kern="1200"/>
            <a:t>credit history duration impacts default risk</a:t>
          </a:r>
          <a:r>
            <a:rPr lang="en-US" sz="1400" kern="1200"/>
            <a:t>.</a:t>
          </a:r>
        </a:p>
      </dsp:txBody>
      <dsp:txXfrm>
        <a:off x="0" y="1323"/>
        <a:ext cx="8229600" cy="451315"/>
      </dsp:txXfrm>
    </dsp:sp>
    <dsp:sp modelId="{D8CBFA32-B5D3-418C-AC43-C43839A07EDD}">
      <dsp:nvSpPr>
        <dsp:cNvPr id="0" name=""/>
        <dsp:cNvSpPr/>
      </dsp:nvSpPr>
      <dsp:spPr>
        <a:xfrm>
          <a:off x="0" y="45263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8C05BF-0209-4AD3-862F-C687C656160A}">
      <dsp:nvSpPr>
        <dsp:cNvPr id="0" name=""/>
        <dsp:cNvSpPr/>
      </dsp:nvSpPr>
      <dsp:spPr>
        <a:xfrm>
          <a:off x="0" y="452639"/>
          <a:ext cx="8229600" cy="4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Borrowers with </a:t>
          </a:r>
          <a:r>
            <a:rPr lang="en-US" sz="1400" b="1" kern="1200" dirty="0"/>
            <a:t>2–5 years of credit history show the highest default rates</a:t>
          </a:r>
          <a:r>
            <a:rPr lang="en-US" sz="1400" kern="1200" dirty="0"/>
            <a:t>, highlighting limited repayment experience.</a:t>
          </a:r>
        </a:p>
      </dsp:txBody>
      <dsp:txXfrm>
        <a:off x="0" y="452639"/>
        <a:ext cx="8229600" cy="451315"/>
      </dsp:txXfrm>
    </dsp:sp>
    <dsp:sp modelId="{392A3D21-623B-46C8-8B17-B0FB4F25CE19}">
      <dsp:nvSpPr>
        <dsp:cNvPr id="0" name=""/>
        <dsp:cNvSpPr/>
      </dsp:nvSpPr>
      <dsp:spPr>
        <a:xfrm>
          <a:off x="0" y="90395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615A5-7546-44FF-9EBA-43973EC5CE5E}">
      <dsp:nvSpPr>
        <dsp:cNvPr id="0" name=""/>
        <dsp:cNvSpPr/>
      </dsp:nvSpPr>
      <dsp:spPr>
        <a:xfrm>
          <a:off x="0" y="903955"/>
          <a:ext cx="8229600" cy="4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Default rates </a:t>
          </a:r>
          <a:r>
            <a:rPr lang="en-US" sz="1400" b="1" kern="1200"/>
            <a:t>drop sharply between 6 and 20 years</a:t>
          </a:r>
          <a:r>
            <a:rPr lang="en-US" sz="1400" kern="1200"/>
            <a:t>, indicating that experienced borrowers manage credit better.</a:t>
          </a:r>
        </a:p>
      </dsp:txBody>
      <dsp:txXfrm>
        <a:off x="0" y="903955"/>
        <a:ext cx="8229600" cy="451315"/>
      </dsp:txXfrm>
    </dsp:sp>
    <dsp:sp modelId="{F4CC60B2-1564-485F-9B94-FC51FF5AA630}">
      <dsp:nvSpPr>
        <dsp:cNvPr id="0" name=""/>
        <dsp:cNvSpPr/>
      </dsp:nvSpPr>
      <dsp:spPr>
        <a:xfrm>
          <a:off x="0" y="135527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9E5AD-6C0B-4E49-94D1-302C89AA891E}">
      <dsp:nvSpPr>
        <dsp:cNvPr id="0" name=""/>
        <dsp:cNvSpPr/>
      </dsp:nvSpPr>
      <dsp:spPr>
        <a:xfrm>
          <a:off x="0" y="1355271"/>
          <a:ext cx="8229600" cy="4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</a:t>
          </a:r>
          <a:r>
            <a:rPr lang="en-US" sz="1400" b="1" kern="1200"/>
            <a:t>lowest default rates are observed in the 16–20 year group</a:t>
          </a:r>
          <a:r>
            <a:rPr lang="en-US" sz="1400" kern="1200"/>
            <a:t>, representing mature and disciplined credit behavior.</a:t>
          </a:r>
        </a:p>
      </dsp:txBody>
      <dsp:txXfrm>
        <a:off x="0" y="1355271"/>
        <a:ext cx="8229600" cy="451315"/>
      </dsp:txXfrm>
    </dsp:sp>
    <dsp:sp modelId="{CFCA61AC-71F0-4462-9D8B-AA7E885C4E9D}">
      <dsp:nvSpPr>
        <dsp:cNvPr id="0" name=""/>
        <dsp:cNvSpPr/>
      </dsp:nvSpPr>
      <dsp:spPr>
        <a:xfrm>
          <a:off x="0" y="180658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8621D-1A5D-47C4-983C-6D26C22D1FA3}">
      <dsp:nvSpPr>
        <dsp:cNvPr id="0" name=""/>
        <dsp:cNvSpPr/>
      </dsp:nvSpPr>
      <dsp:spPr>
        <a:xfrm>
          <a:off x="0" y="1806587"/>
          <a:ext cx="8229600" cy="4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 slight increase after 20 years is visible, likely due to </a:t>
          </a:r>
          <a:r>
            <a:rPr lang="en-US" sz="1400" b="1" kern="1200" dirty="0"/>
            <a:t>smaller sample size</a:t>
          </a:r>
          <a:r>
            <a:rPr lang="en-US" sz="1400" kern="1200" dirty="0"/>
            <a:t>, not actual higher risk.</a:t>
          </a:r>
        </a:p>
      </dsp:txBody>
      <dsp:txXfrm>
        <a:off x="0" y="1806587"/>
        <a:ext cx="8229600" cy="451315"/>
      </dsp:txXfrm>
    </dsp:sp>
    <dsp:sp modelId="{B7AFDB70-AD88-4A8D-8B90-3A3DCEE67A6B}">
      <dsp:nvSpPr>
        <dsp:cNvPr id="0" name=""/>
        <dsp:cNvSpPr/>
      </dsp:nvSpPr>
      <dsp:spPr>
        <a:xfrm>
          <a:off x="0" y="225790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0E296-9130-4005-8242-B71A25B50630}">
      <dsp:nvSpPr>
        <dsp:cNvPr id="0" name=""/>
        <dsp:cNvSpPr/>
      </dsp:nvSpPr>
      <dsp:spPr>
        <a:xfrm>
          <a:off x="0" y="2257903"/>
          <a:ext cx="8229600" cy="4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Overall, </a:t>
          </a:r>
          <a:r>
            <a:rPr lang="en-US" sz="1400" b="1" kern="1200" dirty="0"/>
            <a:t>longer credit history strongly correlates with lower credit risk</a:t>
          </a:r>
          <a:r>
            <a:rPr lang="en-US" sz="1400" kern="1200" dirty="0"/>
            <a:t>.</a:t>
          </a:r>
        </a:p>
      </dsp:txBody>
      <dsp:txXfrm>
        <a:off x="0" y="2257903"/>
        <a:ext cx="8229600" cy="4513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5A4740-7A86-4604-BF63-304EA616193E}">
      <dsp:nvSpPr>
        <dsp:cNvPr id="0" name=""/>
        <dsp:cNvSpPr/>
      </dsp:nvSpPr>
      <dsp:spPr>
        <a:xfrm>
          <a:off x="0" y="2380"/>
          <a:ext cx="403335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7503C-9185-4316-A378-E76B5064D903}">
      <dsp:nvSpPr>
        <dsp:cNvPr id="0" name=""/>
        <dsp:cNvSpPr/>
      </dsp:nvSpPr>
      <dsp:spPr>
        <a:xfrm>
          <a:off x="0" y="2380"/>
          <a:ext cx="4033354" cy="811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simulation demonstrates how </a:t>
          </a:r>
          <a:r>
            <a:rPr lang="en-US" sz="1600" b="1" kern="1200"/>
            <a:t>changes in interest rates affect borrower stress</a:t>
          </a:r>
          <a:r>
            <a:rPr lang="en-US" sz="1600" kern="1200"/>
            <a:t>.</a:t>
          </a:r>
        </a:p>
      </dsp:txBody>
      <dsp:txXfrm>
        <a:off x="0" y="2380"/>
        <a:ext cx="4033354" cy="811758"/>
      </dsp:txXfrm>
    </dsp:sp>
    <dsp:sp modelId="{F1815696-A645-442D-A097-A31FC37034A9}">
      <dsp:nvSpPr>
        <dsp:cNvPr id="0" name=""/>
        <dsp:cNvSpPr/>
      </dsp:nvSpPr>
      <dsp:spPr>
        <a:xfrm>
          <a:off x="0" y="814138"/>
          <a:ext cx="403335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411F3-C7DA-41D6-95D5-778FB5B623B2}">
      <dsp:nvSpPr>
        <dsp:cNvPr id="0" name=""/>
        <dsp:cNvSpPr/>
      </dsp:nvSpPr>
      <dsp:spPr>
        <a:xfrm>
          <a:off x="0" y="814138"/>
          <a:ext cx="4033354" cy="811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As the interest rate increases, the </a:t>
          </a:r>
          <a:r>
            <a:rPr lang="en-US" sz="1600" b="1" kern="1200" dirty="0"/>
            <a:t>adjusted interest burden rises steadily</a:t>
          </a:r>
          <a:r>
            <a:rPr lang="en-US" sz="1600" kern="1200" dirty="0"/>
            <a:t>, directly impacting monthly repayments.</a:t>
          </a:r>
        </a:p>
      </dsp:txBody>
      <dsp:txXfrm>
        <a:off x="0" y="814138"/>
        <a:ext cx="4033354" cy="811758"/>
      </dsp:txXfrm>
    </dsp:sp>
    <dsp:sp modelId="{1B097AAD-DBEB-433C-9ED0-998CECD7D9D5}">
      <dsp:nvSpPr>
        <dsp:cNvPr id="0" name=""/>
        <dsp:cNvSpPr/>
      </dsp:nvSpPr>
      <dsp:spPr>
        <a:xfrm>
          <a:off x="0" y="1625896"/>
          <a:ext cx="403335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B239B-855F-4CC0-9AA1-EBF691ECB330}">
      <dsp:nvSpPr>
        <dsp:cNvPr id="0" name=""/>
        <dsp:cNvSpPr/>
      </dsp:nvSpPr>
      <dsp:spPr>
        <a:xfrm>
          <a:off x="0" y="1625896"/>
          <a:ext cx="4033354" cy="811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Higher interest rates </a:t>
          </a:r>
          <a:r>
            <a:rPr lang="en-US" sz="1600" b="1" kern="1200" dirty="0"/>
            <a:t>increase default probability</a:t>
          </a:r>
          <a:r>
            <a:rPr lang="en-US" sz="1600" kern="1200" dirty="0"/>
            <a:t>, especially for already high-risk borrowers.</a:t>
          </a:r>
        </a:p>
      </dsp:txBody>
      <dsp:txXfrm>
        <a:off x="0" y="1625896"/>
        <a:ext cx="4033354" cy="811758"/>
      </dsp:txXfrm>
    </dsp:sp>
    <dsp:sp modelId="{0ED23822-CAD3-4C5F-98ED-2EB151320883}">
      <dsp:nvSpPr>
        <dsp:cNvPr id="0" name=""/>
        <dsp:cNvSpPr/>
      </dsp:nvSpPr>
      <dsp:spPr>
        <a:xfrm>
          <a:off x="0" y="2437654"/>
          <a:ext cx="403335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DE25C-B24B-4407-BD4D-8791C914670D}">
      <dsp:nvSpPr>
        <dsp:cNvPr id="0" name=""/>
        <dsp:cNvSpPr/>
      </dsp:nvSpPr>
      <dsp:spPr>
        <a:xfrm>
          <a:off x="0" y="2437654"/>
          <a:ext cx="4033354" cy="811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Lower rates significantly </a:t>
          </a:r>
          <a:r>
            <a:rPr lang="en-US" sz="1600" b="1" kern="1200"/>
            <a:t>improve affordability and repayment capacity</a:t>
          </a:r>
          <a:r>
            <a:rPr lang="en-US" sz="1600" kern="1200"/>
            <a:t>.</a:t>
          </a:r>
        </a:p>
      </dsp:txBody>
      <dsp:txXfrm>
        <a:off x="0" y="2437654"/>
        <a:ext cx="4033354" cy="811758"/>
      </dsp:txXfrm>
    </dsp:sp>
    <dsp:sp modelId="{BDC137D1-2FA3-4DB3-BB61-E4C88B301111}">
      <dsp:nvSpPr>
        <dsp:cNvPr id="0" name=""/>
        <dsp:cNvSpPr/>
      </dsp:nvSpPr>
      <dsp:spPr>
        <a:xfrm>
          <a:off x="0" y="3249413"/>
          <a:ext cx="403335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2BB67-D60B-4DAE-8EA7-BE38F220AB9B}">
      <dsp:nvSpPr>
        <dsp:cNvPr id="0" name=""/>
        <dsp:cNvSpPr/>
      </dsp:nvSpPr>
      <dsp:spPr>
        <a:xfrm>
          <a:off x="0" y="3249413"/>
          <a:ext cx="4033354" cy="811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scenario analysis helps understand </a:t>
          </a:r>
          <a:r>
            <a:rPr lang="en-US" sz="1600" b="1" kern="1200"/>
            <a:t>how sensitive the portfolio is to rate changes</a:t>
          </a:r>
          <a:r>
            <a:rPr lang="en-US" sz="1600" kern="1200"/>
            <a:t>.</a:t>
          </a:r>
        </a:p>
      </dsp:txBody>
      <dsp:txXfrm>
        <a:off x="0" y="3249413"/>
        <a:ext cx="4033354" cy="811758"/>
      </dsp:txXfrm>
    </dsp:sp>
    <dsp:sp modelId="{97797247-7BAA-43D6-8BE2-6CA97839A49F}">
      <dsp:nvSpPr>
        <dsp:cNvPr id="0" name=""/>
        <dsp:cNvSpPr/>
      </dsp:nvSpPr>
      <dsp:spPr>
        <a:xfrm>
          <a:off x="0" y="4061171"/>
          <a:ext cx="403335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0BD3A-3FB8-497C-B2B9-1F9DCF361E4C}">
      <dsp:nvSpPr>
        <dsp:cNvPr id="0" name=""/>
        <dsp:cNvSpPr/>
      </dsp:nvSpPr>
      <dsp:spPr>
        <a:xfrm>
          <a:off x="0" y="4061171"/>
          <a:ext cx="4033354" cy="811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It supports </a:t>
          </a:r>
          <a:r>
            <a:rPr lang="en-US" sz="1600" b="1" kern="1200" dirty="0"/>
            <a:t>risk-based pricing decisions</a:t>
          </a:r>
          <a:r>
            <a:rPr lang="en-US" sz="1600" kern="1200" dirty="0"/>
            <a:t> and better loan structuring.</a:t>
          </a:r>
        </a:p>
      </dsp:txBody>
      <dsp:txXfrm>
        <a:off x="0" y="4061171"/>
        <a:ext cx="4033354" cy="811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2FEB-F4CB-49C3-A05D-71CFE46F1975}">
      <dsp:nvSpPr>
        <dsp:cNvPr id="0" name=""/>
        <dsp:cNvSpPr/>
      </dsp:nvSpPr>
      <dsp:spPr>
        <a:xfrm>
          <a:off x="13749" y="318987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0B0AC-25E1-404F-8E05-305B88D64D2F}">
      <dsp:nvSpPr>
        <dsp:cNvPr id="0" name=""/>
        <dsp:cNvSpPr/>
      </dsp:nvSpPr>
      <dsp:spPr>
        <a:xfrm>
          <a:off x="163063" y="468301"/>
          <a:ext cx="412390" cy="4123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C385E-E60D-4291-9B60-DB4C02E43F75}">
      <dsp:nvSpPr>
        <dsp:cNvPr id="0" name=""/>
        <dsp:cNvSpPr/>
      </dsp:nvSpPr>
      <dsp:spPr>
        <a:xfrm>
          <a:off x="877128" y="318987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This slide explains how </a:t>
          </a:r>
          <a:r>
            <a:rPr lang="en-US" sz="1100" b="1" kern="1200"/>
            <a:t>data security is implemented in the dashboard</a:t>
          </a:r>
          <a:r>
            <a:rPr lang="en-US" sz="1100" kern="1200"/>
            <a:t>.</a:t>
          </a:r>
        </a:p>
      </dsp:txBody>
      <dsp:txXfrm>
        <a:off x="877128" y="318987"/>
        <a:ext cx="1675971" cy="711018"/>
      </dsp:txXfrm>
    </dsp:sp>
    <dsp:sp modelId="{0BB511C3-5501-43CD-93F5-7C4D0723F6C3}">
      <dsp:nvSpPr>
        <dsp:cNvPr id="0" name=""/>
        <dsp:cNvSpPr/>
      </dsp:nvSpPr>
      <dsp:spPr>
        <a:xfrm>
          <a:off x="2845124" y="318987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4FAD61-D8F4-4700-B950-199CFD9FCB33}">
      <dsp:nvSpPr>
        <dsp:cNvPr id="0" name=""/>
        <dsp:cNvSpPr/>
      </dsp:nvSpPr>
      <dsp:spPr>
        <a:xfrm>
          <a:off x="2994438" y="468301"/>
          <a:ext cx="412390" cy="4123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E078B-3FA5-47F4-9EB8-C53D52066B10}">
      <dsp:nvSpPr>
        <dsp:cNvPr id="0" name=""/>
        <dsp:cNvSpPr/>
      </dsp:nvSpPr>
      <dsp:spPr>
        <a:xfrm>
          <a:off x="3708504" y="318987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Row Level Security ensures users </a:t>
          </a:r>
          <a:r>
            <a:rPr lang="en-US" sz="1100" b="1" kern="1200"/>
            <a:t>only see data relevant to their assigned role</a:t>
          </a:r>
          <a:r>
            <a:rPr lang="en-US" sz="1100" kern="1200"/>
            <a:t>.</a:t>
          </a:r>
        </a:p>
      </dsp:txBody>
      <dsp:txXfrm>
        <a:off x="3708504" y="318987"/>
        <a:ext cx="1675971" cy="711018"/>
      </dsp:txXfrm>
    </dsp:sp>
    <dsp:sp modelId="{C5B54ADF-2293-4064-B70B-3E9426334B1A}">
      <dsp:nvSpPr>
        <dsp:cNvPr id="0" name=""/>
        <dsp:cNvSpPr/>
      </dsp:nvSpPr>
      <dsp:spPr>
        <a:xfrm>
          <a:off x="5676500" y="318987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B26F9-447C-4CB5-9663-5FEBCC91F001}">
      <dsp:nvSpPr>
        <dsp:cNvPr id="0" name=""/>
        <dsp:cNvSpPr/>
      </dsp:nvSpPr>
      <dsp:spPr>
        <a:xfrm>
          <a:off x="5825814" y="468301"/>
          <a:ext cx="412390" cy="4123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43310-BEEE-443D-9178-1B919FD4152C}">
      <dsp:nvSpPr>
        <dsp:cNvPr id="0" name=""/>
        <dsp:cNvSpPr/>
      </dsp:nvSpPr>
      <dsp:spPr>
        <a:xfrm>
          <a:off x="6539879" y="318987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Separate roles were created for </a:t>
          </a:r>
          <a:r>
            <a:rPr lang="en-US" sz="1100" b="1" kern="1200"/>
            <a:t>Grade A, Grade B, and Grade C</a:t>
          </a:r>
          <a:r>
            <a:rPr lang="en-US" sz="1100" kern="1200"/>
            <a:t>, restricting access accordingly.</a:t>
          </a:r>
        </a:p>
      </dsp:txBody>
      <dsp:txXfrm>
        <a:off x="6539879" y="318987"/>
        <a:ext cx="1675971" cy="711018"/>
      </dsp:txXfrm>
    </dsp:sp>
    <dsp:sp modelId="{580FA3A1-6D04-4F2E-B744-485CE5DA5589}">
      <dsp:nvSpPr>
        <dsp:cNvPr id="0" name=""/>
        <dsp:cNvSpPr/>
      </dsp:nvSpPr>
      <dsp:spPr>
        <a:xfrm>
          <a:off x="13749" y="1451936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1E6490-F4FE-4D0C-8DA6-DD79E8A0E241}">
      <dsp:nvSpPr>
        <dsp:cNvPr id="0" name=""/>
        <dsp:cNvSpPr/>
      </dsp:nvSpPr>
      <dsp:spPr>
        <a:xfrm>
          <a:off x="163063" y="1601249"/>
          <a:ext cx="412390" cy="4123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8664D-7DE5-447D-9BFE-0E990BBFDDC6}">
      <dsp:nvSpPr>
        <dsp:cNvPr id="0" name=""/>
        <dsp:cNvSpPr/>
      </dsp:nvSpPr>
      <dsp:spPr>
        <a:xfrm>
          <a:off x="877128" y="1451936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DAX filters enforce row-level restrictions</a:t>
          </a:r>
          <a:r>
            <a:rPr lang="en-US" sz="1100" kern="1200"/>
            <a:t>, preventing unauthorized data exposure.</a:t>
          </a:r>
        </a:p>
      </dsp:txBody>
      <dsp:txXfrm>
        <a:off x="877128" y="1451936"/>
        <a:ext cx="1675971" cy="711018"/>
      </dsp:txXfrm>
    </dsp:sp>
    <dsp:sp modelId="{6E382155-BB12-48B3-A1CF-FB8A99EA6C4B}">
      <dsp:nvSpPr>
        <dsp:cNvPr id="0" name=""/>
        <dsp:cNvSpPr/>
      </dsp:nvSpPr>
      <dsp:spPr>
        <a:xfrm>
          <a:off x="2845124" y="1451936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750F5-C12F-4E66-996C-3A52A707D79A}">
      <dsp:nvSpPr>
        <dsp:cNvPr id="0" name=""/>
        <dsp:cNvSpPr/>
      </dsp:nvSpPr>
      <dsp:spPr>
        <a:xfrm>
          <a:off x="2994438" y="1601249"/>
          <a:ext cx="412390" cy="4123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D7119-447B-41C1-AD62-6B95AB2AD2E0}">
      <dsp:nvSpPr>
        <dsp:cNvPr id="0" name=""/>
        <dsp:cNvSpPr/>
      </dsp:nvSpPr>
      <dsp:spPr>
        <a:xfrm>
          <a:off x="3708504" y="1451936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</a:t>
          </a:r>
          <a:r>
            <a:rPr lang="en-US" sz="1100" b="1" kern="1200"/>
            <a:t>‘View As’ feature</a:t>
          </a:r>
          <a:r>
            <a:rPr lang="en-US" sz="1100" kern="1200"/>
            <a:t> was used to test and validate each role’s access.</a:t>
          </a:r>
        </a:p>
      </dsp:txBody>
      <dsp:txXfrm>
        <a:off x="3708504" y="1451936"/>
        <a:ext cx="1675971" cy="711018"/>
      </dsp:txXfrm>
    </dsp:sp>
    <dsp:sp modelId="{23581D4F-A2FD-41EF-A316-CB828AB4492F}">
      <dsp:nvSpPr>
        <dsp:cNvPr id="0" name=""/>
        <dsp:cNvSpPr/>
      </dsp:nvSpPr>
      <dsp:spPr>
        <a:xfrm>
          <a:off x="5676500" y="1451936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65A23-B032-4EEE-BE23-29C3BD4DAB7B}">
      <dsp:nvSpPr>
        <dsp:cNvPr id="0" name=""/>
        <dsp:cNvSpPr/>
      </dsp:nvSpPr>
      <dsp:spPr>
        <a:xfrm>
          <a:off x="5825814" y="1601249"/>
          <a:ext cx="412390" cy="4123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0431F-6EC3-4AA6-832D-E199B7552983}">
      <dsp:nvSpPr>
        <dsp:cNvPr id="0" name=""/>
        <dsp:cNvSpPr/>
      </dsp:nvSpPr>
      <dsp:spPr>
        <a:xfrm>
          <a:off x="6539879" y="1451936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This setup ensures </a:t>
          </a:r>
          <a:r>
            <a:rPr lang="en-US" sz="1100" b="1" kern="1200"/>
            <a:t>sensitive borrower information is protected</a:t>
          </a:r>
          <a:r>
            <a:rPr lang="en-US" sz="1100" kern="1200"/>
            <a:t>, aligning with real-world enterprise security practices.</a:t>
          </a:r>
        </a:p>
      </dsp:txBody>
      <dsp:txXfrm>
        <a:off x="6539879" y="1451936"/>
        <a:ext cx="1675971" cy="7110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3C95E-E737-4EF0-BA58-0ED5BE6720F6}">
      <dsp:nvSpPr>
        <dsp:cNvPr id="0" name=""/>
        <dsp:cNvSpPr/>
      </dsp:nvSpPr>
      <dsp:spPr>
        <a:xfrm>
          <a:off x="0" y="223"/>
          <a:ext cx="8229600" cy="3073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DB9795-6D5D-4BF6-9264-FD11165E8A7E}">
      <dsp:nvSpPr>
        <dsp:cNvPr id="0" name=""/>
        <dsp:cNvSpPr/>
      </dsp:nvSpPr>
      <dsp:spPr>
        <a:xfrm>
          <a:off x="92960" y="69367"/>
          <a:ext cx="169019" cy="1690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1FE1D-C1F4-4933-BC1F-3AD0EFC61A47}">
      <dsp:nvSpPr>
        <dsp:cNvPr id="0" name=""/>
        <dsp:cNvSpPr/>
      </dsp:nvSpPr>
      <dsp:spPr>
        <a:xfrm>
          <a:off x="354941" y="223"/>
          <a:ext cx="7874658" cy="307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524" tIns="32524" rIns="32524" bIns="325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dashboard provides a </a:t>
          </a:r>
          <a:r>
            <a:rPr lang="en-US" sz="1400" b="1" kern="1200"/>
            <a:t>comprehensive view of credit risk across multiple dimensions</a:t>
          </a:r>
          <a:r>
            <a:rPr lang="en-US" sz="1400" kern="1200"/>
            <a:t>.</a:t>
          </a:r>
        </a:p>
      </dsp:txBody>
      <dsp:txXfrm>
        <a:off x="354941" y="223"/>
        <a:ext cx="7874658" cy="307308"/>
      </dsp:txXfrm>
    </dsp:sp>
    <dsp:sp modelId="{2DF83B91-ECA6-4D8B-A8DC-FBF26D0DF840}">
      <dsp:nvSpPr>
        <dsp:cNvPr id="0" name=""/>
        <dsp:cNvSpPr/>
      </dsp:nvSpPr>
      <dsp:spPr>
        <a:xfrm>
          <a:off x="0" y="384359"/>
          <a:ext cx="8229600" cy="3073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747EE-7D7E-4BD1-ADE9-3643DF5F6121}">
      <dsp:nvSpPr>
        <dsp:cNvPr id="0" name=""/>
        <dsp:cNvSpPr/>
      </dsp:nvSpPr>
      <dsp:spPr>
        <a:xfrm>
          <a:off x="92960" y="453503"/>
          <a:ext cx="169019" cy="1690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6F93A-714F-4F69-9F7F-D32B94100E6A}">
      <dsp:nvSpPr>
        <dsp:cNvPr id="0" name=""/>
        <dsp:cNvSpPr/>
      </dsp:nvSpPr>
      <dsp:spPr>
        <a:xfrm>
          <a:off x="354941" y="384359"/>
          <a:ext cx="7874658" cy="307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524" tIns="32524" rIns="32524" bIns="325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loan portfolio totals approximately </a:t>
          </a:r>
          <a:r>
            <a:rPr lang="en-US" sz="1400" b="1" kern="1200"/>
            <a:t>312M</a:t>
          </a:r>
          <a:r>
            <a:rPr lang="en-US" sz="1400" kern="1200"/>
            <a:t>, supported by a strong </a:t>
          </a:r>
          <a:r>
            <a:rPr lang="en-US" sz="1400" b="1" kern="1200"/>
            <a:t>average income of 66K</a:t>
          </a:r>
          <a:r>
            <a:rPr lang="en-US" sz="1400" kern="1200"/>
            <a:t>.</a:t>
          </a:r>
        </a:p>
      </dsp:txBody>
      <dsp:txXfrm>
        <a:off x="354941" y="384359"/>
        <a:ext cx="7874658" cy="307308"/>
      </dsp:txXfrm>
    </dsp:sp>
    <dsp:sp modelId="{54FA9827-FCFD-47C6-8F8C-F0398DF55E8A}">
      <dsp:nvSpPr>
        <dsp:cNvPr id="0" name=""/>
        <dsp:cNvSpPr/>
      </dsp:nvSpPr>
      <dsp:spPr>
        <a:xfrm>
          <a:off x="0" y="768495"/>
          <a:ext cx="8229600" cy="3073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8A567-81EE-4E22-8E7F-215B9C00CA63}">
      <dsp:nvSpPr>
        <dsp:cNvPr id="0" name=""/>
        <dsp:cNvSpPr/>
      </dsp:nvSpPr>
      <dsp:spPr>
        <a:xfrm>
          <a:off x="92960" y="837639"/>
          <a:ext cx="169019" cy="1690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650120-F043-4D18-9AC5-B46097735E4D}">
      <dsp:nvSpPr>
        <dsp:cNvPr id="0" name=""/>
        <dsp:cNvSpPr/>
      </dsp:nvSpPr>
      <dsp:spPr>
        <a:xfrm>
          <a:off x="354941" y="768495"/>
          <a:ext cx="7874658" cy="307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524" tIns="32524" rIns="32524" bIns="325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Employment length clearly influences default probability, especially for early-career borrowers.</a:t>
          </a:r>
        </a:p>
      </dsp:txBody>
      <dsp:txXfrm>
        <a:off x="354941" y="768495"/>
        <a:ext cx="7874658" cy="307308"/>
      </dsp:txXfrm>
    </dsp:sp>
    <dsp:sp modelId="{A9290D1A-30C0-4F85-BCD9-2C0861E84C5B}">
      <dsp:nvSpPr>
        <dsp:cNvPr id="0" name=""/>
        <dsp:cNvSpPr/>
      </dsp:nvSpPr>
      <dsp:spPr>
        <a:xfrm>
          <a:off x="0" y="1152631"/>
          <a:ext cx="8229600" cy="3073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79339-9DCE-42A9-A6CD-781EE54B6DB0}">
      <dsp:nvSpPr>
        <dsp:cNvPr id="0" name=""/>
        <dsp:cNvSpPr/>
      </dsp:nvSpPr>
      <dsp:spPr>
        <a:xfrm>
          <a:off x="92960" y="1221775"/>
          <a:ext cx="169019" cy="1690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3E9A2-B96A-490F-9253-B6870D40EBC3}">
      <dsp:nvSpPr>
        <dsp:cNvPr id="0" name=""/>
        <dsp:cNvSpPr/>
      </dsp:nvSpPr>
      <dsp:spPr>
        <a:xfrm>
          <a:off x="354941" y="1152631"/>
          <a:ext cx="7874658" cy="307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524" tIns="32524" rIns="32524" bIns="325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Grades F and G consistently show the highest combined risk</a:t>
          </a:r>
          <a:r>
            <a:rPr lang="en-US" sz="1400" kern="1200"/>
            <a:t> across metrics.</a:t>
          </a:r>
        </a:p>
      </dsp:txBody>
      <dsp:txXfrm>
        <a:off x="354941" y="1152631"/>
        <a:ext cx="7874658" cy="307308"/>
      </dsp:txXfrm>
    </dsp:sp>
    <dsp:sp modelId="{A4EB2349-E783-43C0-A74A-14B8C70F19FF}">
      <dsp:nvSpPr>
        <dsp:cNvPr id="0" name=""/>
        <dsp:cNvSpPr/>
      </dsp:nvSpPr>
      <dsp:spPr>
        <a:xfrm>
          <a:off x="0" y="1536767"/>
          <a:ext cx="8229600" cy="3073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289C7-F18E-498A-ADB7-E1B44A659CB2}">
      <dsp:nvSpPr>
        <dsp:cNvPr id="0" name=""/>
        <dsp:cNvSpPr/>
      </dsp:nvSpPr>
      <dsp:spPr>
        <a:xfrm>
          <a:off x="92960" y="1605911"/>
          <a:ext cx="169019" cy="16901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A5A2F-9E19-4A2D-9B78-0214B2627748}">
      <dsp:nvSpPr>
        <dsp:cNvPr id="0" name=""/>
        <dsp:cNvSpPr/>
      </dsp:nvSpPr>
      <dsp:spPr>
        <a:xfrm>
          <a:off x="354941" y="1536767"/>
          <a:ext cx="7874658" cy="307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524" tIns="32524" rIns="32524" bIns="325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Medical and education loans indicate </a:t>
          </a:r>
          <a:r>
            <a:rPr lang="en-US" sz="1400" b="1" kern="1200"/>
            <a:t>higher borrowing stress</a:t>
          </a:r>
          <a:r>
            <a:rPr lang="en-US" sz="1400" kern="1200"/>
            <a:t> due to elevated loan-to-income ratios.</a:t>
          </a:r>
        </a:p>
      </dsp:txBody>
      <dsp:txXfrm>
        <a:off x="354941" y="1536767"/>
        <a:ext cx="7874658" cy="307308"/>
      </dsp:txXfrm>
    </dsp:sp>
    <dsp:sp modelId="{E6CFC3E9-772A-4F84-9A4B-4A3E57FA417A}">
      <dsp:nvSpPr>
        <dsp:cNvPr id="0" name=""/>
        <dsp:cNvSpPr/>
      </dsp:nvSpPr>
      <dsp:spPr>
        <a:xfrm>
          <a:off x="0" y="1920903"/>
          <a:ext cx="8229600" cy="3073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CF089-A77E-4B8B-810B-84CD5433657E}">
      <dsp:nvSpPr>
        <dsp:cNvPr id="0" name=""/>
        <dsp:cNvSpPr/>
      </dsp:nvSpPr>
      <dsp:spPr>
        <a:xfrm>
          <a:off x="92960" y="1990047"/>
          <a:ext cx="169019" cy="16901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7872C-AE0F-4C33-AA70-4DC2F6F1C96A}">
      <dsp:nvSpPr>
        <dsp:cNvPr id="0" name=""/>
        <dsp:cNvSpPr/>
      </dsp:nvSpPr>
      <dsp:spPr>
        <a:xfrm>
          <a:off x="354941" y="1920903"/>
          <a:ext cx="7874658" cy="307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524" tIns="32524" rIns="32524" bIns="325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What-if analysis and segmentation features enable </a:t>
          </a:r>
          <a:r>
            <a:rPr lang="en-US" sz="1400" b="1" kern="1200"/>
            <a:t>data-driven risk assessment and decision-making</a:t>
          </a:r>
          <a:r>
            <a:rPr lang="en-US" sz="1400" kern="1200"/>
            <a:t>.</a:t>
          </a:r>
        </a:p>
      </dsp:txBody>
      <dsp:txXfrm>
        <a:off x="354941" y="1920903"/>
        <a:ext cx="7874658" cy="307308"/>
      </dsp:txXfrm>
    </dsp:sp>
    <dsp:sp modelId="{03E23BB2-8379-4C8B-A956-E383C7CB6DBF}">
      <dsp:nvSpPr>
        <dsp:cNvPr id="0" name=""/>
        <dsp:cNvSpPr/>
      </dsp:nvSpPr>
      <dsp:spPr>
        <a:xfrm>
          <a:off x="0" y="2305038"/>
          <a:ext cx="8229600" cy="3073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8DB0B-9A05-4D66-B732-E5F1372FBBB5}">
      <dsp:nvSpPr>
        <dsp:cNvPr id="0" name=""/>
        <dsp:cNvSpPr/>
      </dsp:nvSpPr>
      <dsp:spPr>
        <a:xfrm>
          <a:off x="92960" y="2374183"/>
          <a:ext cx="169019" cy="16901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EC104-D7A3-48FD-935E-E1F64AED2C48}">
      <dsp:nvSpPr>
        <dsp:cNvPr id="0" name=""/>
        <dsp:cNvSpPr/>
      </dsp:nvSpPr>
      <dsp:spPr>
        <a:xfrm>
          <a:off x="354941" y="2305038"/>
          <a:ext cx="7874658" cy="307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524" tIns="32524" rIns="32524" bIns="325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Overall, the dashboard allows stakeholders to </a:t>
          </a:r>
          <a:r>
            <a:rPr lang="en-US" sz="1400" b="1" kern="1200"/>
            <a:t>identify risk quickly and act proactively</a:t>
          </a:r>
          <a:r>
            <a:rPr lang="en-US" sz="1400" kern="1200"/>
            <a:t>.</a:t>
          </a:r>
        </a:p>
      </dsp:txBody>
      <dsp:txXfrm>
        <a:off x="354941" y="2305038"/>
        <a:ext cx="7874658" cy="3073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7E338-7573-4AB9-8D74-3F22CB1A6ED2}">
      <dsp:nvSpPr>
        <dsp:cNvPr id="0" name=""/>
        <dsp:cNvSpPr/>
      </dsp:nvSpPr>
      <dsp:spPr>
        <a:xfrm>
          <a:off x="0" y="3576"/>
          <a:ext cx="8567928" cy="5651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614F9F-1D23-47FF-BF4D-59E4292173EF}">
      <dsp:nvSpPr>
        <dsp:cNvPr id="0" name=""/>
        <dsp:cNvSpPr/>
      </dsp:nvSpPr>
      <dsp:spPr>
        <a:xfrm>
          <a:off x="170944" y="130725"/>
          <a:ext cx="311112" cy="3108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FA22E-BE4B-4F5F-BB54-FC4DF13EC34D}">
      <dsp:nvSpPr>
        <dsp:cNvPr id="0" name=""/>
        <dsp:cNvSpPr/>
      </dsp:nvSpPr>
      <dsp:spPr>
        <a:xfrm>
          <a:off x="653001" y="3576"/>
          <a:ext cx="7895147" cy="600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5" tIns="63545" rIns="63545" bIns="6354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Once the analysis and dashboard were finalized, the next step was to make the report accessible to others in a controlled and secure way.</a:t>
          </a:r>
        </a:p>
      </dsp:txBody>
      <dsp:txXfrm>
        <a:off x="653001" y="3576"/>
        <a:ext cx="7895147" cy="600425"/>
      </dsp:txXfrm>
    </dsp:sp>
    <dsp:sp modelId="{301007FC-3166-45A4-81AE-9BAECF634110}">
      <dsp:nvSpPr>
        <dsp:cNvPr id="0" name=""/>
        <dsp:cNvSpPr/>
      </dsp:nvSpPr>
      <dsp:spPr>
        <a:xfrm>
          <a:off x="0" y="754108"/>
          <a:ext cx="8567928" cy="5651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1D6F57-C05C-49C1-BE61-3E84A45602BB}">
      <dsp:nvSpPr>
        <dsp:cNvPr id="0" name=""/>
        <dsp:cNvSpPr/>
      </dsp:nvSpPr>
      <dsp:spPr>
        <a:xfrm>
          <a:off x="170944" y="881257"/>
          <a:ext cx="311112" cy="3108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F831A-C9FA-4B0C-8D10-4A5D80807C85}">
      <dsp:nvSpPr>
        <dsp:cNvPr id="0" name=""/>
        <dsp:cNvSpPr/>
      </dsp:nvSpPr>
      <dsp:spPr>
        <a:xfrm>
          <a:off x="653001" y="754108"/>
          <a:ext cx="7895147" cy="600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5" tIns="63545" rIns="63545" bIns="6354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report was </a:t>
          </a:r>
          <a:r>
            <a:rPr lang="en-US" sz="1600" b="1" kern="1200" dirty="0"/>
            <a:t>published from Power BI Desktop to the Power BI Service</a:t>
          </a:r>
          <a:r>
            <a:rPr lang="en-US" sz="1600" kern="1200" dirty="0"/>
            <a:t> using the path </a:t>
          </a:r>
          <a:r>
            <a:rPr lang="en-US" sz="1600" b="1" kern="1200" dirty="0"/>
            <a:t>Home → Publish → My Workspace</a:t>
          </a:r>
          <a:r>
            <a:rPr lang="en-US" sz="1600" kern="1200" dirty="0"/>
            <a:t>, making it available online.</a:t>
          </a:r>
        </a:p>
      </dsp:txBody>
      <dsp:txXfrm>
        <a:off x="653001" y="754108"/>
        <a:ext cx="7895147" cy="600425"/>
      </dsp:txXfrm>
    </dsp:sp>
    <dsp:sp modelId="{BDF9BB08-5A39-4512-81C6-16C01600C270}">
      <dsp:nvSpPr>
        <dsp:cNvPr id="0" name=""/>
        <dsp:cNvSpPr/>
      </dsp:nvSpPr>
      <dsp:spPr>
        <a:xfrm>
          <a:off x="0" y="1504640"/>
          <a:ext cx="8567928" cy="5651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03124-0786-4807-BF9F-93549E93FD5D}">
      <dsp:nvSpPr>
        <dsp:cNvPr id="0" name=""/>
        <dsp:cNvSpPr/>
      </dsp:nvSpPr>
      <dsp:spPr>
        <a:xfrm>
          <a:off x="170944" y="1631789"/>
          <a:ext cx="311112" cy="3108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6857F-9489-41D9-9511-64F21957DA77}">
      <dsp:nvSpPr>
        <dsp:cNvPr id="0" name=""/>
        <dsp:cNvSpPr/>
      </dsp:nvSpPr>
      <dsp:spPr>
        <a:xfrm>
          <a:off x="653001" y="1504640"/>
          <a:ext cx="7895147" cy="600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5" tIns="63545" rIns="63545" bIns="6354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 the Power BI Service, a </a:t>
          </a:r>
          <a:r>
            <a:rPr lang="en-US" sz="1600" b="1" kern="1200" dirty="0"/>
            <a:t>dashboard was created by pinning important visuals</a:t>
          </a:r>
          <a:r>
            <a:rPr lang="en-US" sz="1600" kern="1200" dirty="0"/>
            <a:t> from the report. This helps stakeholders quickly view key KPIs without opening the full report.</a:t>
          </a:r>
        </a:p>
      </dsp:txBody>
      <dsp:txXfrm>
        <a:off x="653001" y="1504640"/>
        <a:ext cx="7895147" cy="600425"/>
      </dsp:txXfrm>
    </dsp:sp>
    <dsp:sp modelId="{B505ED52-79A8-4951-9E22-6C9F9A7C0569}">
      <dsp:nvSpPr>
        <dsp:cNvPr id="0" name=""/>
        <dsp:cNvSpPr/>
      </dsp:nvSpPr>
      <dsp:spPr>
        <a:xfrm>
          <a:off x="0" y="2255173"/>
          <a:ext cx="8567928" cy="5651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D191B8-E499-47DE-955B-78AA6AD6C68E}">
      <dsp:nvSpPr>
        <dsp:cNvPr id="0" name=""/>
        <dsp:cNvSpPr/>
      </dsp:nvSpPr>
      <dsp:spPr>
        <a:xfrm>
          <a:off x="170944" y="2382322"/>
          <a:ext cx="311112" cy="3108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14275-44AB-42C0-9DEB-61710FC5097D}">
      <dsp:nvSpPr>
        <dsp:cNvPr id="0" name=""/>
        <dsp:cNvSpPr/>
      </dsp:nvSpPr>
      <dsp:spPr>
        <a:xfrm>
          <a:off x="653001" y="2255173"/>
          <a:ext cx="7895147" cy="600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5" tIns="63545" rIns="63545" bIns="6354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dashboard and report were </a:t>
          </a:r>
          <a:r>
            <a:rPr lang="en-US" sz="1600" b="1" kern="1200"/>
            <a:t>shared with stakeholders</a:t>
          </a:r>
          <a:r>
            <a:rPr lang="en-US" sz="1600" kern="1200"/>
            <a:t> using the </a:t>
          </a:r>
          <a:r>
            <a:rPr lang="en-US" sz="1600" b="1" kern="1200"/>
            <a:t>Share option</a:t>
          </a:r>
          <a:r>
            <a:rPr lang="en-US" sz="1600" kern="1200"/>
            <a:t>, either directly with specific people or through workspace-level access.</a:t>
          </a:r>
        </a:p>
      </dsp:txBody>
      <dsp:txXfrm>
        <a:off x="653001" y="2255173"/>
        <a:ext cx="7895147" cy="600425"/>
      </dsp:txXfrm>
    </dsp:sp>
    <dsp:sp modelId="{FC67B6DB-4877-46FE-A7AA-C5EBDB4F1D78}">
      <dsp:nvSpPr>
        <dsp:cNvPr id="0" name=""/>
        <dsp:cNvSpPr/>
      </dsp:nvSpPr>
      <dsp:spPr>
        <a:xfrm>
          <a:off x="0" y="3005705"/>
          <a:ext cx="8567928" cy="5651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DB2D5-94D8-4A8F-8A11-59B56D039D5B}">
      <dsp:nvSpPr>
        <dsp:cNvPr id="0" name=""/>
        <dsp:cNvSpPr/>
      </dsp:nvSpPr>
      <dsp:spPr>
        <a:xfrm>
          <a:off x="170944" y="3132854"/>
          <a:ext cx="311112" cy="3108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3F9A2-7F58-49EC-A311-9951474CEB35}">
      <dsp:nvSpPr>
        <dsp:cNvPr id="0" name=""/>
        <dsp:cNvSpPr/>
      </dsp:nvSpPr>
      <dsp:spPr>
        <a:xfrm>
          <a:off x="653001" y="3005705"/>
          <a:ext cx="7895147" cy="600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5" tIns="63545" rIns="63545" bIns="6354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 </a:t>
          </a:r>
          <a:r>
            <a:rPr lang="en-US" sz="1600" b="1" kern="1200"/>
            <a:t>App Workspace</a:t>
          </a:r>
          <a:r>
            <a:rPr lang="en-US" sz="1600" kern="1200"/>
            <a:t> was used to support collaboration, allowing team members to view, comment, and manage different versions of the report.</a:t>
          </a:r>
        </a:p>
      </dsp:txBody>
      <dsp:txXfrm>
        <a:off x="653001" y="3005705"/>
        <a:ext cx="7895147" cy="600425"/>
      </dsp:txXfrm>
    </dsp:sp>
    <dsp:sp modelId="{870059F1-907E-4C77-9682-1443FF57A1AE}">
      <dsp:nvSpPr>
        <dsp:cNvPr id="0" name=""/>
        <dsp:cNvSpPr/>
      </dsp:nvSpPr>
      <dsp:spPr>
        <a:xfrm>
          <a:off x="0" y="3756237"/>
          <a:ext cx="8567928" cy="5651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BB13F6-81C3-44BF-95EC-5E86375A7EE2}">
      <dsp:nvSpPr>
        <dsp:cNvPr id="0" name=""/>
        <dsp:cNvSpPr/>
      </dsp:nvSpPr>
      <dsp:spPr>
        <a:xfrm>
          <a:off x="170944" y="3883386"/>
          <a:ext cx="311112" cy="31080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E71D0-1D98-4927-B8C7-64F711DF9823}">
      <dsp:nvSpPr>
        <dsp:cNvPr id="0" name=""/>
        <dsp:cNvSpPr/>
      </dsp:nvSpPr>
      <dsp:spPr>
        <a:xfrm>
          <a:off x="653001" y="3756237"/>
          <a:ext cx="7895147" cy="600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5" tIns="63545" rIns="63545" bIns="6354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Scheduled refresh</a:t>
          </a:r>
          <a:r>
            <a:rPr lang="en-US" sz="1600" kern="1200"/>
            <a:t> was configured so that the data updates automatically at regular intervals, ensuring users always see the latest information.</a:t>
          </a:r>
        </a:p>
      </dsp:txBody>
      <dsp:txXfrm>
        <a:off x="653001" y="3756237"/>
        <a:ext cx="7895147" cy="600425"/>
      </dsp:txXfrm>
    </dsp:sp>
    <dsp:sp modelId="{1B26AFAC-2355-44EF-AF5C-098ABDDA530A}">
      <dsp:nvSpPr>
        <dsp:cNvPr id="0" name=""/>
        <dsp:cNvSpPr/>
      </dsp:nvSpPr>
      <dsp:spPr>
        <a:xfrm>
          <a:off x="0" y="4506769"/>
          <a:ext cx="8567928" cy="5651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A4860-B0B9-4418-B3FA-CB0B152FFA16}">
      <dsp:nvSpPr>
        <dsp:cNvPr id="0" name=""/>
        <dsp:cNvSpPr/>
      </dsp:nvSpPr>
      <dsp:spPr>
        <a:xfrm>
          <a:off x="170944" y="4633918"/>
          <a:ext cx="311112" cy="31080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31F1D-A678-484E-A9A7-3B4C68DC01E9}">
      <dsp:nvSpPr>
        <dsp:cNvPr id="0" name=""/>
        <dsp:cNvSpPr/>
      </dsp:nvSpPr>
      <dsp:spPr>
        <a:xfrm>
          <a:off x="653001" y="4506769"/>
          <a:ext cx="7895147" cy="600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5" tIns="63545" rIns="63545" bIns="6354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Row Level Security (RLS)</a:t>
          </a:r>
          <a:r>
            <a:rPr lang="en-US" sz="1600" kern="1200"/>
            <a:t> was applied to make sure each user can only view the data they are authorized to access, maintaining data privacy and governance.</a:t>
          </a:r>
        </a:p>
      </dsp:txBody>
      <dsp:txXfrm>
        <a:off x="653001" y="4506769"/>
        <a:ext cx="7895147" cy="600425"/>
      </dsp:txXfrm>
    </dsp:sp>
    <dsp:sp modelId="{4EB6DA4C-9328-48E3-8DB6-4A6563F231E0}">
      <dsp:nvSpPr>
        <dsp:cNvPr id="0" name=""/>
        <dsp:cNvSpPr/>
      </dsp:nvSpPr>
      <dsp:spPr>
        <a:xfrm>
          <a:off x="0" y="5257301"/>
          <a:ext cx="8567928" cy="5651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782E65-0F06-4EE0-8B54-7F1755682016}">
      <dsp:nvSpPr>
        <dsp:cNvPr id="0" name=""/>
        <dsp:cNvSpPr/>
      </dsp:nvSpPr>
      <dsp:spPr>
        <a:xfrm>
          <a:off x="170944" y="5384450"/>
          <a:ext cx="311112" cy="310808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094EF-3F93-4C98-9F63-36AB5D2C4F9C}">
      <dsp:nvSpPr>
        <dsp:cNvPr id="0" name=""/>
        <dsp:cNvSpPr/>
      </dsp:nvSpPr>
      <dsp:spPr>
        <a:xfrm>
          <a:off x="653001" y="5257301"/>
          <a:ext cx="7895147" cy="600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5" tIns="63545" rIns="63545" bIns="6354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Overall, this process ensures that insights are </a:t>
          </a:r>
          <a:r>
            <a:rPr lang="en-US" sz="1600" b="1" kern="1200" dirty="0"/>
            <a:t>easily accessible, securely shared, and always up to date</a:t>
          </a:r>
          <a:r>
            <a:rPr lang="en-US" sz="1600" kern="1200" dirty="0"/>
            <a:t>, which is critical in real business environments.</a:t>
          </a:r>
        </a:p>
      </dsp:txBody>
      <dsp:txXfrm>
        <a:off x="653001" y="5257301"/>
        <a:ext cx="7895147" cy="6004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BA88F-731B-4717-B92A-BE7E7C63133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8F2BC-38E4-42CC-A60A-409FCED75A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752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8F2BC-38E4-42CC-A60A-409FCED75AC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646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k_f0hc4jI7w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/>
              <a:t>Credit Risk Analysis Using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/>
              <a:t>Loan Default Risk – Dashboard &amp; Insights</a:t>
            </a:r>
          </a:p>
          <a:p>
            <a:pPr>
              <a:lnSpc>
                <a:spcPct val="90000"/>
              </a:lnSpc>
            </a:pPr>
            <a:r>
              <a:rPr lang="en-US" sz="1700"/>
              <a:t>Prepared by Muneeza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1"/>
            <a:ext cx="8229600" cy="751114"/>
          </a:xfrm>
        </p:spPr>
        <p:txBody>
          <a:bodyPr>
            <a:normAutofit/>
          </a:bodyPr>
          <a:lstStyle/>
          <a:p>
            <a:r>
              <a:rPr lang="en-IN" sz="4000" dirty="0"/>
              <a:t>Loan Grade Analysis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211EB5C-62B3-C7A6-4083-9EBFDEB8D7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4079015"/>
          <a:ext cx="8229600" cy="2463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E256EB7-B563-16D8-6340-AE3C390AE0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6433" y="968829"/>
            <a:ext cx="5531134" cy="29686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420271"/>
            <a:ext cx="2591866" cy="912842"/>
          </a:xfrm>
        </p:spPr>
        <p:txBody>
          <a:bodyPr anchor="b">
            <a:normAutofit fontScale="90000"/>
          </a:bodyPr>
          <a:lstStyle/>
          <a:p>
            <a:r>
              <a:rPr lang="en-IN" sz="2800" dirty="0"/>
              <a:t>Employment Length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3CF4BD-8438-A7F8-7975-B18DA8AD5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54" y="2043972"/>
            <a:ext cx="5099649" cy="295779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BE97FE1-3C4A-E973-9B61-88BEFEAB6E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055482"/>
              </p:ext>
            </p:extLst>
          </p:nvPr>
        </p:nvGraphicFramePr>
        <p:xfrm>
          <a:off x="392342" y="1408175"/>
          <a:ext cx="3228682" cy="5029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498611"/>
            <a:ext cx="4198652" cy="1402470"/>
          </a:xfrm>
        </p:spPr>
        <p:txBody>
          <a:bodyPr anchor="t">
            <a:normAutofit/>
          </a:bodyPr>
          <a:lstStyle/>
          <a:p>
            <a:r>
              <a:rPr lang="en-IN" sz="2800" dirty="0"/>
              <a:t>Home Ownership Risk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50939-6D92-7EEA-72FA-E6E071D89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21" y="2101477"/>
            <a:ext cx="4545571" cy="28637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4053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744" y="1664210"/>
            <a:ext cx="4096512" cy="539495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This analysis evaluates </a:t>
            </a:r>
            <a:r>
              <a:rPr lang="en-US" sz="1600" b="1" dirty="0"/>
              <a:t>default behavior across different home ownership categories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Renters show the highest number of defaults</a:t>
            </a:r>
            <a:r>
              <a:rPr lang="en-US" sz="1600" dirty="0"/>
              <a:t>, making them the </a:t>
            </a:r>
            <a:r>
              <a:rPr lang="en-US" sz="1600" b="1" dirty="0"/>
              <a:t>riskiest borrower group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Borrowers with a </a:t>
            </a:r>
            <a:r>
              <a:rPr lang="en-US" sz="1600" b="1" dirty="0"/>
              <a:t>mortgage perform better than renters</a:t>
            </a:r>
            <a:r>
              <a:rPr lang="en-US" sz="1600" dirty="0"/>
              <a:t>, suggesting more financial responsibility and asset backing.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Customers who </a:t>
            </a:r>
            <a:r>
              <a:rPr lang="en-US" sz="1600" b="1" dirty="0"/>
              <a:t>own their homes outright (OWN)</a:t>
            </a:r>
            <a:r>
              <a:rPr lang="en-US" sz="1600" dirty="0"/>
              <a:t> show the </a:t>
            </a:r>
            <a:r>
              <a:rPr lang="en-US" sz="1600" b="1" dirty="0"/>
              <a:t>lowest default rates</a:t>
            </a:r>
            <a:r>
              <a:rPr lang="en-US" sz="1600" dirty="0"/>
              <a:t>, indicating the safest borrower profile.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The combination of </a:t>
            </a:r>
            <a:r>
              <a:rPr lang="en-US" sz="1600" b="1" dirty="0"/>
              <a:t>renters with less than 10 years of employment</a:t>
            </a:r>
            <a:r>
              <a:rPr lang="en-US" sz="1600" dirty="0"/>
              <a:t> emerges as the </a:t>
            </a:r>
            <a:r>
              <a:rPr lang="en-US" sz="1600" b="1" dirty="0"/>
              <a:t>highest-risk segment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On the other hand, </a:t>
            </a:r>
            <a:r>
              <a:rPr lang="en-US" sz="1600" b="1" dirty="0"/>
              <a:t>home ownership plus stable employment</a:t>
            </a:r>
            <a:r>
              <a:rPr lang="en-US" sz="1600" dirty="0"/>
              <a:t> strongly correlates with lower credit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514"/>
            <a:ext cx="8229600" cy="979715"/>
          </a:xfrm>
        </p:spPr>
        <p:txBody>
          <a:bodyPr>
            <a:normAutofit/>
          </a:bodyPr>
          <a:lstStyle/>
          <a:p>
            <a:r>
              <a:rPr sz="4000" dirty="0"/>
              <a:t>Loan Intent – Income &amp; Amount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25128C17-6CDA-C1CC-E515-F4BE47DA76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1123076"/>
              </p:ext>
            </p:extLst>
          </p:nvPr>
        </p:nvGraphicFramePr>
        <p:xfrm>
          <a:off x="457200" y="3978653"/>
          <a:ext cx="8229600" cy="2737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820725F-46E9-0B9C-2785-6A7A44826D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13" y="1121229"/>
            <a:ext cx="3695890" cy="27378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78C197-9091-BB4F-587B-6457C0C77B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3126" y="1121229"/>
            <a:ext cx="3695889" cy="27378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47057"/>
          </a:xfrm>
        </p:spPr>
        <p:txBody>
          <a:bodyPr>
            <a:normAutofit/>
          </a:bodyPr>
          <a:lstStyle/>
          <a:p>
            <a:r>
              <a:rPr sz="4000" dirty="0"/>
              <a:t>Credit History Length Analysis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880F516-E81D-AC85-7EEE-AD9606021D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8802505"/>
              </p:ext>
            </p:extLst>
          </p:nvPr>
        </p:nvGraphicFramePr>
        <p:xfrm>
          <a:off x="457200" y="3863558"/>
          <a:ext cx="8229600" cy="2710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70E4D24-C90E-D9A5-F3A4-B137D85E08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0313" y="855617"/>
            <a:ext cx="5355773" cy="28521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497" y="484632"/>
            <a:ext cx="3914481" cy="985994"/>
          </a:xfrm>
        </p:spPr>
        <p:txBody>
          <a:bodyPr anchor="b">
            <a:normAutofit/>
          </a:bodyPr>
          <a:lstStyle/>
          <a:p>
            <a:r>
              <a:rPr lang="en-IN" sz="2800" dirty="0"/>
              <a:t>What-If Interest Rate Simulation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21809-6E83-9D41-930C-2E75ACD9A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203" y="2075884"/>
            <a:ext cx="4506174" cy="27064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47E145C-E0E5-1A42-5CD7-DBF43C347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332071"/>
              </p:ext>
            </p:extLst>
          </p:nvPr>
        </p:nvGraphicFramePr>
        <p:xfrm>
          <a:off x="187624" y="1562066"/>
          <a:ext cx="4033354" cy="4875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403894"/>
            <a:ext cx="3448311" cy="976850"/>
          </a:xfrm>
        </p:spPr>
        <p:txBody>
          <a:bodyPr anchor="b">
            <a:normAutofit/>
          </a:bodyPr>
          <a:lstStyle/>
          <a:p>
            <a:r>
              <a:rPr lang="en-US" sz="2800" dirty="0"/>
              <a:t>Risk Score vs Loan Amount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464" y="1591056"/>
            <a:ext cx="3989297" cy="439025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This scatter plot compares </a:t>
            </a:r>
            <a:r>
              <a:rPr lang="en-US" sz="1600" b="1" dirty="0"/>
              <a:t>loan amounts with borrower risk scores across grades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There is a </a:t>
            </a:r>
            <a:r>
              <a:rPr lang="en-US" sz="1600" b="1" dirty="0"/>
              <a:t>clear upward trend</a:t>
            </a:r>
            <a:r>
              <a:rPr lang="en-US" sz="1600" dirty="0"/>
              <a:t>: higher loan amounts generally correspond to </a:t>
            </a:r>
            <a:r>
              <a:rPr lang="en-US" sz="1600" b="1" dirty="0"/>
              <a:t>higher risk scores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Loan grades </a:t>
            </a:r>
            <a:r>
              <a:rPr lang="en-US" sz="1600" b="1" dirty="0"/>
              <a:t>D to G cluster in the high-risk zone</a:t>
            </a:r>
            <a:r>
              <a:rPr lang="en-US" sz="1600" dirty="0"/>
              <a:t>, showing both larger loan sizes and elevated risk.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Grades A and B remain concentrated in lower risk ranges</a:t>
            </a:r>
            <a:r>
              <a:rPr lang="en-US" sz="1600" dirty="0"/>
              <a:t>, even with increasing loan amounts.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The average risk line helps </a:t>
            </a:r>
            <a:r>
              <a:rPr lang="en-US" sz="1600" b="1" dirty="0"/>
              <a:t>quickly identify borrowers above acceptable risk thresholds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This visualization is useful for </a:t>
            </a:r>
            <a:r>
              <a:rPr lang="en-US" sz="1600" b="1" dirty="0"/>
              <a:t>risk segmentation and early warning identification</a:t>
            </a:r>
            <a:r>
              <a:rPr lang="en-US" sz="16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9DD9E-5386-79AB-5893-50CCF8A16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762" y="2275633"/>
            <a:ext cx="4693794" cy="261205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80683"/>
            <a:ext cx="8229600" cy="1034143"/>
          </a:xfrm>
        </p:spPr>
        <p:txBody>
          <a:bodyPr>
            <a:normAutofit/>
          </a:bodyPr>
          <a:lstStyle/>
          <a:p>
            <a:r>
              <a:rPr lang="en-IN" sz="4000" dirty="0"/>
              <a:t>Row Level Security (RLS)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911472B-47BD-2E08-AECD-CBE0FF3B0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079973"/>
              </p:ext>
            </p:extLst>
          </p:nvPr>
        </p:nvGraphicFramePr>
        <p:xfrm>
          <a:off x="457200" y="4354286"/>
          <a:ext cx="8229600" cy="2481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BA67FB2-EC41-7CC2-94B7-A6D1F9F4C4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322" y="853460"/>
            <a:ext cx="7320613" cy="35008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/>
          <a:p>
            <a:r>
              <a:rPr lang="en-IN" sz="4000" dirty="0"/>
              <a:t>Dashboard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05A8A24-9691-2D0E-D67B-117C040075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4038600"/>
          <a:ext cx="8229600" cy="261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3FD219C-8D0F-C62D-9A86-D8E4419DF6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8562" y="751114"/>
            <a:ext cx="6626876" cy="31133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7A23B-1A78-A8C9-B46A-74EFFCF29F5E}"/>
              </a:ext>
            </a:extLst>
          </p:cNvPr>
          <p:cNvSpPr txBox="1"/>
          <p:nvPr/>
        </p:nvSpPr>
        <p:spPr>
          <a:xfrm>
            <a:off x="887734" y="802979"/>
            <a:ext cx="5665471" cy="1315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⭐ </a:t>
            </a: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&amp; Recommendations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A50B2-005A-229E-EA68-E7CE1EB23604}"/>
              </a:ext>
            </a:extLst>
          </p:cNvPr>
          <p:cNvSpPr txBox="1"/>
          <p:nvPr/>
        </p:nvSpPr>
        <p:spPr>
          <a:xfrm>
            <a:off x="963930" y="2118009"/>
            <a:ext cx="6159246" cy="4045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Summary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Clear </a:t>
            </a:r>
            <a:r>
              <a:rPr lang="en-US" sz="1600" b="1" dirty="0"/>
              <a:t>high-risk borrower groups</a:t>
            </a:r>
            <a:r>
              <a:rPr lang="en-US" sz="1600" dirty="0"/>
              <a:t> have been identified.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Low loan grades and short employment history</a:t>
            </a:r>
            <a:r>
              <a:rPr lang="en-US" sz="1600" dirty="0"/>
              <a:t> consistently show the highest defaults.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Renters and borrowers with medical or education loan intent</a:t>
            </a:r>
            <a:r>
              <a:rPr lang="en-US" sz="1600" dirty="0"/>
              <a:t> carry higher risk.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Short credit history is strongly linked to </a:t>
            </a:r>
            <a:r>
              <a:rPr lang="en-US" sz="1600" b="1" dirty="0"/>
              <a:t>weaker repayment behavior</a:t>
            </a:r>
            <a:r>
              <a:rPr lang="en-US" sz="1600" dirty="0"/>
              <a:t>.</a:t>
            </a:r>
            <a:br>
              <a:rPr lang="en-US" sz="1600" dirty="0"/>
            </a:b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Recommendations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Apply </a:t>
            </a:r>
            <a:r>
              <a:rPr lang="en-US" sz="1600" b="1" dirty="0"/>
              <a:t>stricter approval and monitoring for Grades F and G</a:t>
            </a:r>
            <a:r>
              <a:rPr lang="en-US" sz="16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Prioritize borrowers with </a:t>
            </a:r>
            <a:r>
              <a:rPr lang="en-US" sz="1600" b="1" dirty="0"/>
              <a:t>stable employment and longer credit history</a:t>
            </a:r>
            <a:r>
              <a:rPr lang="en-US" sz="16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Closely monitor </a:t>
            </a:r>
            <a:r>
              <a:rPr lang="en-US" sz="1600" b="1" dirty="0"/>
              <a:t>high loan-to-income cases</a:t>
            </a:r>
            <a:r>
              <a:rPr lang="en-US" sz="1600" dirty="0"/>
              <a:t>, especially medical and education loans.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risk-based pricing and RLS controls</a:t>
            </a:r>
            <a:r>
              <a:rPr lang="en-US" sz="1600" dirty="0"/>
              <a:t> to balance growth with safety.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0495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8451"/>
            <a:ext cx="8229600" cy="1175657"/>
          </a:xfrm>
        </p:spPr>
        <p:txBody>
          <a:bodyPr/>
          <a:lstStyle/>
          <a:p>
            <a:r>
              <a:rPr lang="en-IN" dirty="0"/>
              <a:t>Publishing &amp; </a:t>
            </a:r>
            <a:r>
              <a:rPr lang="en-IN" sz="4000" dirty="0"/>
              <a:t>Sharing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2F9578E-E262-F4DD-F8C6-F4EFD12705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886763"/>
              </p:ext>
            </p:extLst>
          </p:nvPr>
        </p:nvGraphicFramePr>
        <p:xfrm>
          <a:off x="338328" y="877824"/>
          <a:ext cx="8567928" cy="5861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D9E81-7982-897D-EE30-8100DF1D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400" b="1" dirty="0"/>
              <a:t>YouTube Video Link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8F805-5912-043E-7DAF-E2604CB48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🎬 Watch Full Explanation </a:t>
            </a:r>
          </a:p>
          <a:p>
            <a:r>
              <a:rPr lang="en-US" sz="2100" dirty="0"/>
              <a:t>Click here to open video </a:t>
            </a:r>
          </a:p>
          <a:p>
            <a:r>
              <a:rPr lang="en-US" sz="2100">
                <a:hlinkClick r:id="rId2"/>
              </a:rPr>
              <a:t>https://youtu.be/k_f0hc4jI7w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87425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IN" sz="5700" b="1"/>
              <a:t>Thank You</a:t>
            </a:r>
            <a:endParaRPr lang="en-IN" sz="57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r>
              <a:rPr lang="en-US" sz="2100"/>
              <a:t>Presented by: Muneeza</a:t>
            </a:r>
          </a:p>
          <a:p>
            <a:r>
              <a:rPr lang="en-US" sz="2100"/>
              <a:t>Tool Used: Power BI</a:t>
            </a:r>
          </a:p>
          <a:p>
            <a:r>
              <a:rPr lang="en-US" sz="2100"/>
              <a:t>Project: Credit Risk Analysis</a:t>
            </a:r>
          </a:p>
          <a:p>
            <a:endParaRPr lang="en-US"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1286</Words>
  <Application>Microsoft Office PowerPoint</Application>
  <PresentationFormat>On-screen Show (4:3)</PresentationFormat>
  <Paragraphs>96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Credit Risk Analysis Using Power BI</vt:lpstr>
      <vt:lpstr>Loan Grade Analysis</vt:lpstr>
      <vt:lpstr>Employment Length Analysis</vt:lpstr>
      <vt:lpstr>Home Ownership Risk Analysis</vt:lpstr>
      <vt:lpstr>Loan Intent – Income &amp; Amount</vt:lpstr>
      <vt:lpstr>Credit History Length Analysis</vt:lpstr>
      <vt:lpstr>What-If Interest Rate Simulation</vt:lpstr>
      <vt:lpstr>Risk Score vs Loan Amount</vt:lpstr>
      <vt:lpstr>Row Level Security (RLS)</vt:lpstr>
      <vt:lpstr>Dashboard Overview</vt:lpstr>
      <vt:lpstr>PowerPoint Presentation</vt:lpstr>
      <vt:lpstr>Publishing &amp; Sharing</vt:lpstr>
      <vt:lpstr>YouTube Video Link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Muneeza Ali</cp:lastModifiedBy>
  <cp:revision>7</cp:revision>
  <dcterms:created xsi:type="dcterms:W3CDTF">2013-01-27T09:14:16Z</dcterms:created>
  <dcterms:modified xsi:type="dcterms:W3CDTF">2025-12-29T13:42:58Z</dcterms:modified>
  <cp:category/>
</cp:coreProperties>
</file>